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ExtractBench (370 enterprise PDFs) and UNIKIE-BENCH (4,472 images). Model: Qwen3.8-27B (FP8) on one GPU; MinerU2.5 parser for scans.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left to right: inputs, prepare and route, read, check each candidate, select, return. Routes: A layout readers, B text available, C no text and at most 12 pages, D no text and longer.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schema is the contract: field names, types and descriptions. The optional task text says what the user wants in words. A JSON template (empty leaves) can replace the schema.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first: equal-width columns of records, or a ruled table on a scan, go to a layout reader. Otherwise a PDF with a text layer (digital, or an OCR layer) is read once; a scan without text is parsed by MinerU and read several ways (12 pages or fewer) or through its parse (longer).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MinerU2.5 returns tables as HTML rows and cells, so an empty column cannot shift every later value. Letters can still be misread; the reader also gets the page image, which decides where they disagree.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Trigger from page geometry only: three or more text columns of near-equal width on most sampled pages. One model call per column; a record that continues from the previous column comes back with its first field empty and is joined to the record before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is deskewed, the printed rules found, and the rows between them counted. Each band of at most 12 rows is sent with the header row stacked on top, and the reply must contain exactly that many entries, so repeated identical rows can neither multiply nor disappear.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 the reader agent on the page images. M: the reader agent on the MinerU parse plus images. O: the benchmark's own one-shot reader. Here O returned almost nothing: 1 of 77 fields filled.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model call: each check reads only the schema and the document's own text. Each fires only when the schema or the page triggers it. On a few short documents some repairs lowered the score slightly (for example, removing duplicates on three election reports); the examples here are the cases each check was built for.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checks work on values, not rows. They never invent content: every replacement is a value the page itself prints, or null where the schema allows null.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Agreement of reading b with reading a is the benchmark scorer's value score of b with a as the reference, recall-weighted (beta = 2). Each reading's score is its mean agreement with the others. A whole reading is kept; no fields are mixed. The answer key is never used by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JSON Schema the kept object is returned as is. For a template the result is restored to the template's shape, with an empty string for anything absent. The receipt output matches the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370 enterprise PDFs: 252 short, 98 medium, 20 long. Overall is the mean over all documents. DocQuorum uses the open Qwen3.8-27B model; the two systems above it are commercial.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input capped at the benchmark's 1,605,632 pixels, as for the published systems. DocQuorum keeps the reading that agrees most among six readings from three open models, then re-reads fields the readings dispute on an enlarged crop of the page (zoom re-reading).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731520" y="2011680"/>
            <a:ext cx="10515600" cy="1005840"/>
          </a:xfrm>
          <a:prstGeom prst="rect">
            <a:avLst/>
          </a:prstGeom>
          <a:noFill/>
        </p:spPr>
        <p:txBody>
          <a:bodyPr wrap="square" lIns="0" rIns="0" tIns="0" bIns="0" anchor="t">
            <a:spAutoFit/>
          </a:bodyPr>
          <a:lstStyle/>
          <a:p>
            <a:pPr algn="l">
              <a:spcAft>
                <a:spcPts val="400"/>
              </a:spcAft>
            </a:pPr>
            <a:r>
              <a:rPr sz="6000" b="1" i="0">
                <a:solidFill>
                  <a:srgbClr val="FFFFFF"/>
                </a:solidFill>
                <a:latin typeface="Cambria"/>
              </a:rPr>
              <a:t>DocQuorum</a:t>
            </a:r>
          </a:p>
        </p:txBody>
      </p:sp>
      <p:sp>
        <p:nvSpPr>
          <p:cNvPr id="3" name="TextBox 2"/>
          <p:cNvSpPr txBox="1"/>
          <p:nvPr/>
        </p:nvSpPr>
        <p:spPr>
          <a:xfrm>
            <a:off x="731520" y="3063240"/>
            <a:ext cx="10515600" cy="822960"/>
          </a:xfrm>
          <a:prstGeom prst="rect">
            <a:avLst/>
          </a:prstGeom>
          <a:noFill/>
        </p:spPr>
        <p:txBody>
          <a:bodyPr wrap="square" lIns="0" rIns="0" tIns="0" bIns="0" anchor="t">
            <a:spAutoFit/>
          </a:bodyPr>
          <a:lstStyle/>
          <a:p>
            <a:pPr algn="l">
              <a:spcAft>
                <a:spcPts val="400"/>
              </a:spcAft>
            </a:pPr>
            <a:r>
              <a:rPr sz="2200" b="0" i="0">
                <a:solidFill>
                  <a:srgbClr val="CADCFC"/>
                </a:solidFill>
                <a:latin typeface="Calibri"/>
              </a:rPr>
              <a:t>From a document and a schema to checked JSON: agentic extraction with open models</a:t>
            </a:r>
          </a:p>
        </p:txBody>
      </p:sp>
      <p:sp>
        <p:nvSpPr>
          <p:cNvPr id="4" name="TextBox 3"/>
          <p:cNvSpPr txBox="1"/>
          <p:nvPr/>
        </p:nvSpPr>
        <p:spPr>
          <a:xfrm>
            <a:off x="731520" y="4023360"/>
            <a:ext cx="10515600" cy="457200"/>
          </a:xfrm>
          <a:prstGeom prst="rect">
            <a:avLst/>
          </a:prstGeom>
          <a:noFill/>
        </p:spPr>
        <p:txBody>
          <a:bodyPr wrap="square" lIns="0" rIns="0" tIns="0" bIns="0" anchor="t">
            <a:spAutoFit/>
          </a:bodyPr>
          <a:lstStyle/>
          <a:p>
            <a:pPr algn="l">
              <a:spcAft>
                <a:spcPts val="400"/>
              </a:spcAft>
            </a:pPr>
            <a:r>
              <a:rPr sz="1600" b="0" i="0">
                <a:solidFill>
                  <a:srgbClr val="A9B8D6"/>
                </a:solidFill>
                <a:latin typeface="Calibri"/>
              </a:rPr>
              <a:t>Every example in this deck is a real benchmark document and a stored pipeline output</a:t>
            </a:r>
          </a:p>
        </p:txBody>
      </p:sp>
      <p:sp>
        <p:nvSpPr>
          <p:cNvPr id="5" name="Oval 4"/>
          <p:cNvSpPr/>
          <p:nvPr/>
        </p:nvSpPr>
        <p:spPr>
          <a:xfrm>
            <a:off x="731520" y="4937760"/>
            <a:ext cx="365760" cy="36576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a:t>
            </a:r>
          </a:p>
        </p:txBody>
      </p:sp>
      <p:sp>
        <p:nvSpPr>
          <p:cNvPr id="6" name="Oval 5"/>
          <p:cNvSpPr/>
          <p:nvPr/>
        </p:nvSpPr>
        <p:spPr>
          <a:xfrm>
            <a:off x="1234440" y="4937760"/>
            <a:ext cx="365760" cy="365760"/>
          </a:xfrm>
          <a:prstGeom prst="ellipse">
            <a:avLst/>
          </a:prstGeom>
          <a:solidFill>
            <a:srgbClr val="2F7F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B</a:t>
            </a:r>
          </a:p>
        </p:txBody>
      </p:sp>
      <p:sp>
        <p:nvSpPr>
          <p:cNvPr id="7" name="Oval 6"/>
          <p:cNvSpPr/>
          <p:nvPr/>
        </p:nvSpPr>
        <p:spPr>
          <a:xfrm>
            <a:off x="1737360" y="4937760"/>
            <a:ext cx="365760" cy="365760"/>
          </a:xfrm>
          <a:prstGeom prst="ellipse">
            <a:avLst/>
          </a:prstGeom>
          <a:solidFill>
            <a:srgbClr val="3E9E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C</a:t>
            </a:r>
          </a:p>
        </p:txBody>
      </p:sp>
      <p:sp>
        <p:nvSpPr>
          <p:cNvPr id="8" name="Oval 7"/>
          <p:cNvSpPr/>
          <p:nvPr/>
        </p:nvSpPr>
        <p:spPr>
          <a:xfrm>
            <a:off x="2240280" y="4937760"/>
            <a:ext cx="365760" cy="365760"/>
          </a:xfrm>
          <a:prstGeom prst="ellipse">
            <a:avLst/>
          </a:prstGeom>
          <a:solidFill>
            <a:srgbClr val="7D5B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D</a:t>
            </a:r>
          </a:p>
        </p:txBody>
      </p:sp>
      <p:sp>
        <p:nvSpPr>
          <p:cNvPr id="9" name="TextBox 8"/>
          <p:cNvSpPr txBox="1"/>
          <p:nvPr/>
        </p:nvSpPr>
        <p:spPr>
          <a:xfrm>
            <a:off x="2834640" y="4956048"/>
            <a:ext cx="8229600" cy="365760"/>
          </a:xfrm>
          <a:prstGeom prst="rect">
            <a:avLst/>
          </a:prstGeom>
          <a:noFill/>
        </p:spPr>
        <p:txBody>
          <a:bodyPr wrap="square" lIns="0" rIns="0" tIns="0" bIns="0" anchor="ctr">
            <a:spAutoFit/>
          </a:bodyPr>
          <a:lstStyle/>
          <a:p>
            <a:pPr algn="l">
              <a:spcAft>
                <a:spcPts val="400"/>
              </a:spcAft>
            </a:pPr>
            <a:r>
              <a:rPr sz="1400" b="0" i="0">
                <a:solidFill>
                  <a:srgbClr val="A9B8D6"/>
                </a:solidFill>
                <a:latin typeface="Calibri"/>
              </a:rPr>
              <a:t>Routes A-D, as in the pipeline figure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The whole pipeline</a:t>
            </a:r>
          </a:p>
        </p:txBody>
      </p:sp>
      <p:sp>
        <p:nvSpPr>
          <p:cNvPr id="3" name="TextBox 2"/>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Pipeline figure v3 (generated with Codex), describing docquorum.extract.</a:t>
            </a:r>
          </a:p>
        </p:txBody>
      </p:sp>
      <p:pic>
        <p:nvPicPr>
          <p:cNvPr id="4" name="Picture 3" descr="pipeline.png"/>
          <p:cNvPicPr>
            <a:picLocks noChangeAspect="1"/>
          </p:cNvPicPr>
          <p:nvPr/>
        </p:nvPicPr>
        <p:blipFill>
          <a:blip r:embed="rId3"/>
          <a:stretch>
            <a:fillRect/>
          </a:stretch>
        </p:blipFill>
        <p:spPr>
          <a:xfrm>
            <a:off x="1287070" y="1371600"/>
            <a:ext cx="9614810"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274320"/>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3" name="TextBox 2"/>
          <p:cNvSpPr txBox="1"/>
          <p:nvPr/>
        </p:nvSpPr>
        <p:spPr>
          <a:xfrm>
            <a:off x="896112" y="283464"/>
            <a:ext cx="8229600" cy="329184"/>
          </a:xfrm>
          <a:prstGeom prst="rect">
            <a:avLst/>
          </a:prstGeom>
          <a:noFill/>
        </p:spPr>
        <p:txBody>
          <a:bodyPr wrap="square" lIns="0" rIns="0" tIns="0" bIns="0" anchor="ctr">
            <a:spAutoFit/>
          </a:bodyPr>
          <a:lstStyle/>
          <a:p>
            <a:pPr algn="l">
              <a:spcAft>
                <a:spcPts val="400"/>
              </a:spcAft>
            </a:pPr>
            <a:r>
              <a:rPr sz="1200" b="1" i="0">
                <a:solidFill>
                  <a:srgbClr val="1B2A4A"/>
                </a:solidFill>
                <a:latin typeface="Calibri"/>
              </a:rPr>
              <a:t>INPUTS</a:t>
            </a:r>
          </a:p>
        </p:txBody>
      </p:sp>
      <p:sp>
        <p:nvSpPr>
          <p:cNvPr id="4" name="TextBox 3"/>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A document, a schema, and an optional task</a:t>
            </a:r>
          </a:p>
        </p:txBody>
      </p:sp>
      <p:sp>
        <p:nvSpPr>
          <p:cNvPr id="5" name="TextBox 4"/>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ExtractBench short: 2A-9-160298_109929 (schema shortened); task from hingham_lowes_receipt; UNIKIE-BENCH Catering-Services test_1.jpg.</a:t>
            </a:r>
          </a:p>
        </p:txBody>
      </p:sp>
      <p:sp>
        <p:nvSpPr>
          <p:cNvPr id="6" name="Rounded Rectangle 5"/>
          <p:cNvSpPr/>
          <p:nvPr/>
        </p:nvSpPr>
        <p:spPr>
          <a:xfrm>
            <a:off x="457200" y="1463040"/>
            <a:ext cx="3246120"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2880360" cy="320040"/>
          </a:xfrm>
          <a:prstGeom prst="rect">
            <a:avLst/>
          </a:prstGeom>
          <a:noFill/>
        </p:spPr>
        <p:txBody>
          <a:bodyPr wrap="square" lIns="0" rIns="0" tIns="0" bIns="0" anchor="t">
            <a:spAutoFit/>
          </a:bodyPr>
          <a:lstStyle/>
          <a:p>
            <a:pPr algn="l">
              <a:spcAft>
                <a:spcPts val="400"/>
              </a:spcAft>
            </a:pPr>
            <a:r>
              <a:rPr sz="1600" b="1" i="0">
                <a:solidFill>
                  <a:srgbClr val="1B2A4A"/>
                </a:solidFill>
                <a:latin typeface="Calibri"/>
              </a:rPr>
              <a:t>Document (PDF or image)</a:t>
            </a:r>
          </a:p>
        </p:txBody>
      </p:sp>
      <p:pic>
        <p:nvPicPr>
          <p:cNvPr id="8" name="Picture 7" descr="input_form_p1.png"/>
          <p:cNvPicPr>
            <a:picLocks noChangeAspect="1"/>
          </p:cNvPicPr>
          <p:nvPr/>
        </p:nvPicPr>
        <p:blipFill>
          <a:blip r:embed="rId3"/>
          <a:stretch>
            <a:fillRect/>
          </a:stretch>
        </p:blipFill>
        <p:spPr>
          <a:xfrm>
            <a:off x="685074" y="1874519"/>
            <a:ext cx="2790371" cy="3657600"/>
          </a:xfrm>
          <a:prstGeom prst="rect">
            <a:avLst/>
          </a:prstGeom>
          <a:ln w="9525">
            <a:solidFill>
              <a:srgbClr val="D5DBE5"/>
            </a:solidFill>
          </a:ln>
        </p:spPr>
      </p:pic>
      <p:sp>
        <p:nvSpPr>
          <p:cNvPr id="9" name="TextBox 8"/>
          <p:cNvSpPr txBox="1"/>
          <p:nvPr/>
        </p:nvSpPr>
        <p:spPr>
          <a:xfrm>
            <a:off x="640080" y="5623560"/>
            <a:ext cx="2880360" cy="64008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1955 well-plugging application, Railroad Commission of Texas. Scan, 2 pages, no text layer.</a:t>
            </a:r>
          </a:p>
        </p:txBody>
      </p:sp>
      <p:sp>
        <p:nvSpPr>
          <p:cNvPr id="10" name="Rounded Rectangle 9"/>
          <p:cNvSpPr/>
          <p:nvPr/>
        </p:nvSpPr>
        <p:spPr>
          <a:xfrm>
            <a:off x="3886200" y="1463040"/>
            <a:ext cx="4206240"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69080" y="1600200"/>
            <a:ext cx="3840479" cy="320040"/>
          </a:xfrm>
          <a:prstGeom prst="rect">
            <a:avLst/>
          </a:prstGeom>
          <a:noFill/>
        </p:spPr>
        <p:txBody>
          <a:bodyPr wrap="square" lIns="0" rIns="0" tIns="0" bIns="0" anchor="t">
            <a:spAutoFit/>
          </a:bodyPr>
          <a:lstStyle/>
          <a:p>
            <a:pPr algn="l">
              <a:spcAft>
                <a:spcPts val="400"/>
              </a:spcAft>
            </a:pPr>
            <a:r>
              <a:rPr sz="1600" b="1" i="0">
                <a:solidFill>
                  <a:srgbClr val="1B2A4A"/>
                </a:solidFill>
                <a:latin typeface="Calibri"/>
              </a:rPr>
              <a:t>JSON Schema (77 fields)</a:t>
            </a:r>
          </a:p>
        </p:txBody>
      </p:sp>
      <p:sp>
        <p:nvSpPr>
          <p:cNvPr id="12" name="Rounded Rectangle 11"/>
          <p:cNvSpPr/>
          <p:nvPr/>
        </p:nvSpPr>
        <p:spPr>
          <a:xfrm>
            <a:off x="4069080" y="1920240"/>
            <a:ext cx="3840480" cy="4251960"/>
          </a:xfrm>
          <a:prstGeom prst="roundRect">
            <a:avLst>
              <a:gd name="adj" fmla="val 6000"/>
            </a:avLst>
          </a:prstGeom>
          <a:solidFill>
            <a:srgbClr val="FFFFFF"/>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2029968"/>
            <a:ext cx="3611880" cy="4069080"/>
          </a:xfrm>
          <a:prstGeom prst="rect">
            <a:avLst/>
          </a:prstGeom>
          <a:noFill/>
        </p:spPr>
        <p:txBody>
          <a:bodyPr wrap="square" lIns="0" rIns="0" tIns="0" bIns="0" anchor="t">
            <a:spAutoFit/>
          </a:bodyPr>
          <a:lstStyle/>
          <a:p>
            <a:pPr algn="l">
              <a:spcAft>
                <a:spcPts val="400"/>
              </a:spcAft>
            </a:pPr>
            <a:r>
              <a:rPr sz="1200" b="0" i="0">
                <a:solidFill>
                  <a:srgbClr val="23314F"/>
                </a:solidFill>
                <a:latin typeface="Courier New"/>
              </a:rPr>
              <a:t>"p1_company": {</a:t>
            </a:r>
          </a:p>
          <a:p>
            <a:pPr algn="l">
              <a:spcAft>
                <a:spcPts val="400"/>
              </a:spcAft>
            </a:pPr>
            <a:r>
              <a:rPr sz="1200" b="0" i="0">
                <a:solidFill>
                  <a:srgbClr val="23314F"/>
                </a:solidFill>
                <a:latin typeface="Courier New"/>
              </a:rPr>
              <a:t>  "anyOf": [{"type": "string"},</a:t>
            </a:r>
          </a:p>
          <a:p>
            <a:pPr algn="l">
              <a:spcAft>
                <a:spcPts val="400"/>
              </a:spcAft>
            </a:pPr>
            <a:r>
              <a:rPr sz="1200" b="0" i="0">
                <a:solidFill>
                  <a:srgbClr val="23314F"/>
                </a:solidFill>
                <a:latin typeface="Courier New"/>
              </a:rPr>
              <a:t>            {"type": "null"}],</a:t>
            </a:r>
          </a:p>
          <a:p>
            <a:pPr algn="l">
              <a:spcAft>
                <a:spcPts val="400"/>
              </a:spcAft>
            </a:pPr>
            <a:r>
              <a:rPr sz="1200" b="0" i="0">
                <a:solidFill>
                  <a:srgbClr val="23314F"/>
                </a:solidFill>
                <a:latin typeface="Courier New"/>
              </a:rPr>
              <a:t>  "description": "The 'Company'</a:t>
            </a:r>
          </a:p>
          <a:p>
            <a:pPr algn="l">
              <a:spcAft>
                <a:spcPts val="400"/>
              </a:spcAft>
            </a:pPr>
            <a:r>
              <a:rPr sz="1200" b="0" i="0">
                <a:solidFill>
                  <a:srgbClr val="23314F"/>
                </a:solidFill>
                <a:latin typeface="Courier New"/>
              </a:rPr>
              <a:t>   field in the identification</a:t>
            </a:r>
          </a:p>
          <a:p>
            <a:pPr algn="l">
              <a:spcAft>
                <a:spcPts val="400"/>
              </a:spcAft>
            </a:pPr>
            <a:r>
              <a:rPr sz="1200" b="0" i="0">
                <a:solidFill>
                  <a:srgbClr val="23314F"/>
                </a:solidFill>
                <a:latin typeface="Courier New"/>
              </a:rPr>
              <a:t>   block on page 1 ... Extract</a:t>
            </a:r>
          </a:p>
          <a:p>
            <a:pPr algn="l">
              <a:spcAft>
                <a:spcPts val="400"/>
              </a:spcAft>
            </a:pPr>
            <a:r>
              <a:rPr sz="1200" b="0" i="0">
                <a:solidFill>
                  <a:srgbClr val="23314F"/>
                </a:solidFill>
                <a:latin typeface="Courier New"/>
              </a:rPr>
              <a:t>   verbatim as printed; null if</a:t>
            </a:r>
          </a:p>
          <a:p>
            <a:pPr algn="l">
              <a:spcAft>
                <a:spcPts val="400"/>
              </a:spcAft>
            </a:pPr>
            <a:r>
              <a:rPr sz="1200" b="0" i="0">
                <a:solidFill>
                  <a:srgbClr val="23314F"/>
                </a:solidFill>
                <a:latin typeface="Courier New"/>
              </a:rPr>
              <a:t>   blank. Do NOT confuse with</a:t>
            </a:r>
          </a:p>
          <a:p>
            <a:pPr algn="l">
              <a:spcAft>
                <a:spcPts val="400"/>
              </a:spcAft>
            </a:pPr>
            <a:r>
              <a:rPr sz="1200" b="0" i="0">
                <a:solidFill>
                  <a:srgbClr val="23314F"/>
                </a:solidFill>
                <a:latin typeface="Courier New"/>
              </a:rPr>
              <a:t>   'Name of Party Plugging</a:t>
            </a:r>
          </a:p>
          <a:p>
            <a:pPr algn="l">
              <a:spcAft>
                <a:spcPts val="400"/>
              </a:spcAft>
            </a:pPr>
            <a:r>
              <a:rPr sz="1200" b="0" i="0">
                <a:solidFill>
                  <a:srgbClr val="23314F"/>
                </a:solidFill>
                <a:latin typeface="Courier New"/>
              </a:rPr>
              <a:t>   Well' ..."</a:t>
            </a:r>
          </a:p>
          <a:p>
            <a:pPr algn="l">
              <a:spcAft>
                <a:spcPts val="400"/>
              </a:spcAft>
            </a:pPr>
            <a:r>
              <a:rPr sz="1200" b="0" i="0">
                <a:solidFill>
                  <a:srgbClr val="23314F"/>
                </a:solidFill>
                <a:latin typeface="Courier New"/>
              </a:rPr>
              <a:t>},</a:t>
            </a:r>
          </a:p>
          <a:p>
            <a:pPr algn="l">
              <a:spcAft>
                <a:spcPts val="400"/>
              </a:spcAft>
            </a:pPr>
            <a:r>
              <a:rPr sz="1200" b="0" i="0">
                <a:solidFill>
                  <a:srgbClr val="23314F"/>
                </a:solidFill>
                <a:latin typeface="Courier New"/>
              </a:rPr>
              <a:t>"p1_county":      {...},</a:t>
            </a:r>
          </a:p>
          <a:p>
            <a:pPr algn="l">
              <a:spcAft>
                <a:spcPts val="400"/>
              </a:spcAft>
            </a:pPr>
            <a:r>
              <a:rPr sz="1200" b="0" i="0">
                <a:solidFill>
                  <a:srgbClr val="23314F"/>
                </a:solidFill>
                <a:latin typeface="Courier New"/>
              </a:rPr>
              <a:t>"p1_total_depth": {...},</a:t>
            </a:r>
          </a:p>
          <a:p>
            <a:pPr algn="l">
              <a:spcAft>
                <a:spcPts val="400"/>
              </a:spcAft>
            </a:pPr>
            <a:r>
              <a:rPr sz="1200" b="0" i="0">
                <a:solidFill>
                  <a:srgbClr val="23314F"/>
                </a:solidFill>
                <a:latin typeface="Courier New"/>
              </a:rPr>
              <a:t>...  74 more fields</a:t>
            </a:r>
          </a:p>
        </p:txBody>
      </p:sp>
      <p:sp>
        <p:nvSpPr>
          <p:cNvPr id="14" name="Rounded Rectangle 13"/>
          <p:cNvSpPr/>
          <p:nvPr/>
        </p:nvSpPr>
        <p:spPr>
          <a:xfrm>
            <a:off x="8275320" y="1463040"/>
            <a:ext cx="3456432" cy="228600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200" y="1600200"/>
            <a:ext cx="3090672" cy="320040"/>
          </a:xfrm>
          <a:prstGeom prst="rect">
            <a:avLst/>
          </a:prstGeom>
          <a:noFill/>
        </p:spPr>
        <p:txBody>
          <a:bodyPr wrap="square" lIns="0" rIns="0" tIns="0" bIns="0" anchor="t">
            <a:spAutoFit/>
          </a:bodyPr>
          <a:lstStyle/>
          <a:p>
            <a:pPr algn="l">
              <a:spcAft>
                <a:spcPts val="400"/>
              </a:spcAft>
            </a:pPr>
            <a:r>
              <a:rPr sz="1600" b="1" i="0">
                <a:solidFill>
                  <a:srgbClr val="1B2A4A"/>
                </a:solidFill>
                <a:latin typeface="Calibri"/>
              </a:rPr>
              <a:t>Optional task (free text)</a:t>
            </a:r>
          </a:p>
        </p:txBody>
      </p:sp>
      <p:sp>
        <p:nvSpPr>
          <p:cNvPr id="16" name="TextBox 15"/>
          <p:cNvSpPr txBox="1"/>
          <p:nvPr/>
        </p:nvSpPr>
        <p:spPr>
          <a:xfrm>
            <a:off x="8458200" y="1874519"/>
            <a:ext cx="3108960" cy="1783080"/>
          </a:xfrm>
          <a:prstGeom prst="rect">
            <a:avLst/>
          </a:prstGeom>
          <a:noFill/>
        </p:spPr>
        <p:txBody>
          <a:bodyPr wrap="square" lIns="0" rIns="0" tIns="0" bIns="0" anchor="t">
            <a:spAutoFit/>
          </a:bodyPr>
          <a:lstStyle/>
          <a:p>
            <a:pPr algn="l">
              <a:spcAft>
                <a:spcPts val="400"/>
              </a:spcAft>
            </a:pPr>
            <a:r>
              <a:rPr sz="1200" b="0" i="0">
                <a:solidFill>
                  <a:srgbClr val="23314F"/>
                </a:solidFill>
                <a:latin typeface="Calibri"/>
              </a:rPr>
              <a:t>“A single point-of-sale purchase RECEIPT (retail or restaurant). DOC-TYPE / SCOPE RULE: if one file bundles MULTIPLE distinct receipts or transactions …”</a:t>
            </a:r>
          </a:p>
        </p:txBody>
      </p:sp>
      <p:sp>
        <p:nvSpPr>
          <p:cNvPr id="17" name="Rounded Rectangle 16"/>
          <p:cNvSpPr/>
          <p:nvPr/>
        </p:nvSpPr>
        <p:spPr>
          <a:xfrm>
            <a:off x="8275320" y="3886200"/>
            <a:ext cx="3456432" cy="24688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4023360"/>
            <a:ext cx="3090672" cy="320040"/>
          </a:xfrm>
          <a:prstGeom prst="rect">
            <a:avLst/>
          </a:prstGeom>
          <a:noFill/>
        </p:spPr>
        <p:txBody>
          <a:bodyPr wrap="square" lIns="0" rIns="0" tIns="0" bIns="0" anchor="t">
            <a:spAutoFit/>
          </a:bodyPr>
          <a:lstStyle/>
          <a:p>
            <a:pPr algn="l">
              <a:spcAft>
                <a:spcPts val="400"/>
              </a:spcAft>
            </a:pPr>
            <a:r>
              <a:rPr sz="1600" b="1" i="0">
                <a:solidFill>
                  <a:srgbClr val="1B2A4A"/>
                </a:solidFill>
                <a:latin typeface="Calibri"/>
              </a:rPr>
              <a:t>Or: image + JSON template</a:t>
            </a:r>
          </a:p>
        </p:txBody>
      </p:sp>
      <p:pic>
        <p:nvPicPr>
          <p:cNvPr id="19" name="Picture 18" descr="input_receipt.png"/>
          <p:cNvPicPr>
            <a:picLocks noChangeAspect="1"/>
          </p:cNvPicPr>
          <p:nvPr/>
        </p:nvPicPr>
        <p:blipFill>
          <a:blip r:embed="rId4"/>
          <a:stretch>
            <a:fillRect/>
          </a:stretch>
        </p:blipFill>
        <p:spPr>
          <a:xfrm>
            <a:off x="8458200" y="4497688"/>
            <a:ext cx="1143000" cy="1520222"/>
          </a:xfrm>
          <a:prstGeom prst="rect">
            <a:avLst/>
          </a:prstGeom>
          <a:ln w="9525">
            <a:solidFill>
              <a:srgbClr val="D5DBE5"/>
            </a:solidFill>
          </a:ln>
        </p:spPr>
      </p:pic>
      <p:sp>
        <p:nvSpPr>
          <p:cNvPr id="20" name="TextBox 19"/>
          <p:cNvSpPr txBox="1"/>
          <p:nvPr/>
        </p:nvSpPr>
        <p:spPr>
          <a:xfrm>
            <a:off x="9692640" y="4343400"/>
            <a:ext cx="1920240" cy="1828800"/>
          </a:xfrm>
          <a:prstGeom prst="rect">
            <a:avLst/>
          </a:prstGeom>
          <a:noFill/>
        </p:spPr>
        <p:txBody>
          <a:bodyPr wrap="square" lIns="0" rIns="0" tIns="0" bIns="0" anchor="t">
            <a:spAutoFit/>
          </a:bodyPr>
          <a:lstStyle/>
          <a:p>
            <a:pPr algn="l">
              <a:spcAft>
                <a:spcPts val="400"/>
              </a:spcAft>
            </a:pPr>
            <a:r>
              <a:rPr sz="1100" b="0" i="0">
                <a:solidFill>
                  <a:srgbClr val="23314F"/>
                </a:solidFill>
                <a:latin typeface="Courier New"/>
              </a:rPr>
              <a:t>{"menu": [</a:t>
            </a:r>
          </a:p>
          <a:p>
            <a:pPr algn="l">
              <a:spcAft>
                <a:spcPts val="400"/>
              </a:spcAft>
            </a:pPr>
            <a:r>
              <a:rPr sz="1100" b="0" i="0">
                <a:solidFill>
                  <a:srgbClr val="23314F"/>
                </a:solidFill>
                <a:latin typeface="Courier New"/>
              </a:rPr>
              <a:t>  {"price": "",</a:t>
            </a:r>
          </a:p>
          <a:p>
            <a:pPr algn="l">
              <a:spcAft>
                <a:spcPts val="400"/>
              </a:spcAft>
            </a:pPr>
            <a:r>
              <a:rPr sz="1100" b="0" i="0">
                <a:solidFill>
                  <a:srgbClr val="23314F"/>
                </a:solidFill>
                <a:latin typeface="Courier New"/>
              </a:rPr>
              <a:t>   "nm": ""}],</a:t>
            </a:r>
          </a:p>
          <a:p>
            <a:pPr algn="l">
              <a:spcAft>
                <a:spcPts val="400"/>
              </a:spcAft>
            </a:pPr>
            <a:r>
              <a:rPr sz="1100" b="0" i="0">
                <a:solidFill>
                  <a:srgbClr val="23314F"/>
                </a:solidFill>
                <a:latin typeface="Courier New"/>
              </a:rPr>
              <a:t> "total": {</a:t>
            </a:r>
          </a:p>
          <a:p>
            <a:pPr algn="l">
              <a:spcAft>
                <a:spcPts val="400"/>
              </a:spcAft>
            </a:pPr>
            <a:r>
              <a:rPr sz="1100" b="0" i="0">
                <a:solidFill>
                  <a:srgbClr val="23314F"/>
                </a:solidFill>
                <a:latin typeface="Courier New"/>
              </a:rPr>
              <a:t>  "cashprice": "",</a:t>
            </a:r>
          </a:p>
          <a:p>
            <a:pPr algn="l">
              <a:spcAft>
                <a:spcPts val="400"/>
              </a:spcAft>
            </a:pPr>
            <a:r>
              <a:rPr sz="1100" b="0" i="0">
                <a:solidFill>
                  <a:srgbClr val="23314F"/>
                </a:solidFill>
                <a:latin typeface="Courier New"/>
              </a:rPr>
              <a:t>  "total_price":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274320"/>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3" name="TextBox 2"/>
          <p:cNvSpPr txBox="1"/>
          <p:nvPr/>
        </p:nvSpPr>
        <p:spPr>
          <a:xfrm>
            <a:off x="896112" y="283464"/>
            <a:ext cx="8229600" cy="329184"/>
          </a:xfrm>
          <a:prstGeom prst="rect">
            <a:avLst/>
          </a:prstGeom>
          <a:noFill/>
        </p:spPr>
        <p:txBody>
          <a:bodyPr wrap="square" lIns="0" rIns="0" tIns="0" bIns="0" anchor="ctr">
            <a:spAutoFit/>
          </a:bodyPr>
          <a:lstStyle/>
          <a:p>
            <a:pPr algn="l">
              <a:spcAft>
                <a:spcPts val="400"/>
              </a:spcAft>
            </a:pPr>
            <a:r>
              <a:rPr sz="1200" b="1" i="0">
                <a:solidFill>
                  <a:srgbClr val="1B2A4A"/>
                </a:solidFill>
                <a:latin typeface="Calibri"/>
              </a:rPr>
              <a:t>PREPARE &amp; ROUTE</a:t>
            </a:r>
          </a:p>
        </p:txBody>
      </p:sp>
      <p:sp>
        <p:nvSpPr>
          <p:cNvPr id="4" name="TextBox 3"/>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The document decides how it is read</a:t>
            </a:r>
          </a:p>
        </p:txBody>
      </p:sp>
      <p:sp>
        <p:nvSpPr>
          <p:cNvPr id="5" name="TextBox 4"/>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Characters per page = embedded text from pdftotext. Thumbnails: ExtractBench documents named on each card.</a:t>
            </a:r>
          </a:p>
        </p:txBody>
      </p:sp>
      <p:sp>
        <p:nvSpPr>
          <p:cNvPr id="6" name="Rounded Rectangle 5"/>
          <p:cNvSpPr/>
          <p:nvPr/>
        </p:nvSpPr>
        <p:spPr>
          <a:xfrm>
            <a:off x="457200" y="1463040"/>
            <a:ext cx="2130552"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ute_0.png"/>
          <p:cNvPicPr>
            <a:picLocks noChangeAspect="1"/>
          </p:cNvPicPr>
          <p:nvPr/>
        </p:nvPicPr>
        <p:blipFill>
          <a:blip r:embed="rId3"/>
          <a:stretch>
            <a:fillRect/>
          </a:stretch>
        </p:blipFill>
        <p:spPr>
          <a:xfrm>
            <a:off x="939545" y="1600200"/>
            <a:ext cx="1165860" cy="2331720"/>
          </a:xfrm>
          <a:prstGeom prst="rect">
            <a:avLst/>
          </a:prstGeom>
          <a:ln w="9525">
            <a:solidFill>
              <a:srgbClr val="D5DBE5"/>
            </a:solidFill>
          </a:ln>
        </p:spPr>
      </p:pic>
      <p:sp>
        <p:nvSpPr>
          <p:cNvPr id="8" name="Oval 7"/>
          <p:cNvSpPr/>
          <p:nvPr/>
        </p:nvSpPr>
        <p:spPr>
          <a:xfrm>
            <a:off x="594360" y="4069080"/>
            <a:ext cx="384048" cy="38404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a:t>
            </a:r>
          </a:p>
        </p:txBody>
      </p:sp>
      <p:sp>
        <p:nvSpPr>
          <p:cNvPr id="9" name="TextBox 8"/>
          <p:cNvSpPr txBox="1"/>
          <p:nvPr/>
        </p:nvSpPr>
        <p:spPr>
          <a:xfrm>
            <a:off x="1051560" y="4069080"/>
            <a:ext cx="1463040" cy="411480"/>
          </a:xfrm>
          <a:prstGeom prst="rect">
            <a:avLst/>
          </a:prstGeom>
          <a:noFill/>
        </p:spPr>
        <p:txBody>
          <a:bodyPr wrap="square" lIns="0" rIns="0" tIns="0" bIns="0" anchor="ctr">
            <a:spAutoFit/>
          </a:bodyPr>
          <a:lstStyle/>
          <a:p>
            <a:pPr algn="l">
              <a:spcAft>
                <a:spcPts val="400"/>
              </a:spcAft>
            </a:pPr>
            <a:r>
              <a:rPr sz="1200" b="1" i="0">
                <a:solidFill>
                  <a:srgbClr val="D9822B"/>
                </a:solidFill>
                <a:latin typeface="Calibri"/>
              </a:rPr>
              <a:t>Layout reader</a:t>
            </a:r>
          </a:p>
        </p:txBody>
      </p:sp>
      <p:sp>
        <p:nvSpPr>
          <p:cNvPr id="10" name="TextBox 9"/>
          <p:cNvSpPr txBox="1"/>
          <p:nvPr/>
        </p:nvSpPr>
        <p:spPr>
          <a:xfrm>
            <a:off x="594360" y="4617720"/>
            <a:ext cx="1874519" cy="1645920"/>
          </a:xfrm>
          <a:prstGeom prst="rect">
            <a:avLst/>
          </a:prstGeom>
          <a:noFill/>
        </p:spPr>
        <p:txBody>
          <a:bodyPr wrap="square" lIns="0" rIns="0" tIns="0" bIns="0" anchor="t">
            <a:spAutoFit/>
          </a:bodyPr>
          <a:lstStyle/>
          <a:p>
            <a:pPr algn="l">
              <a:spcAft>
                <a:spcPts val="400"/>
              </a:spcAft>
            </a:pPr>
            <a:r>
              <a:rPr sz="1200" b="1" i="0">
                <a:solidFill>
                  <a:srgbClr val="23314F"/>
                </a:solidFill>
                <a:latin typeface="Calibri"/>
              </a:rPr>
              <a:t>Oklahoma unclaimed-property register</a:t>
            </a:r>
          </a:p>
          <a:p>
            <a:pPr algn="l">
              <a:spcAft>
                <a:spcPts val="400"/>
              </a:spcAft>
            </a:pPr>
            <a:r>
              <a:rPr sz="1200" b="0" i="0">
                <a:solidFill>
                  <a:srgbClr val="23314F"/>
                </a:solidFill>
                <a:latin typeface="Calibri"/>
              </a:rPr>
              <a:t>59 pages · 15,280 characters/page</a:t>
            </a:r>
          </a:p>
          <a:p>
            <a:pPr algn="l">
              <a:spcAft>
                <a:spcPts val="400"/>
              </a:spcAft>
            </a:pPr>
            <a:r>
              <a:rPr sz="1200" b="0" i="0">
                <a:solidFill>
                  <a:srgbClr val="5B6577"/>
                </a:solidFill>
                <a:latin typeface="Calibri"/>
              </a:rPr>
              <a:t>Equal-width columns of records</a:t>
            </a:r>
          </a:p>
        </p:txBody>
      </p:sp>
      <p:sp>
        <p:nvSpPr>
          <p:cNvPr id="11" name="Rounded Rectangle 10"/>
          <p:cNvSpPr/>
          <p:nvPr/>
        </p:nvSpPr>
        <p:spPr>
          <a:xfrm>
            <a:off x="2743200" y="1463040"/>
            <a:ext cx="2130552"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oute_1.png"/>
          <p:cNvPicPr>
            <a:picLocks noChangeAspect="1"/>
          </p:cNvPicPr>
          <p:nvPr/>
        </p:nvPicPr>
        <p:blipFill>
          <a:blip r:embed="rId4"/>
          <a:stretch>
            <a:fillRect/>
          </a:stretch>
        </p:blipFill>
        <p:spPr>
          <a:xfrm>
            <a:off x="2905464" y="1600200"/>
            <a:ext cx="1806023" cy="2331720"/>
          </a:xfrm>
          <a:prstGeom prst="rect">
            <a:avLst/>
          </a:prstGeom>
          <a:ln w="9525">
            <a:solidFill>
              <a:srgbClr val="D5DBE5"/>
            </a:solidFill>
          </a:ln>
        </p:spPr>
      </p:pic>
      <p:sp>
        <p:nvSpPr>
          <p:cNvPr id="13" name="Oval 12"/>
          <p:cNvSpPr/>
          <p:nvPr/>
        </p:nvSpPr>
        <p:spPr>
          <a:xfrm>
            <a:off x="2880360" y="4069080"/>
            <a:ext cx="384048" cy="384048"/>
          </a:xfrm>
          <a:prstGeom prst="ellipse">
            <a:avLst/>
          </a:prstGeom>
          <a:solidFill>
            <a:srgbClr val="2F7F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B</a:t>
            </a:r>
          </a:p>
        </p:txBody>
      </p:sp>
      <p:sp>
        <p:nvSpPr>
          <p:cNvPr id="14" name="TextBox 13"/>
          <p:cNvSpPr txBox="1"/>
          <p:nvPr/>
        </p:nvSpPr>
        <p:spPr>
          <a:xfrm>
            <a:off x="3337560" y="4069080"/>
            <a:ext cx="1463040" cy="411480"/>
          </a:xfrm>
          <a:prstGeom prst="rect">
            <a:avLst/>
          </a:prstGeom>
          <a:noFill/>
        </p:spPr>
        <p:txBody>
          <a:bodyPr wrap="square" lIns="0" rIns="0" tIns="0" bIns="0" anchor="ctr">
            <a:spAutoFit/>
          </a:bodyPr>
          <a:lstStyle/>
          <a:p>
            <a:pPr algn="l">
              <a:spcAft>
                <a:spcPts val="400"/>
              </a:spcAft>
            </a:pPr>
            <a:r>
              <a:rPr sz="1200" b="1" i="0">
                <a:solidFill>
                  <a:srgbClr val="2F7FC1"/>
                </a:solidFill>
                <a:latin typeface="Calibri"/>
              </a:rPr>
              <a:t>Reader agent on text + images</a:t>
            </a:r>
          </a:p>
        </p:txBody>
      </p:sp>
      <p:sp>
        <p:nvSpPr>
          <p:cNvPr id="15" name="TextBox 14"/>
          <p:cNvSpPr txBox="1"/>
          <p:nvPr/>
        </p:nvSpPr>
        <p:spPr>
          <a:xfrm>
            <a:off x="2880360" y="4617720"/>
            <a:ext cx="1874519" cy="1645920"/>
          </a:xfrm>
          <a:prstGeom prst="rect">
            <a:avLst/>
          </a:prstGeom>
          <a:noFill/>
        </p:spPr>
        <p:txBody>
          <a:bodyPr wrap="square" lIns="0" rIns="0" tIns="0" bIns="0" anchor="t">
            <a:spAutoFit/>
          </a:bodyPr>
          <a:lstStyle/>
          <a:p>
            <a:pPr algn="l">
              <a:spcAft>
                <a:spcPts val="400"/>
              </a:spcAft>
            </a:pPr>
            <a:r>
              <a:rPr sz="1200" b="1" i="0">
                <a:solidFill>
                  <a:srgbClr val="23314F"/>
                </a:solidFill>
                <a:latin typeface="Calibri"/>
              </a:rPr>
              <a:t>Oklahoma County purchase order</a:t>
            </a:r>
          </a:p>
          <a:p>
            <a:pPr algn="l">
              <a:spcAft>
                <a:spcPts val="400"/>
              </a:spcAft>
            </a:pPr>
            <a:r>
              <a:rPr sz="1200" b="0" i="0">
                <a:solidFill>
                  <a:srgbClr val="23314F"/>
                </a:solidFill>
                <a:latin typeface="Calibri"/>
              </a:rPr>
              <a:t>1 page · 2,253 characters/page</a:t>
            </a:r>
          </a:p>
          <a:p>
            <a:pPr algn="l">
              <a:spcAft>
                <a:spcPts val="400"/>
              </a:spcAft>
            </a:pPr>
            <a:r>
              <a:rPr sz="1200" b="0" i="0">
                <a:solidFill>
                  <a:srgbClr val="5B6577"/>
                </a:solidFill>
                <a:latin typeface="Calibri"/>
              </a:rPr>
              <a:t>Digital PDF: exact text layer</a:t>
            </a:r>
          </a:p>
        </p:txBody>
      </p:sp>
      <p:sp>
        <p:nvSpPr>
          <p:cNvPr id="16" name="Rounded Rectangle 15"/>
          <p:cNvSpPr/>
          <p:nvPr/>
        </p:nvSpPr>
        <p:spPr>
          <a:xfrm>
            <a:off x="5029200" y="1463040"/>
            <a:ext cx="2130552"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ute_2.png"/>
          <p:cNvPicPr>
            <a:picLocks noChangeAspect="1"/>
          </p:cNvPicPr>
          <p:nvPr/>
        </p:nvPicPr>
        <p:blipFill>
          <a:blip r:embed="rId5"/>
          <a:stretch>
            <a:fillRect/>
          </a:stretch>
        </p:blipFill>
        <p:spPr>
          <a:xfrm>
            <a:off x="5191464" y="1600200"/>
            <a:ext cx="1806023" cy="2331720"/>
          </a:xfrm>
          <a:prstGeom prst="rect">
            <a:avLst/>
          </a:prstGeom>
          <a:ln w="9525">
            <a:solidFill>
              <a:srgbClr val="D5DBE5"/>
            </a:solidFill>
          </a:ln>
        </p:spPr>
      </p:pic>
      <p:sp>
        <p:nvSpPr>
          <p:cNvPr id="18" name="Oval 17"/>
          <p:cNvSpPr/>
          <p:nvPr/>
        </p:nvSpPr>
        <p:spPr>
          <a:xfrm>
            <a:off x="5166360" y="4069080"/>
            <a:ext cx="384048" cy="384048"/>
          </a:xfrm>
          <a:prstGeom prst="ellipse">
            <a:avLst/>
          </a:prstGeom>
          <a:solidFill>
            <a:srgbClr val="2F7F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B</a:t>
            </a:r>
          </a:p>
        </p:txBody>
      </p:sp>
      <p:sp>
        <p:nvSpPr>
          <p:cNvPr id="19" name="TextBox 18"/>
          <p:cNvSpPr txBox="1"/>
          <p:nvPr/>
        </p:nvSpPr>
        <p:spPr>
          <a:xfrm>
            <a:off x="5623560" y="4069080"/>
            <a:ext cx="1463040" cy="411480"/>
          </a:xfrm>
          <a:prstGeom prst="rect">
            <a:avLst/>
          </a:prstGeom>
          <a:noFill/>
        </p:spPr>
        <p:txBody>
          <a:bodyPr wrap="square" lIns="0" rIns="0" tIns="0" bIns="0" anchor="ctr">
            <a:spAutoFit/>
          </a:bodyPr>
          <a:lstStyle/>
          <a:p>
            <a:pPr algn="l">
              <a:spcAft>
                <a:spcPts val="400"/>
              </a:spcAft>
            </a:pPr>
            <a:r>
              <a:rPr sz="1200" b="1" i="0">
                <a:solidFill>
                  <a:srgbClr val="2F7FC1"/>
                </a:solidFill>
                <a:latin typeface="Calibri"/>
              </a:rPr>
              <a:t>Reader agent on text + images</a:t>
            </a:r>
          </a:p>
        </p:txBody>
      </p:sp>
      <p:sp>
        <p:nvSpPr>
          <p:cNvPr id="20" name="TextBox 19"/>
          <p:cNvSpPr txBox="1"/>
          <p:nvPr/>
        </p:nvSpPr>
        <p:spPr>
          <a:xfrm>
            <a:off x="5166360" y="4617720"/>
            <a:ext cx="1874519" cy="1645920"/>
          </a:xfrm>
          <a:prstGeom prst="rect">
            <a:avLst/>
          </a:prstGeom>
          <a:noFill/>
        </p:spPr>
        <p:txBody>
          <a:bodyPr wrap="square" lIns="0" rIns="0" tIns="0" bIns="0" anchor="t">
            <a:spAutoFit/>
          </a:bodyPr>
          <a:lstStyle/>
          <a:p>
            <a:pPr algn="l">
              <a:spcAft>
                <a:spcPts val="400"/>
              </a:spcAft>
            </a:pPr>
            <a:r>
              <a:rPr sz="1200" b="1" i="0">
                <a:solidFill>
                  <a:srgbClr val="23314F"/>
                </a:solidFill>
                <a:latin typeface="Calibri"/>
              </a:rPr>
              <a:t>Texas W-14 well form</a:t>
            </a:r>
          </a:p>
          <a:p>
            <a:pPr algn="l">
              <a:spcAft>
                <a:spcPts val="400"/>
              </a:spcAft>
            </a:pPr>
            <a:r>
              <a:rPr sz="1200" b="0" i="0">
                <a:solidFill>
                  <a:srgbClr val="23314F"/>
                </a:solidFill>
                <a:latin typeface="Calibri"/>
              </a:rPr>
              <a:t>1 page · 252 characters/page (OCR layer)</a:t>
            </a:r>
          </a:p>
          <a:p>
            <a:pPr algn="l">
              <a:spcAft>
                <a:spcPts val="400"/>
              </a:spcAft>
            </a:pPr>
            <a:r>
              <a:rPr sz="1200" b="0" i="0">
                <a:solidFill>
                  <a:srgbClr val="5B6577"/>
                </a:solidFill>
                <a:latin typeface="Calibri"/>
              </a:rPr>
              <a:t>Scan with an OCR text layer</a:t>
            </a:r>
          </a:p>
        </p:txBody>
      </p:sp>
      <p:sp>
        <p:nvSpPr>
          <p:cNvPr id="21" name="Rounded Rectangle 20"/>
          <p:cNvSpPr/>
          <p:nvPr/>
        </p:nvSpPr>
        <p:spPr>
          <a:xfrm>
            <a:off x="7315200" y="1463040"/>
            <a:ext cx="2130552"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ute_3.png"/>
          <p:cNvPicPr>
            <a:picLocks noChangeAspect="1"/>
          </p:cNvPicPr>
          <p:nvPr/>
        </p:nvPicPr>
        <p:blipFill>
          <a:blip r:embed="rId6"/>
          <a:stretch>
            <a:fillRect/>
          </a:stretch>
        </p:blipFill>
        <p:spPr>
          <a:xfrm>
            <a:off x="7488812" y="1600200"/>
            <a:ext cx="1783326" cy="2331720"/>
          </a:xfrm>
          <a:prstGeom prst="rect">
            <a:avLst/>
          </a:prstGeom>
          <a:ln w="9525">
            <a:solidFill>
              <a:srgbClr val="D5DBE5"/>
            </a:solidFill>
          </a:ln>
        </p:spPr>
      </p:pic>
      <p:sp>
        <p:nvSpPr>
          <p:cNvPr id="23" name="Oval 22"/>
          <p:cNvSpPr/>
          <p:nvPr/>
        </p:nvSpPr>
        <p:spPr>
          <a:xfrm>
            <a:off x="7452360" y="4069080"/>
            <a:ext cx="384048" cy="384048"/>
          </a:xfrm>
          <a:prstGeom prst="ellipse">
            <a:avLst/>
          </a:prstGeom>
          <a:solidFill>
            <a:srgbClr val="3E9E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C</a:t>
            </a:r>
          </a:p>
        </p:txBody>
      </p:sp>
      <p:sp>
        <p:nvSpPr>
          <p:cNvPr id="24" name="TextBox 23"/>
          <p:cNvSpPr txBox="1"/>
          <p:nvPr/>
        </p:nvSpPr>
        <p:spPr>
          <a:xfrm>
            <a:off x="7909560" y="4069080"/>
            <a:ext cx="1463040" cy="411480"/>
          </a:xfrm>
          <a:prstGeom prst="rect">
            <a:avLst/>
          </a:prstGeom>
          <a:noFill/>
        </p:spPr>
        <p:txBody>
          <a:bodyPr wrap="square" lIns="0" rIns="0" tIns="0" bIns="0" anchor="ctr">
            <a:spAutoFit/>
          </a:bodyPr>
          <a:lstStyle/>
          <a:p>
            <a:pPr algn="l">
              <a:spcAft>
                <a:spcPts val="400"/>
              </a:spcAft>
            </a:pPr>
            <a:r>
              <a:rPr sz="1200" b="1" i="0">
                <a:solidFill>
                  <a:srgbClr val="3E9E5C"/>
                </a:solidFill>
                <a:latin typeface="Calibri"/>
              </a:rPr>
              <a:t>3 readings, then quorum</a:t>
            </a:r>
          </a:p>
        </p:txBody>
      </p:sp>
      <p:sp>
        <p:nvSpPr>
          <p:cNvPr id="25" name="TextBox 24"/>
          <p:cNvSpPr txBox="1"/>
          <p:nvPr/>
        </p:nvSpPr>
        <p:spPr>
          <a:xfrm>
            <a:off x="7452360" y="4617720"/>
            <a:ext cx="1874519" cy="1645920"/>
          </a:xfrm>
          <a:prstGeom prst="rect">
            <a:avLst/>
          </a:prstGeom>
          <a:noFill/>
        </p:spPr>
        <p:txBody>
          <a:bodyPr wrap="square" lIns="0" rIns="0" tIns="0" bIns="0" anchor="t">
            <a:spAutoFit/>
          </a:bodyPr>
          <a:lstStyle/>
          <a:p>
            <a:pPr algn="l">
              <a:spcAft>
                <a:spcPts val="400"/>
              </a:spcAft>
            </a:pPr>
            <a:r>
              <a:rPr sz="1200" b="1" i="0">
                <a:solidFill>
                  <a:srgbClr val="23314F"/>
                </a:solidFill>
                <a:latin typeface="Calibri"/>
              </a:rPr>
              <a:t>1955 plugging application</a:t>
            </a:r>
          </a:p>
          <a:p>
            <a:pPr algn="l">
              <a:spcAft>
                <a:spcPts val="400"/>
              </a:spcAft>
            </a:pPr>
            <a:r>
              <a:rPr sz="1200" b="0" i="0">
                <a:solidFill>
                  <a:srgbClr val="23314F"/>
                </a:solidFill>
                <a:latin typeface="Calibri"/>
              </a:rPr>
              <a:t>2 pages · no embedded text</a:t>
            </a:r>
          </a:p>
          <a:p>
            <a:pPr algn="l">
              <a:spcAft>
                <a:spcPts val="400"/>
              </a:spcAft>
            </a:pPr>
            <a:r>
              <a:rPr sz="1200" b="0" i="0">
                <a:solidFill>
                  <a:srgbClr val="5B6577"/>
                </a:solidFill>
                <a:latin typeface="Calibri"/>
              </a:rPr>
              <a:t>No text and at most 12 pages</a:t>
            </a:r>
          </a:p>
        </p:txBody>
      </p:sp>
      <p:sp>
        <p:nvSpPr>
          <p:cNvPr id="26" name="Rounded Rectangle 25"/>
          <p:cNvSpPr/>
          <p:nvPr/>
        </p:nvSpPr>
        <p:spPr>
          <a:xfrm>
            <a:off x="9601200" y="1463040"/>
            <a:ext cx="2130552"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route_4.png"/>
          <p:cNvPicPr>
            <a:picLocks noChangeAspect="1"/>
          </p:cNvPicPr>
          <p:nvPr/>
        </p:nvPicPr>
        <p:blipFill>
          <a:blip r:embed="rId7"/>
          <a:stretch>
            <a:fillRect/>
          </a:stretch>
        </p:blipFill>
        <p:spPr>
          <a:xfrm>
            <a:off x="9758511" y="1600200"/>
            <a:ext cx="1815928" cy="2331720"/>
          </a:xfrm>
          <a:prstGeom prst="rect">
            <a:avLst/>
          </a:prstGeom>
          <a:ln w="9525">
            <a:solidFill>
              <a:srgbClr val="D5DBE5"/>
            </a:solidFill>
          </a:ln>
        </p:spPr>
      </p:pic>
      <p:sp>
        <p:nvSpPr>
          <p:cNvPr id="28" name="Oval 27"/>
          <p:cNvSpPr/>
          <p:nvPr/>
        </p:nvSpPr>
        <p:spPr>
          <a:xfrm>
            <a:off x="9738360" y="4069080"/>
            <a:ext cx="384048" cy="384048"/>
          </a:xfrm>
          <a:prstGeom prst="ellipse">
            <a:avLst/>
          </a:prstGeom>
          <a:solidFill>
            <a:srgbClr val="7D5B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D</a:t>
            </a:r>
          </a:p>
        </p:txBody>
      </p:sp>
      <p:sp>
        <p:nvSpPr>
          <p:cNvPr id="29" name="TextBox 28"/>
          <p:cNvSpPr txBox="1"/>
          <p:nvPr/>
        </p:nvSpPr>
        <p:spPr>
          <a:xfrm>
            <a:off x="10195560" y="4069080"/>
            <a:ext cx="1463040" cy="411480"/>
          </a:xfrm>
          <a:prstGeom prst="rect">
            <a:avLst/>
          </a:prstGeom>
          <a:noFill/>
        </p:spPr>
        <p:txBody>
          <a:bodyPr wrap="square" lIns="0" rIns="0" tIns="0" bIns="0" anchor="ctr">
            <a:spAutoFit/>
          </a:bodyPr>
          <a:lstStyle/>
          <a:p>
            <a:pPr algn="l">
              <a:spcAft>
                <a:spcPts val="400"/>
              </a:spcAft>
            </a:pPr>
            <a:r>
              <a:rPr sz="1200" b="1" i="0">
                <a:solidFill>
                  <a:srgbClr val="7D5BA6"/>
                </a:solidFill>
                <a:latin typeface="Calibri"/>
              </a:rPr>
              <a:t>Reader agent on the parse</a:t>
            </a:r>
          </a:p>
        </p:txBody>
      </p:sp>
      <p:sp>
        <p:nvSpPr>
          <p:cNvPr id="30" name="TextBox 29"/>
          <p:cNvSpPr txBox="1"/>
          <p:nvPr/>
        </p:nvSpPr>
        <p:spPr>
          <a:xfrm>
            <a:off x="9738360" y="4617720"/>
            <a:ext cx="1874519" cy="1645920"/>
          </a:xfrm>
          <a:prstGeom prst="rect">
            <a:avLst/>
          </a:prstGeom>
          <a:noFill/>
        </p:spPr>
        <p:txBody>
          <a:bodyPr wrap="square" lIns="0" rIns="0" tIns="0" bIns="0" anchor="t">
            <a:spAutoFit/>
          </a:bodyPr>
          <a:lstStyle/>
          <a:p>
            <a:pPr algn="l">
              <a:spcAft>
                <a:spcPts val="400"/>
              </a:spcAft>
            </a:pPr>
            <a:r>
              <a:rPr sz="1200" b="1" i="0">
                <a:solidFill>
                  <a:srgbClr val="23314F"/>
                </a:solidFill>
                <a:latin typeface="Calibri"/>
              </a:rPr>
              <a:t>Tax return (bar-lev-2022)</a:t>
            </a:r>
          </a:p>
          <a:p>
            <a:pPr algn="l">
              <a:spcAft>
                <a:spcPts val="400"/>
              </a:spcAft>
            </a:pPr>
            <a:r>
              <a:rPr sz="1200" b="0" i="0">
                <a:solidFill>
                  <a:srgbClr val="23314F"/>
                </a:solidFill>
                <a:latin typeface="Calibri"/>
              </a:rPr>
              <a:t>25 pages · no embedded text</a:t>
            </a:r>
          </a:p>
          <a:p>
            <a:pPr algn="l">
              <a:spcAft>
                <a:spcPts val="400"/>
              </a:spcAft>
            </a:pPr>
            <a:r>
              <a:rPr sz="1200" b="0" i="0">
                <a:solidFill>
                  <a:srgbClr val="5B6577"/>
                </a:solidFill>
                <a:latin typeface="Calibri"/>
              </a:rPr>
              <a:t>No text and more than 12 pages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274320"/>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3" name="TextBox 2"/>
          <p:cNvSpPr txBox="1"/>
          <p:nvPr/>
        </p:nvSpPr>
        <p:spPr>
          <a:xfrm>
            <a:off x="896112" y="283464"/>
            <a:ext cx="8229600" cy="329184"/>
          </a:xfrm>
          <a:prstGeom prst="rect">
            <a:avLst/>
          </a:prstGeom>
          <a:noFill/>
        </p:spPr>
        <p:txBody>
          <a:bodyPr wrap="square" lIns="0" rIns="0" tIns="0" bIns="0" anchor="ctr">
            <a:spAutoFit/>
          </a:bodyPr>
          <a:lstStyle/>
          <a:p>
            <a:pPr algn="l">
              <a:spcAft>
                <a:spcPts val="400"/>
              </a:spcAft>
            </a:pPr>
            <a:r>
              <a:rPr sz="1200" b="1" i="0">
                <a:solidFill>
                  <a:srgbClr val="1B2A4A"/>
                </a:solidFill>
                <a:latin typeface="Calibri"/>
              </a:rPr>
              <a:t>PREPARE: MINERU PARSE OF A SCAN</a:t>
            </a:r>
          </a:p>
        </p:txBody>
      </p:sp>
      <p:sp>
        <p:nvSpPr>
          <p:cNvPr id="4" name="TextBox 3"/>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A scanned table comes back as cells, not loose text</a:t>
            </a:r>
          </a:p>
        </p:txBody>
      </p:sp>
      <p:sp>
        <p:nvSpPr>
          <p:cNvPr id="5" name="TextBox 4"/>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ExtractBench long: real_ftx_full_corrupted, page 47; cached MinerU2.5 parse (cache/parse).</a:t>
            </a:r>
          </a:p>
        </p:txBody>
      </p:sp>
      <p:sp>
        <p:nvSpPr>
          <p:cNvPr id="6" name="Rounded Rectangle 5"/>
          <p:cNvSpPr/>
          <p:nvPr/>
        </p:nvSpPr>
        <p:spPr>
          <a:xfrm>
            <a:off x="457200" y="1463040"/>
            <a:ext cx="5760720"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5394959" cy="320040"/>
          </a:xfrm>
          <a:prstGeom prst="rect">
            <a:avLst/>
          </a:prstGeom>
          <a:noFill/>
        </p:spPr>
        <p:txBody>
          <a:bodyPr wrap="square" lIns="0" rIns="0" tIns="0" bIns="0" anchor="t">
            <a:spAutoFit/>
          </a:bodyPr>
          <a:lstStyle/>
          <a:p>
            <a:pPr algn="l">
              <a:spcAft>
                <a:spcPts val="400"/>
              </a:spcAft>
            </a:pPr>
            <a:r>
              <a:rPr sz="1600" b="1" i="0">
                <a:solidFill>
                  <a:srgbClr val="1B2A4A"/>
                </a:solidFill>
                <a:latin typeface="Calibri"/>
              </a:rPr>
              <a:t>Scanned page (top part)</a:t>
            </a:r>
          </a:p>
        </p:txBody>
      </p:sp>
      <p:pic>
        <p:nvPicPr>
          <p:cNvPr id="8" name="Picture 7" descr="mineru_page.png"/>
          <p:cNvPicPr>
            <a:picLocks noChangeAspect="1"/>
          </p:cNvPicPr>
          <p:nvPr/>
        </p:nvPicPr>
        <p:blipFill>
          <a:blip r:embed="rId3"/>
          <a:stretch>
            <a:fillRect/>
          </a:stretch>
        </p:blipFill>
        <p:spPr>
          <a:xfrm>
            <a:off x="640080" y="1987600"/>
            <a:ext cx="5394960" cy="2014118"/>
          </a:xfrm>
          <a:prstGeom prst="rect">
            <a:avLst/>
          </a:prstGeom>
          <a:ln w="9525">
            <a:solidFill>
              <a:srgbClr val="D5DBE5"/>
            </a:solidFill>
          </a:ln>
        </p:spPr>
      </p:pic>
      <p:sp>
        <p:nvSpPr>
          <p:cNvPr id="9" name="TextBox 8"/>
          <p:cNvSpPr txBox="1"/>
          <p:nvPr/>
        </p:nvSpPr>
        <p:spPr>
          <a:xfrm>
            <a:off x="640080" y="4206240"/>
            <a:ext cx="5394960" cy="274320"/>
          </a:xfrm>
          <a:prstGeom prst="rect">
            <a:avLst/>
          </a:prstGeom>
          <a:noFill/>
        </p:spPr>
        <p:txBody>
          <a:bodyPr wrap="square" lIns="0" rIns="0" tIns="0" bIns="0" anchor="t">
            <a:spAutoFit/>
          </a:bodyPr>
          <a:lstStyle/>
          <a:p>
            <a:pPr algn="l">
              <a:spcAft>
                <a:spcPts val="400"/>
              </a:spcAft>
            </a:pPr>
            <a:r>
              <a:rPr sz="1200" b="1" i="0">
                <a:solidFill>
                  <a:srgbClr val="5B6577"/>
                </a:solidFill>
                <a:latin typeface="Calibri"/>
              </a:rPr>
              <a:t>MinerU output (raw, abbreviated)</a:t>
            </a:r>
          </a:p>
        </p:txBody>
      </p:sp>
      <p:sp>
        <p:nvSpPr>
          <p:cNvPr id="10" name="Rounded Rectangle 9"/>
          <p:cNvSpPr/>
          <p:nvPr/>
        </p:nvSpPr>
        <p:spPr>
          <a:xfrm>
            <a:off x="640080" y="4526280"/>
            <a:ext cx="5394960" cy="1645920"/>
          </a:xfrm>
          <a:prstGeom prst="roundRect">
            <a:avLst>
              <a:gd name="adj" fmla="val 6000"/>
            </a:avLst>
          </a:prstGeom>
          <a:solidFill>
            <a:srgbClr val="FFFFFF"/>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4617720"/>
            <a:ext cx="5212080" cy="1508760"/>
          </a:xfrm>
          <a:prstGeom prst="rect">
            <a:avLst/>
          </a:prstGeom>
          <a:noFill/>
        </p:spPr>
        <p:txBody>
          <a:bodyPr wrap="square" lIns="0" rIns="0" tIns="0" bIns="0" anchor="t">
            <a:spAutoFit/>
          </a:bodyPr>
          <a:lstStyle/>
          <a:p>
            <a:pPr algn="l">
              <a:spcAft>
                <a:spcPts val="400"/>
              </a:spcAft>
            </a:pPr>
            <a:r>
              <a:rPr sz="1000" b="0" i="0">
                <a:solidFill>
                  <a:srgbClr val="23314F"/>
                </a:solidFill>
                <a:latin typeface="Courier New"/>
              </a:rPr>
              <a:t>&lt;TABLE&gt;
&lt;tr&gt;&lt;td&gt;Name&lt;/td&gt;&lt;td&gt;Address1&lt;/td&gt;&lt;td&gt;Address2&lt;/td&gt;&lt;td&gt;Address3&lt;/td&gt;&lt;t…</a:t>
            </a:r>
          </a:p>
          <a:p>
            <a:pPr algn="l">
              <a:spcAft>
                <a:spcPts val="400"/>
              </a:spcAft>
            </a:pPr>
            <a:r>
              <a:rPr sz="1000" b="0" i="0">
                <a:solidFill>
                  <a:srgbClr val="23314F"/>
                </a:solidFill>
                <a:latin typeface="Courier New"/>
              </a:rPr>
              <a:t>&lt;tr&gt;&lt;td&gt;INCENTIVE ECOSYSTEM FOUNDATION&lt;/td&gt;&lt;td&gt;&lt;/td&gt;&lt;td&gt;&lt;/td&gt;&lt;td&gt;&lt;/td&gt;&lt;td&gt;&lt;/td…</a:t>
            </a:r>
          </a:p>
          <a:p>
            <a:pPr algn="l">
              <a:spcAft>
                <a:spcPts val="400"/>
              </a:spcAft>
            </a:pPr>
            <a:r>
              <a:rPr sz="1000" b="0" i="0">
                <a:solidFill>
                  <a:srgbClr val="23314F"/>
                </a:solidFill>
                <a:latin typeface="Courier New"/>
              </a:rPr>
              <a:t>&lt;tr&gt;&lt;td&gt;INCO, LLC&lt;/td&gt;&lt;td&gt;425 BROADWAY, 5TH FLOOR&lt;/td&gt;&lt;td&gt;&lt;/td&gt;&lt;td&gt;&lt;/td&gt;&lt;td&gt;&lt;/…</a:t>
            </a:r>
          </a:p>
        </p:txBody>
      </p:sp>
      <p:sp>
        <p:nvSpPr>
          <p:cNvPr id="12" name="Rounded Rectangle 11"/>
          <p:cNvSpPr/>
          <p:nvPr/>
        </p:nvSpPr>
        <p:spPr>
          <a:xfrm>
            <a:off x="6400800" y="1463040"/>
            <a:ext cx="5330952"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600200"/>
            <a:ext cx="4965192" cy="320040"/>
          </a:xfrm>
          <a:prstGeom prst="rect">
            <a:avLst/>
          </a:prstGeom>
          <a:noFill/>
        </p:spPr>
        <p:txBody>
          <a:bodyPr wrap="square" lIns="0" rIns="0" tIns="0" bIns="0" anchor="t">
            <a:spAutoFit/>
          </a:bodyPr>
          <a:lstStyle/>
          <a:p>
            <a:pPr algn="l">
              <a:spcAft>
                <a:spcPts val="400"/>
              </a:spcAft>
            </a:pPr>
            <a:r>
              <a:rPr sz="1600" b="1" i="0">
                <a:solidFill>
                  <a:srgbClr val="1B2A4A"/>
                </a:solidFill>
                <a:latin typeface="Calibri"/>
              </a:rPr>
              <a:t>The same rows as cells (65 on this page)</a:t>
            </a:r>
          </a:p>
        </p:txBody>
      </p:sp>
      <p:graphicFrame>
        <p:nvGraphicFramePr>
          <p:cNvPr id="14" name="Table 13"/>
          <p:cNvGraphicFramePr>
            <a:graphicFrameLocks noGrp="1"/>
          </p:cNvGraphicFramePr>
          <p:nvPr/>
        </p:nvGraphicFramePr>
        <p:xfrm>
          <a:off x="6583680" y="1920240"/>
          <a:ext cx="4965192" cy="2688336"/>
        </p:xfrm>
        <a:graphic>
          <a:graphicData uri="http://schemas.openxmlformats.org/drawingml/2006/table">
            <a:tbl>
              <a:tblPr firstRow="1" bandRow="1">
                <a:tableStyleId>{5C22544A-7EE6-4342-B048-85BDC9FD1C3A}</a:tableStyleId>
              </a:tblPr>
              <a:tblGrid>
                <a:gridCol w="1737360"/>
                <a:gridCol w="1261872"/>
                <a:gridCol w="749808"/>
                <a:gridCol w="457200"/>
                <a:gridCol w="758952"/>
              </a:tblGrid>
              <a:tr h="384048">
                <a:tc>
                  <a:txBody>
                    <a:bodyPr wrap="square"/>
                    <a:lstStyle/>
                    <a:p>
                      <a:pPr algn="l"/>
                      <a:r>
                        <a:rPr sz="1000" b="1">
                          <a:solidFill>
                            <a:srgbClr val="FFFFFF"/>
                          </a:solidFill>
                          <a:latin typeface="Calibri"/>
                        </a:rPr>
                        <a:t>Name</a:t>
                      </a:r>
                    </a:p>
                  </a:txBody>
                  <a:tcPr marL="54864" marR="54864" marT="18288" marB="18288" anchor="ctr">
                    <a:solidFill>
                      <a:srgbClr val="1B2A4A"/>
                    </a:solidFill>
                  </a:tcPr>
                </a:tc>
                <a:tc>
                  <a:txBody>
                    <a:bodyPr wrap="square"/>
                    <a:lstStyle/>
                    <a:p>
                      <a:pPr algn="l"/>
                      <a:r>
                        <a:rPr sz="1000" b="1">
                          <a:solidFill>
                            <a:srgbClr val="FFFFFF"/>
                          </a:solidFill>
                          <a:latin typeface="Calibri"/>
                        </a:rPr>
                        <a:t>Address1</a:t>
                      </a:r>
                    </a:p>
                  </a:txBody>
                  <a:tcPr marL="54864" marR="54864" marT="18288" marB="18288" anchor="ctr">
                    <a:solidFill>
                      <a:srgbClr val="1B2A4A"/>
                    </a:solidFill>
                  </a:tcPr>
                </a:tc>
                <a:tc>
                  <a:txBody>
                    <a:bodyPr wrap="square"/>
                    <a:lstStyle/>
                    <a:p>
                      <a:pPr algn="l"/>
                      <a:r>
                        <a:rPr sz="1000" b="1">
                          <a:solidFill>
                            <a:srgbClr val="FFFFFF"/>
                          </a:solidFill>
                          <a:latin typeface="Calibri"/>
                        </a:rPr>
                        <a:t>City</a:t>
                      </a:r>
                    </a:p>
                  </a:txBody>
                  <a:tcPr marL="54864" marR="54864" marT="18288" marB="18288" anchor="ctr">
                    <a:solidFill>
                      <a:srgbClr val="1B2A4A"/>
                    </a:solidFill>
                  </a:tcPr>
                </a:tc>
                <a:tc>
                  <a:txBody>
                    <a:bodyPr wrap="square"/>
                    <a:lstStyle/>
                    <a:p>
                      <a:pPr algn="l"/>
                      <a:r>
                        <a:rPr sz="1000" b="1">
                          <a:solidFill>
                            <a:srgbClr val="FFFFFF"/>
                          </a:solidFill>
                          <a:latin typeface="Calibri"/>
                        </a:rPr>
                        <a:t>State</a:t>
                      </a:r>
                    </a:p>
                  </a:txBody>
                  <a:tcPr marL="54864" marR="54864" marT="18288" marB="18288" anchor="ctr">
                    <a:solidFill>
                      <a:srgbClr val="1B2A4A"/>
                    </a:solidFill>
                  </a:tcPr>
                </a:tc>
                <a:tc>
                  <a:txBody>
                    <a:bodyPr wrap="square"/>
                    <a:lstStyle/>
                    <a:p>
                      <a:pPr algn="l"/>
                      <a:r>
                        <a:rPr sz="1000" b="1">
                          <a:solidFill>
                            <a:srgbClr val="FFFFFF"/>
                          </a:solidFill>
                          <a:latin typeface="Calibri"/>
                        </a:rPr>
                        <a:t>PostalCode</a:t>
                      </a:r>
                    </a:p>
                  </a:txBody>
                  <a:tcPr marL="54864" marR="54864" marT="18288" marB="18288" anchor="ctr">
                    <a:solidFill>
                      <a:srgbClr val="1B2A4A"/>
                    </a:solidFill>
                  </a:tcPr>
                </a:tc>
              </a:tr>
              <a:tr h="384048">
                <a:tc>
                  <a:txBody>
                    <a:bodyPr wrap="square"/>
                    <a:lstStyle/>
                    <a:p>
                      <a:pPr algn="l"/>
                      <a:r>
                        <a:rPr sz="1000" b="0">
                          <a:solidFill>
                            <a:srgbClr val="23314F"/>
                          </a:solidFill>
                          <a:latin typeface="Calibri"/>
                        </a:rPr>
                        <a:t>INCENTIVE ECOSYSTEM FOUNDATION</a:t>
                      </a:r>
                    </a:p>
                  </a:txBody>
                  <a:tcPr marL="54864" marR="54864" marT="18288" marB="18288" anchor="ctr">
                    <a:solidFill>
                      <a:srgbClr val="FFFFFF"/>
                    </a:solidFill>
                  </a:tcPr>
                </a:tc>
                <a:tc>
                  <a:txBody>
                    <a:bodyPr wrap="square"/>
                    <a:lstStyle/>
                    <a:p>
                      <a:pPr algn="l"/>
                      <a:r>
                        <a:rPr sz="1000" b="0">
                          <a:solidFill>
                            <a:srgbClr val="23314F"/>
                          </a:solidFill>
                          <a:latin typeface="Calibri"/>
                        </a:rPr>
                        <a:t/>
                      </a:r>
                    </a:p>
                  </a:txBody>
                  <a:tcPr marL="54864" marR="54864" marT="18288" marB="18288" anchor="ctr">
                    <a:solidFill>
                      <a:srgbClr val="FFFFFF"/>
                    </a:solidFill>
                  </a:tcPr>
                </a:tc>
                <a:tc>
                  <a:txBody>
                    <a:bodyPr wrap="square"/>
                    <a:lstStyle/>
                    <a:p>
                      <a:pPr algn="l"/>
                      <a:r>
                        <a:rPr sz="1000" b="0">
                          <a:solidFill>
                            <a:srgbClr val="23314F"/>
                          </a:solidFill>
                          <a:latin typeface="Calibri"/>
                        </a:rPr>
                        <a:t/>
                      </a:r>
                    </a:p>
                  </a:txBody>
                  <a:tcPr marL="54864" marR="54864" marT="18288" marB="18288" anchor="ctr">
                    <a:solidFill>
                      <a:srgbClr val="FFFFFF"/>
                    </a:solidFill>
                  </a:tcPr>
                </a:tc>
                <a:tc>
                  <a:txBody>
                    <a:bodyPr wrap="square"/>
                    <a:lstStyle/>
                    <a:p>
                      <a:pPr algn="l"/>
                      <a:r>
                        <a:rPr sz="1000" b="0">
                          <a:solidFill>
                            <a:srgbClr val="23314F"/>
                          </a:solidFill>
                          <a:latin typeface="Calibri"/>
                        </a:rPr>
                        <a:t/>
                      </a:r>
                    </a:p>
                  </a:txBody>
                  <a:tcPr marL="54864" marR="54864" marT="18288" marB="18288" anchor="ctr">
                    <a:solidFill>
                      <a:srgbClr val="FFFFFF"/>
                    </a:solidFill>
                  </a:tcPr>
                </a:tc>
                <a:tc>
                  <a:txBody>
                    <a:bodyPr wrap="square"/>
                    <a:lstStyle/>
                    <a:p>
                      <a:pPr algn="l"/>
                      <a:r>
                        <a:rPr sz="1000" b="0">
                          <a:solidFill>
                            <a:srgbClr val="23314F"/>
                          </a:solidFill>
                          <a:latin typeface="Calibri"/>
                        </a:rPr>
                        <a:t/>
                      </a:r>
                    </a:p>
                  </a:txBody>
                  <a:tcPr marL="54864" marR="54864" marT="18288" marB="18288" anchor="ctr">
                    <a:solidFill>
                      <a:srgbClr val="FFFFFF"/>
                    </a:solidFill>
                  </a:tcPr>
                </a:tc>
              </a:tr>
              <a:tr h="384048">
                <a:tc>
                  <a:txBody>
                    <a:bodyPr wrap="square"/>
                    <a:lstStyle/>
                    <a:p>
                      <a:pPr algn="l"/>
                      <a:r>
                        <a:rPr sz="1000" b="0">
                          <a:solidFill>
                            <a:srgbClr val="23314F"/>
                          </a:solidFill>
                          <a:latin typeface="Calibri"/>
                        </a:rPr>
                        <a:t>INCO, LLC</a:t>
                      </a:r>
                    </a:p>
                  </a:txBody>
                  <a:tcPr marL="54864" marR="54864" marT="18288" marB="18288" anchor="ctr">
                    <a:solidFill>
                      <a:srgbClr val="F6F8FB"/>
                    </a:solidFill>
                  </a:tcPr>
                </a:tc>
                <a:tc>
                  <a:txBody>
                    <a:bodyPr wrap="square"/>
                    <a:lstStyle/>
                    <a:p>
                      <a:pPr algn="l"/>
                      <a:r>
                        <a:rPr sz="1000" b="0">
                          <a:solidFill>
                            <a:srgbClr val="23314F"/>
                          </a:solidFill>
                          <a:latin typeface="Calibri"/>
                        </a:rPr>
                        <a:t>425 BROADWAY, 5TH FLOOR</a:t>
                      </a:r>
                    </a:p>
                  </a:txBody>
                  <a:tcPr marL="54864" marR="54864" marT="18288" marB="18288" anchor="ctr">
                    <a:solidFill>
                      <a:srgbClr val="F6F8FB"/>
                    </a:solidFill>
                  </a:tcPr>
                </a:tc>
                <a:tc>
                  <a:txBody>
                    <a:bodyPr wrap="square"/>
                    <a:lstStyle/>
                    <a:p>
                      <a:pPr algn="l"/>
                      <a:r>
                        <a:rPr sz="1000" b="0">
                          <a:solidFill>
                            <a:srgbClr val="23314F"/>
                          </a:solidFill>
                          <a:latin typeface="Calibri"/>
                        </a:rPr>
                        <a:t/>
                      </a:r>
                    </a:p>
                  </a:txBody>
                  <a:tcPr marL="54864" marR="54864" marT="18288" marB="18288" anchor="ctr">
                    <a:solidFill>
                      <a:srgbClr val="F6F8FB"/>
                    </a:solidFill>
                  </a:tcPr>
                </a:tc>
                <a:tc>
                  <a:txBody>
                    <a:bodyPr wrap="square"/>
                    <a:lstStyle/>
                    <a:p>
                      <a:pPr algn="l"/>
                      <a:r>
                        <a:rPr sz="1000" b="0">
                          <a:solidFill>
                            <a:srgbClr val="23314F"/>
                          </a:solidFill>
                          <a:latin typeface="Calibri"/>
                        </a:rPr>
                        <a:t/>
                      </a:r>
                    </a:p>
                  </a:txBody>
                  <a:tcPr marL="54864" marR="54864" marT="18288" marB="18288" anchor="ctr">
                    <a:solidFill>
                      <a:srgbClr val="F6F8FB"/>
                    </a:solidFill>
                  </a:tcPr>
                </a:tc>
                <a:tc>
                  <a:txBody>
                    <a:bodyPr wrap="square"/>
                    <a:lstStyle/>
                    <a:p>
                      <a:pPr algn="l"/>
                      <a:r>
                        <a:rPr sz="1000" b="0">
                          <a:solidFill>
                            <a:srgbClr val="23314F"/>
                          </a:solidFill>
                          <a:latin typeface="Calibri"/>
                        </a:rPr>
                        <a:t/>
                      </a:r>
                    </a:p>
                  </a:txBody>
                  <a:tcPr marL="54864" marR="54864" marT="18288" marB="18288" anchor="ctr">
                    <a:solidFill>
                      <a:srgbClr val="F6F8FB"/>
                    </a:solidFill>
                  </a:tcPr>
                </a:tc>
              </a:tr>
              <a:tr h="384048">
                <a:tc>
                  <a:txBody>
                    <a:bodyPr wrap="square"/>
                    <a:lstStyle/>
                    <a:p>
                      <a:pPr algn="l"/>
                      <a:r>
                        <a:rPr sz="1000" b="0">
                          <a:solidFill>
                            <a:srgbClr val="23314F"/>
                          </a:solidFill>
                          <a:latin typeface="Calibri"/>
                        </a:rPr>
                        <a:t>INO, LLC - INAVAILABLE NORTH</a:t>
                      </a:r>
                    </a:p>
                  </a:txBody>
                  <a:tcPr marL="54864" marR="54864" marT="18288" marB="18288" anchor="ctr">
                    <a:solidFill>
                      <a:srgbClr val="FFFFFF"/>
                    </a:solidFill>
                  </a:tcPr>
                </a:tc>
                <a:tc>
                  <a:txBody>
                    <a:bodyPr wrap="square"/>
                    <a:lstStyle/>
                    <a:p>
                      <a:pPr algn="l"/>
                      <a:r>
                        <a:rPr sz="1000" b="0">
                          <a:solidFill>
                            <a:srgbClr val="23314F"/>
                          </a:solidFill>
                          <a:latin typeface="Calibri"/>
                        </a:rPr>
                        <a:t>425 BROADWAY</a:t>
                      </a:r>
                    </a:p>
                  </a:txBody>
                  <a:tcPr marL="54864" marR="54864" marT="18288" marB="18288" anchor="ctr">
                    <a:solidFill>
                      <a:srgbClr val="FFFFFF"/>
                    </a:solidFill>
                  </a:tcPr>
                </a:tc>
                <a:tc>
                  <a:txBody>
                    <a:bodyPr wrap="square"/>
                    <a:lstStyle/>
                    <a:p>
                      <a:pPr algn="l"/>
                      <a:r>
                        <a:rPr sz="1000" b="0">
                          <a:solidFill>
                            <a:srgbClr val="23314F"/>
                          </a:solidFill>
                          <a:latin typeface="Calibri"/>
                        </a:rPr>
                        <a:t>NEW YORK</a:t>
                      </a:r>
                    </a:p>
                  </a:txBody>
                  <a:tcPr marL="54864" marR="54864" marT="18288" marB="18288" anchor="ctr">
                    <a:solidFill>
                      <a:srgbClr val="FFFFFF"/>
                    </a:solidFill>
                  </a:tcPr>
                </a:tc>
                <a:tc>
                  <a:txBody>
                    <a:bodyPr wrap="square"/>
                    <a:lstStyle/>
                    <a:p>
                      <a:pPr algn="l"/>
                      <a:r>
                        <a:rPr sz="1000" b="0">
                          <a:solidFill>
                            <a:srgbClr val="23314F"/>
                          </a:solidFill>
                          <a:latin typeface="Calibri"/>
                        </a:rPr>
                        <a:t>NY</a:t>
                      </a:r>
                    </a:p>
                  </a:txBody>
                  <a:tcPr marL="54864" marR="54864" marT="18288" marB="18288" anchor="ctr">
                    <a:solidFill>
                      <a:srgbClr val="FFFFFF"/>
                    </a:solidFill>
                  </a:tcPr>
                </a:tc>
                <a:tc>
                  <a:txBody>
                    <a:bodyPr wrap="square"/>
                    <a:lstStyle/>
                    <a:p>
                      <a:pPr algn="l"/>
                      <a:r>
                        <a:rPr sz="1000" b="0">
                          <a:solidFill>
                            <a:srgbClr val="23314F"/>
                          </a:solidFill>
                          <a:latin typeface="Calibri"/>
                        </a:rPr>
                        <a:t>10013</a:t>
                      </a:r>
                    </a:p>
                  </a:txBody>
                  <a:tcPr marL="54864" marR="54864" marT="18288" marB="18288" anchor="ctr">
                    <a:solidFill>
                      <a:srgbClr val="FFFFFF"/>
                    </a:solidFill>
                  </a:tcPr>
                </a:tc>
              </a:tr>
              <a:tr h="384048">
                <a:tc>
                  <a:txBody>
                    <a:bodyPr wrap="square"/>
                    <a:lstStyle/>
                    <a:p>
                      <a:pPr algn="l"/>
                      <a:r>
                        <a:rPr sz="1000" b="0">
                          <a:solidFill>
                            <a:srgbClr val="23314F"/>
                          </a:solidFill>
                          <a:latin typeface="Calibri"/>
                        </a:rPr>
                        <a:t>INO, LLC DBA "INAVAILABLE NORTH"</a:t>
                      </a:r>
                    </a:p>
                  </a:txBody>
                  <a:tcPr marL="54864" marR="54864" marT="18288" marB="18288" anchor="ctr">
                    <a:solidFill>
                      <a:srgbClr val="F6F8FB"/>
                    </a:solidFill>
                  </a:tcPr>
                </a:tc>
                <a:tc>
                  <a:txBody>
                    <a:bodyPr wrap="square"/>
                    <a:lstStyle/>
                    <a:p>
                      <a:pPr algn="l"/>
                      <a:r>
                        <a:rPr sz="1000" b="0">
                          <a:solidFill>
                            <a:srgbClr val="23314F"/>
                          </a:solidFill>
                          <a:latin typeface="Calibri"/>
                        </a:rPr>
                        <a:t>425 BROADWAY, 5TH FLOOR</a:t>
                      </a:r>
                    </a:p>
                  </a:txBody>
                  <a:tcPr marL="54864" marR="54864" marT="18288" marB="18288" anchor="ctr">
                    <a:solidFill>
                      <a:srgbClr val="F6F8FB"/>
                    </a:solidFill>
                  </a:tcPr>
                </a:tc>
                <a:tc>
                  <a:txBody>
                    <a:bodyPr wrap="square"/>
                    <a:lstStyle/>
                    <a:p>
                      <a:pPr algn="l"/>
                      <a:r>
                        <a:rPr sz="1000" b="0">
                          <a:solidFill>
                            <a:srgbClr val="23314F"/>
                          </a:solidFill>
                          <a:latin typeface="Calibri"/>
                        </a:rPr>
                        <a:t>NEW YORK</a:t>
                      </a:r>
                    </a:p>
                  </a:txBody>
                  <a:tcPr marL="54864" marR="54864" marT="18288" marB="18288" anchor="ctr">
                    <a:solidFill>
                      <a:srgbClr val="F6F8FB"/>
                    </a:solidFill>
                  </a:tcPr>
                </a:tc>
                <a:tc>
                  <a:txBody>
                    <a:bodyPr wrap="square"/>
                    <a:lstStyle/>
                    <a:p>
                      <a:pPr algn="l"/>
                      <a:r>
                        <a:rPr sz="1000" b="0">
                          <a:solidFill>
                            <a:srgbClr val="23314F"/>
                          </a:solidFill>
                          <a:latin typeface="Calibri"/>
                        </a:rPr>
                        <a:t>NY</a:t>
                      </a:r>
                    </a:p>
                  </a:txBody>
                  <a:tcPr marL="54864" marR="54864" marT="18288" marB="18288" anchor="ctr">
                    <a:solidFill>
                      <a:srgbClr val="F6F8FB"/>
                    </a:solidFill>
                  </a:tcPr>
                </a:tc>
                <a:tc>
                  <a:txBody>
                    <a:bodyPr wrap="square"/>
                    <a:lstStyle/>
                    <a:p>
                      <a:pPr algn="l"/>
                      <a:r>
                        <a:rPr sz="1000" b="0">
                          <a:solidFill>
                            <a:srgbClr val="23314F"/>
                          </a:solidFill>
                          <a:latin typeface="Calibri"/>
                        </a:rPr>
                        <a:t>10013-2599</a:t>
                      </a:r>
                    </a:p>
                  </a:txBody>
                  <a:tcPr marL="54864" marR="54864" marT="18288" marB="18288" anchor="ctr">
                    <a:solidFill>
                      <a:srgbClr val="F6F8FB"/>
                    </a:solidFill>
                  </a:tcPr>
                </a:tc>
              </a:tr>
              <a:tr h="384048">
                <a:tc>
                  <a:txBody>
                    <a:bodyPr wrap="square"/>
                    <a:lstStyle/>
                    <a:p>
                      <a:pPr algn="l"/>
                      <a:r>
                        <a:rPr sz="1000" b="0">
                          <a:solidFill>
                            <a:srgbClr val="23314F"/>
                          </a:solidFill>
                          <a:latin typeface="Calibri"/>
                        </a:rPr>
                        <a:t>INCORPORATING SERVICES, LTD.</a:t>
                      </a:r>
                    </a:p>
                  </a:txBody>
                  <a:tcPr marL="54864" marR="54864" marT="18288" marB="18288" anchor="ctr">
                    <a:solidFill>
                      <a:srgbClr val="FFFFFF"/>
                    </a:solidFill>
                  </a:tcPr>
                </a:tc>
                <a:tc>
                  <a:txBody>
                    <a:bodyPr wrap="square"/>
                    <a:lstStyle/>
                    <a:p>
                      <a:pPr algn="l"/>
                      <a:r>
                        <a:rPr sz="1000" b="0">
                          <a:solidFill>
                            <a:srgbClr val="23314F"/>
                          </a:solidFill>
                          <a:latin typeface="Calibri"/>
                        </a:rPr>
                        <a:t>3500 SOUTH COOPONT HWY</a:t>
                      </a:r>
                    </a:p>
                  </a:txBody>
                  <a:tcPr marL="54864" marR="54864" marT="18288" marB="18288" anchor="ctr">
                    <a:solidFill>
                      <a:srgbClr val="FFFFFF"/>
                    </a:solidFill>
                  </a:tcPr>
                </a:tc>
                <a:tc>
                  <a:txBody>
                    <a:bodyPr wrap="square"/>
                    <a:lstStyle/>
                    <a:p>
                      <a:pPr algn="l"/>
                      <a:r>
                        <a:rPr sz="1000" b="0">
                          <a:solidFill>
                            <a:srgbClr val="23314F"/>
                          </a:solidFill>
                          <a:latin typeface="Calibri"/>
                        </a:rPr>
                        <a:t>NEW YORK</a:t>
                      </a:r>
                    </a:p>
                  </a:txBody>
                  <a:tcPr marL="54864" marR="54864" marT="18288" marB="18288" anchor="ctr">
                    <a:solidFill>
                      <a:srgbClr val="FFFFFF"/>
                    </a:solidFill>
                  </a:tcPr>
                </a:tc>
                <a:tc>
                  <a:txBody>
                    <a:bodyPr wrap="square"/>
                    <a:lstStyle/>
                    <a:p>
                      <a:pPr algn="l"/>
                      <a:r>
                        <a:rPr sz="1000" b="0">
                          <a:solidFill>
                            <a:srgbClr val="23314F"/>
                          </a:solidFill>
                          <a:latin typeface="Calibri"/>
                        </a:rPr>
                        <a:t>NY</a:t>
                      </a:r>
                    </a:p>
                  </a:txBody>
                  <a:tcPr marL="54864" marR="54864" marT="18288" marB="18288" anchor="ctr">
                    <a:solidFill>
                      <a:srgbClr val="FFFFFF"/>
                    </a:solidFill>
                  </a:tcPr>
                </a:tc>
                <a:tc>
                  <a:txBody>
                    <a:bodyPr wrap="square"/>
                    <a:lstStyle/>
                    <a:p>
                      <a:pPr algn="l"/>
                      <a:r>
                        <a:rPr sz="1000" b="0">
                          <a:solidFill>
                            <a:srgbClr val="23314F"/>
                          </a:solidFill>
                          <a:latin typeface="Calibri"/>
                        </a:rPr>
                        <a:t>10013</a:t>
                      </a:r>
                    </a:p>
                  </a:txBody>
                  <a:tcPr marL="54864" marR="54864" marT="18288" marB="18288" anchor="ctr">
                    <a:solidFill>
                      <a:srgbClr val="FFFFFF"/>
                    </a:solidFill>
                  </a:tcPr>
                </a:tc>
              </a:tr>
              <a:tr h="384048">
                <a:tc>
                  <a:txBody>
                    <a:bodyPr wrap="square"/>
                    <a:lstStyle/>
                    <a:p>
                      <a:pPr algn="l"/>
                      <a:r>
                        <a:rPr sz="1000" b="0">
                          <a:solidFill>
                            <a:srgbClr val="23314F"/>
                          </a:solidFill>
                          <a:latin typeface="Calibri"/>
                        </a:rPr>
                        <a:t>INCORPORATING SERVICES, LTD.</a:t>
                      </a:r>
                    </a:p>
                  </a:txBody>
                  <a:tcPr marL="54864" marR="54864" marT="18288" marB="18288" anchor="ctr">
                    <a:solidFill>
                      <a:srgbClr val="F6F8FB"/>
                    </a:solidFill>
                  </a:tcPr>
                </a:tc>
                <a:tc>
                  <a:txBody>
                    <a:bodyPr wrap="square"/>
                    <a:lstStyle/>
                    <a:p>
                      <a:pPr algn="l"/>
                      <a:r>
                        <a:rPr sz="1000" b="0">
                          <a:solidFill>
                            <a:srgbClr val="23314F"/>
                          </a:solidFill>
                          <a:latin typeface="Calibri"/>
                        </a:rPr>
                        <a:t>3500 S. DUPONT HWY.</a:t>
                      </a:r>
                    </a:p>
                  </a:txBody>
                  <a:tcPr marL="54864" marR="54864" marT="18288" marB="18288" anchor="ctr">
                    <a:solidFill>
                      <a:srgbClr val="F6F8FB"/>
                    </a:solidFill>
                  </a:tcPr>
                </a:tc>
                <a:tc>
                  <a:txBody>
                    <a:bodyPr wrap="square"/>
                    <a:lstStyle/>
                    <a:p>
                      <a:pPr algn="l"/>
                      <a:r>
                        <a:rPr sz="1000" b="0">
                          <a:solidFill>
                            <a:srgbClr val="23314F"/>
                          </a:solidFill>
                          <a:latin typeface="Calibri"/>
                        </a:rPr>
                        <a:t>LOVER</a:t>
                      </a:r>
                    </a:p>
                  </a:txBody>
                  <a:tcPr marL="54864" marR="54864" marT="18288" marB="18288" anchor="ctr">
                    <a:solidFill>
                      <a:srgbClr val="F6F8FB"/>
                    </a:solidFill>
                  </a:tcPr>
                </a:tc>
                <a:tc>
                  <a:txBody>
                    <a:bodyPr wrap="square"/>
                    <a:lstStyle/>
                    <a:p>
                      <a:pPr algn="l"/>
                      <a:r>
                        <a:rPr sz="1000" b="0">
                          <a:solidFill>
                            <a:srgbClr val="23314F"/>
                          </a:solidFill>
                          <a:latin typeface="Calibri"/>
                        </a:rPr>
                        <a:t>DE</a:t>
                      </a:r>
                    </a:p>
                  </a:txBody>
                  <a:tcPr marL="54864" marR="54864" marT="18288" marB="18288" anchor="ctr">
                    <a:solidFill>
                      <a:srgbClr val="F6F8FB"/>
                    </a:solidFill>
                  </a:tcPr>
                </a:tc>
                <a:tc>
                  <a:txBody>
                    <a:bodyPr wrap="square"/>
                    <a:lstStyle/>
                    <a:p>
                      <a:pPr algn="l"/>
                      <a:r>
                        <a:rPr sz="1000" b="0">
                          <a:solidFill>
                            <a:srgbClr val="23314F"/>
                          </a:solidFill>
                          <a:latin typeface="Calibri"/>
                        </a:rPr>
                        <a:t>19901</a:t>
                      </a:r>
                    </a:p>
                  </a:txBody>
                  <a:tcPr marL="54864" marR="54864" marT="18288" marB="18288" anchor="ctr">
                    <a:solidFill>
                      <a:srgbClr val="F6F8FB"/>
                    </a:solidFill>
                  </a:tcPr>
                </a:tc>
              </a:tr>
            </a:tbl>
          </a:graphicData>
        </a:graphic>
      </p:graphicFrame>
      <p:sp>
        <p:nvSpPr>
          <p:cNvPr id="15" name="TextBox 14"/>
          <p:cNvSpPr txBox="1"/>
          <p:nvPr/>
        </p:nvSpPr>
        <p:spPr>
          <a:xfrm>
            <a:off x="6583680" y="4800600"/>
            <a:ext cx="4965192" cy="1371600"/>
          </a:xfrm>
          <a:prstGeom prst="rect">
            <a:avLst/>
          </a:prstGeom>
          <a:noFill/>
        </p:spPr>
        <p:txBody>
          <a:bodyPr wrap="square" lIns="0" rIns="0" tIns="0" bIns="0" anchor="t">
            <a:spAutoFit/>
          </a:bodyPr>
          <a:lstStyle/>
          <a:p>
            <a:pPr algn="l">
              <a:spcAft>
                <a:spcPts val="400"/>
              </a:spcAft>
            </a:pPr>
            <a:r>
              <a:rPr sz="1200" b="0" i="0">
                <a:solidFill>
                  <a:srgbClr val="23314F"/>
                </a:solidFill>
                <a:latin typeface="Calibri"/>
              </a:rPr>
              <a:t>Columns stay aligned: an empty Address2 or City stays empty instead of pulling the next value into its place.</a:t>
            </a:r>
          </a:p>
          <a:p>
            <a:pPr algn="l">
              <a:spcAft>
                <a:spcPts val="400"/>
              </a:spcAft>
            </a:pPr>
            <a:r>
              <a:rPr sz="1200" b="0" i="0">
                <a:solidFill>
                  <a:srgbClr val="5B6577"/>
                </a:solidFill>
                <a:latin typeface="Calibri"/>
              </a:rPr>
              <a:t>Recognition errors remain, so the page image is sent with the parse.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274320"/>
            <a:ext cx="347472" cy="3474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3" name="TextBox 2"/>
          <p:cNvSpPr txBox="1"/>
          <p:nvPr/>
        </p:nvSpPr>
        <p:spPr>
          <a:xfrm>
            <a:off x="896112" y="283464"/>
            <a:ext cx="8229600" cy="329184"/>
          </a:xfrm>
          <a:prstGeom prst="rect">
            <a:avLst/>
          </a:prstGeom>
          <a:noFill/>
        </p:spPr>
        <p:txBody>
          <a:bodyPr wrap="square" lIns="0" rIns="0" tIns="0" bIns="0" anchor="ctr">
            <a:spAutoFit/>
          </a:bodyPr>
          <a:lstStyle/>
          <a:p>
            <a:pPr algn="l">
              <a:spcAft>
                <a:spcPts val="400"/>
              </a:spcAft>
            </a:pPr>
            <a:r>
              <a:rPr sz="1200" b="1" i="0">
                <a:solidFill>
                  <a:srgbClr val="D9822B"/>
                </a:solidFill>
                <a:latin typeface="Calibri"/>
              </a:rPr>
              <a:t>READ · ROUTE A: COLUMN READER</a:t>
            </a:r>
          </a:p>
        </p:txBody>
      </p:sp>
      <p:sp>
        <p:nvSpPr>
          <p:cNvPr id="4" name="TextBox 3"/>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Columns of records: read each column top to bottom</a:t>
            </a:r>
          </a:p>
        </p:txBody>
      </p:sp>
      <p:sp>
        <p:nvSpPr>
          <p:cNvPr id="5" name="TextBox 4"/>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ExtractBench long: real_oklahoma_unclaimed_2024, page 2. Records from the stored final output.</a:t>
            </a:r>
          </a:p>
        </p:txBody>
      </p:sp>
      <p:pic>
        <p:nvPicPr>
          <p:cNvPr id="6" name="Picture 5" descr="colflow_page.png"/>
          <p:cNvPicPr>
            <a:picLocks noChangeAspect="1"/>
          </p:cNvPicPr>
          <p:nvPr/>
        </p:nvPicPr>
        <p:blipFill>
          <a:blip r:embed="rId3"/>
          <a:stretch>
            <a:fillRect/>
          </a:stretch>
        </p:blipFill>
        <p:spPr>
          <a:xfrm>
            <a:off x="491608" y="1463040"/>
            <a:ext cx="2445783" cy="4937760"/>
          </a:xfrm>
          <a:prstGeom prst="rect">
            <a:avLst/>
          </a:prstGeom>
          <a:ln w="9525">
            <a:solidFill>
              <a:srgbClr val="D5DBE5"/>
            </a:solidFill>
          </a:ln>
        </p:spPr>
      </p:pic>
      <p:pic>
        <p:nvPicPr>
          <p:cNvPr id="7" name="Picture 6" descr="colflow_crop.png"/>
          <p:cNvPicPr>
            <a:picLocks noChangeAspect="1"/>
          </p:cNvPicPr>
          <p:nvPr/>
        </p:nvPicPr>
        <p:blipFill>
          <a:blip r:embed="rId4"/>
          <a:stretch>
            <a:fillRect/>
          </a:stretch>
        </p:blipFill>
        <p:spPr>
          <a:xfrm>
            <a:off x="3246120" y="1532945"/>
            <a:ext cx="1188720" cy="4797949"/>
          </a:xfrm>
          <a:prstGeom prst="rect">
            <a:avLst/>
          </a:prstGeom>
          <a:ln w="9525">
            <a:solidFill>
              <a:srgbClr val="D5DBE5"/>
            </a:solidFill>
          </a:ln>
        </p:spPr>
      </p:pic>
      <p:sp>
        <p:nvSpPr>
          <p:cNvPr id="8" name="Rounded Rectangle 7"/>
          <p:cNvSpPr/>
          <p:nvPr/>
        </p:nvSpPr>
        <p:spPr>
          <a:xfrm>
            <a:off x="4754880" y="1463040"/>
            <a:ext cx="6976872"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0" y="1600200"/>
            <a:ext cx="6611112" cy="320040"/>
          </a:xfrm>
          <a:prstGeom prst="rect">
            <a:avLst/>
          </a:prstGeom>
          <a:noFill/>
        </p:spPr>
        <p:txBody>
          <a:bodyPr wrap="square" lIns="0" rIns="0" tIns="0" bIns="0" anchor="t">
            <a:spAutoFit/>
          </a:bodyPr>
          <a:lstStyle/>
          <a:p>
            <a:pPr algn="l">
              <a:spcAft>
                <a:spcPts val="400"/>
              </a:spcAft>
            </a:pPr>
            <a:r>
              <a:rPr sz="1600" b="1" i="0">
                <a:solidFill>
                  <a:srgbClr val="D9822B"/>
                </a:solidFill>
                <a:latin typeface="Calibri"/>
              </a:rPr>
              <a:t>What the reader returns for column 1</a:t>
            </a:r>
          </a:p>
        </p:txBody>
      </p:sp>
      <p:graphicFrame>
        <p:nvGraphicFramePr>
          <p:cNvPr id="10" name="Table 9"/>
          <p:cNvGraphicFramePr>
            <a:graphicFrameLocks noGrp="1"/>
          </p:cNvGraphicFramePr>
          <p:nvPr/>
        </p:nvGraphicFramePr>
        <p:xfrm>
          <a:off x="4937760" y="1965960"/>
          <a:ext cx="6611112" cy="1737360"/>
        </p:xfrm>
        <a:graphic>
          <a:graphicData uri="http://schemas.openxmlformats.org/drawingml/2006/table">
            <a:tbl>
              <a:tblPr firstRow="1" bandRow="1">
                <a:tableStyleId>{5C22544A-7EE6-4342-B048-85BDC9FD1C3A}</a:tableStyleId>
              </a:tblPr>
              <a:tblGrid>
                <a:gridCol w="2377440"/>
                <a:gridCol w="3566160"/>
                <a:gridCol w="667512"/>
              </a:tblGrid>
              <a:tr h="347472">
                <a:tc>
                  <a:txBody>
                    <a:bodyPr wrap="square"/>
                    <a:lstStyle/>
                    <a:p>
                      <a:pPr algn="l"/>
                      <a:r>
                        <a:rPr sz="1200" b="1">
                          <a:solidFill>
                            <a:srgbClr val="FFFFFF"/>
                          </a:solidFill>
                          <a:latin typeface="Calibri"/>
                        </a:rPr>
                        <a:t>name</a:t>
                      </a:r>
                    </a:p>
                  </a:txBody>
                  <a:tcPr marL="54864" marR="54864" marT="18288" marB="18288" anchor="ctr">
                    <a:solidFill>
                      <a:srgbClr val="1B2A4A"/>
                    </a:solidFill>
                  </a:tcPr>
                </a:tc>
                <a:tc>
                  <a:txBody>
                    <a:bodyPr wrap="square"/>
                    <a:lstStyle/>
                    <a:p>
                      <a:pPr algn="l"/>
                      <a:r>
                        <a:rPr sz="1200" b="1">
                          <a:solidFill>
                            <a:srgbClr val="FFFFFF"/>
                          </a:solidFill>
                          <a:latin typeface="Calibri"/>
                        </a:rPr>
                        <a:t>locale</a:t>
                      </a:r>
                    </a:p>
                  </a:txBody>
                  <a:tcPr marL="54864" marR="54864" marT="18288" marB="18288" anchor="ctr">
                    <a:solidFill>
                      <a:srgbClr val="1B2A4A"/>
                    </a:solidFill>
                  </a:tcPr>
                </a:tc>
                <a:tc>
                  <a:txBody>
                    <a:bodyPr wrap="square"/>
                    <a:lstStyle/>
                    <a:p>
                      <a:pPr algn="l"/>
                      <a:r>
                        <a:rPr sz="1200" b="1">
                          <a:solidFill>
                            <a:srgbClr val="FFFFFF"/>
                          </a:solidFill>
                          <a:latin typeface="Calibri"/>
                        </a:rPr>
                        <a:t>page</a:t>
                      </a:r>
                    </a:p>
                  </a:txBody>
                  <a:tcPr marL="54864" marR="54864" marT="18288" marB="18288" anchor="ctr">
                    <a:solidFill>
                      <a:srgbClr val="1B2A4A"/>
                    </a:solidFill>
                  </a:tcPr>
                </a:tc>
              </a:tr>
              <a:tr h="347472">
                <a:tc>
                  <a:txBody>
                    <a:bodyPr wrap="square"/>
                    <a:lstStyle/>
                    <a:p>
                      <a:pPr algn="l"/>
                      <a:r>
                        <a:rPr sz="1200" b="0">
                          <a:solidFill>
                            <a:srgbClr val="23314F"/>
                          </a:solidFill>
                          <a:latin typeface="Courier New"/>
                        </a:rPr>
                        <a:t>COLLINS RICHARD</a:t>
                      </a:r>
                    </a:p>
                  </a:txBody>
                  <a:tcPr marL="54864" marR="54864" marT="18288" marB="18288" anchor="ctr">
                    <a:solidFill>
                      <a:srgbClr val="FFFFFF"/>
                    </a:solidFill>
                  </a:tcPr>
                </a:tc>
                <a:tc>
                  <a:txBody>
                    <a:bodyPr wrap="square"/>
                    <a:lstStyle/>
                    <a:p>
                      <a:pPr algn="l"/>
                      <a:r>
                        <a:rPr sz="1200" b="0">
                          <a:solidFill>
                            <a:srgbClr val="23314F"/>
                          </a:solidFill>
                          <a:latin typeface="Courier New"/>
                        </a:rPr>
                        <a:t>null</a:t>
                      </a:r>
                    </a:p>
                  </a:txBody>
                  <a:tcPr marL="54864" marR="54864" marT="18288" marB="18288" anchor="ctr">
                    <a:solidFill>
                      <a:srgbClr val="FFFFFF"/>
                    </a:solidFill>
                  </a:tcPr>
                </a:tc>
                <a:tc>
                  <a:txBody>
                    <a:bodyPr wrap="square"/>
                    <a:lstStyle/>
                    <a:p>
                      <a:pPr algn="l"/>
                      <a:r>
                        <a:rPr sz="1200" b="0">
                          <a:solidFill>
                            <a:srgbClr val="23314F"/>
                          </a:solidFill>
                          <a:latin typeface="Courier New"/>
                        </a:rPr>
                        <a:t>2</a:t>
                      </a:r>
                    </a:p>
                  </a:txBody>
                  <a:tcPr marL="54864" marR="54864" marT="18288" marB="18288" anchor="ctr">
                    <a:solidFill>
                      <a:srgbClr val="FFFFFF"/>
                    </a:solidFill>
                  </a:tcPr>
                </a:tc>
              </a:tr>
              <a:tr h="347472">
                <a:tc>
                  <a:txBody>
                    <a:bodyPr wrap="square"/>
                    <a:lstStyle/>
                    <a:p>
                      <a:pPr algn="l"/>
                      <a:r>
                        <a:rPr sz="1200" b="0">
                          <a:solidFill>
                            <a:srgbClr val="23314F"/>
                          </a:solidFill>
                          <a:latin typeface="Courier New"/>
                        </a:rPr>
                        <a:t>EATON BETHINA</a:t>
                      </a:r>
                    </a:p>
                  </a:txBody>
                  <a:tcPr marL="54864" marR="54864" marT="18288" marB="18288" anchor="ctr">
                    <a:solidFill>
                      <a:srgbClr val="F6F8FB"/>
                    </a:solidFill>
                  </a:tcPr>
                </a:tc>
                <a:tc>
                  <a:txBody>
                    <a:bodyPr wrap="square"/>
                    <a:lstStyle/>
                    <a:p>
                      <a:pPr algn="l"/>
                      <a:r>
                        <a:rPr sz="1200" b="0">
                          <a:solidFill>
                            <a:srgbClr val="23314F"/>
                          </a:solidFill>
                          <a:latin typeface="Courier New"/>
                        </a:rPr>
                        <a:t>RT 1 BOX 220</a:t>
                      </a:r>
                    </a:p>
                  </a:txBody>
                  <a:tcPr marL="54864" marR="54864" marT="18288" marB="18288" anchor="ctr">
                    <a:solidFill>
                      <a:srgbClr val="F6F8FB"/>
                    </a:solidFill>
                  </a:tcPr>
                </a:tc>
                <a:tc>
                  <a:txBody>
                    <a:bodyPr wrap="square"/>
                    <a:lstStyle/>
                    <a:p>
                      <a:pPr algn="l"/>
                      <a:r>
                        <a:rPr sz="1200" b="0">
                          <a:solidFill>
                            <a:srgbClr val="23314F"/>
                          </a:solidFill>
                          <a:latin typeface="Courier New"/>
                        </a:rPr>
                        <a:t>2</a:t>
                      </a:r>
                    </a:p>
                  </a:txBody>
                  <a:tcPr marL="54864" marR="54864" marT="18288" marB="18288" anchor="ctr">
                    <a:solidFill>
                      <a:srgbClr val="F6F8FB"/>
                    </a:solidFill>
                  </a:tcPr>
                </a:tc>
              </a:tr>
              <a:tr h="347472">
                <a:tc>
                  <a:txBody>
                    <a:bodyPr wrap="square"/>
                    <a:lstStyle/>
                    <a:p>
                      <a:pPr algn="l"/>
                      <a:r>
                        <a:rPr sz="1200" b="0">
                          <a:solidFill>
                            <a:srgbClr val="23314F"/>
                          </a:solidFill>
                          <a:latin typeface="Courier New"/>
                        </a:rPr>
                        <a:t>JOHNSON JOHNEY B</a:t>
                      </a:r>
                    </a:p>
                  </a:txBody>
                  <a:tcPr marL="54864" marR="54864" marT="18288" marB="18288" anchor="ctr">
                    <a:solidFill>
                      <a:srgbClr val="FFFFFF"/>
                    </a:solidFill>
                  </a:tcPr>
                </a:tc>
                <a:tc>
                  <a:txBody>
                    <a:bodyPr wrap="square"/>
                    <a:lstStyle/>
                    <a:p>
                      <a:pPr algn="l"/>
                      <a:r>
                        <a:rPr sz="1200" b="0">
                          <a:solidFill>
                            <a:srgbClr val="23314F"/>
                          </a:solidFill>
                          <a:latin typeface="Courier New"/>
                        </a:rPr>
                        <a:t>C/O MAE JEAN JOHNSON, RT 1 BOX 230</a:t>
                      </a:r>
                    </a:p>
                  </a:txBody>
                  <a:tcPr marL="54864" marR="54864" marT="18288" marB="18288" anchor="ctr">
                    <a:solidFill>
                      <a:srgbClr val="FFFFFF"/>
                    </a:solidFill>
                  </a:tcPr>
                </a:tc>
                <a:tc>
                  <a:txBody>
                    <a:bodyPr wrap="square"/>
                    <a:lstStyle/>
                    <a:p>
                      <a:pPr algn="l"/>
                      <a:r>
                        <a:rPr sz="1200" b="0">
                          <a:solidFill>
                            <a:srgbClr val="23314F"/>
                          </a:solidFill>
                          <a:latin typeface="Courier New"/>
                        </a:rPr>
                        <a:t>2</a:t>
                      </a:r>
                    </a:p>
                  </a:txBody>
                  <a:tcPr marL="54864" marR="54864" marT="18288" marB="18288" anchor="ctr">
                    <a:solidFill>
                      <a:srgbClr val="FFFFFF"/>
                    </a:solidFill>
                  </a:tcPr>
                </a:tc>
              </a:tr>
              <a:tr h="347472">
                <a:tc>
                  <a:txBody>
                    <a:bodyPr wrap="square"/>
                    <a:lstStyle/>
                    <a:p>
                      <a:pPr algn="l"/>
                      <a:r>
                        <a:rPr sz="1200" b="0">
                          <a:solidFill>
                            <a:srgbClr val="23314F"/>
                          </a:solidFill>
                          <a:latin typeface="Courier New"/>
                        </a:rPr>
                        <a:t>SHERRILL IVANNA</a:t>
                      </a:r>
                    </a:p>
                  </a:txBody>
                  <a:tcPr marL="54864" marR="54864" marT="18288" marB="18288" anchor="ctr">
                    <a:solidFill>
                      <a:srgbClr val="F6F8FB"/>
                    </a:solidFill>
                  </a:tcPr>
                </a:tc>
                <a:tc>
                  <a:txBody>
                    <a:bodyPr wrap="square"/>
                    <a:lstStyle/>
                    <a:p>
                      <a:pPr algn="l"/>
                      <a:r>
                        <a:rPr sz="1200" b="0">
                          <a:solidFill>
                            <a:srgbClr val="23314F"/>
                          </a:solidFill>
                          <a:latin typeface="Courier New"/>
                        </a:rPr>
                        <a:t>RT 1 BOX 1142</a:t>
                      </a:r>
                    </a:p>
                  </a:txBody>
                  <a:tcPr marL="54864" marR="54864" marT="18288" marB="18288" anchor="ctr">
                    <a:solidFill>
                      <a:srgbClr val="F6F8FB"/>
                    </a:solidFill>
                  </a:tcPr>
                </a:tc>
                <a:tc>
                  <a:txBody>
                    <a:bodyPr wrap="square"/>
                    <a:lstStyle/>
                    <a:p>
                      <a:pPr algn="l"/>
                      <a:r>
                        <a:rPr sz="1200" b="0">
                          <a:solidFill>
                            <a:srgbClr val="23314F"/>
                          </a:solidFill>
                          <a:latin typeface="Courier New"/>
                        </a:rPr>
                        <a:t>2</a:t>
                      </a:r>
                    </a:p>
                  </a:txBody>
                  <a:tcPr marL="54864" marR="54864" marT="18288" marB="18288" anchor="ctr">
                    <a:solidFill>
                      <a:srgbClr val="F6F8FB"/>
                    </a:solidFill>
                  </a:tcPr>
                </a:tc>
              </a:tr>
            </a:tbl>
          </a:graphicData>
        </a:graphic>
      </p:graphicFrame>
      <p:sp>
        <p:nvSpPr>
          <p:cNvPr id="11" name="TextBox 10"/>
          <p:cNvSpPr txBox="1"/>
          <p:nvPr/>
        </p:nvSpPr>
        <p:spPr>
          <a:xfrm>
            <a:off x="4937760" y="4069080"/>
            <a:ext cx="2103120" cy="594360"/>
          </a:xfrm>
          <a:prstGeom prst="rect">
            <a:avLst/>
          </a:prstGeom>
          <a:noFill/>
        </p:spPr>
        <p:txBody>
          <a:bodyPr wrap="square" lIns="0" rIns="0" tIns="0" bIns="0" anchor="t">
            <a:spAutoFit/>
          </a:bodyPr>
          <a:lstStyle/>
          <a:p>
            <a:pPr algn="l">
              <a:spcAft>
                <a:spcPts val="400"/>
              </a:spcAft>
            </a:pPr>
            <a:r>
              <a:rPr sz="3200" b="1" i="0">
                <a:solidFill>
                  <a:srgbClr val="D9822B"/>
                </a:solidFill>
                <a:latin typeface="Cambria"/>
              </a:rPr>
              <a:t>7</a:t>
            </a:r>
          </a:p>
        </p:txBody>
      </p:sp>
      <p:sp>
        <p:nvSpPr>
          <p:cNvPr id="12" name="TextBox 11"/>
          <p:cNvSpPr txBox="1"/>
          <p:nvPr/>
        </p:nvSpPr>
        <p:spPr>
          <a:xfrm>
            <a:off x="4937760" y="4663440"/>
            <a:ext cx="2103120" cy="45720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columns found on the page</a:t>
            </a:r>
          </a:p>
        </p:txBody>
      </p:sp>
      <p:sp>
        <p:nvSpPr>
          <p:cNvPr id="13" name="TextBox 12"/>
          <p:cNvSpPr txBox="1"/>
          <p:nvPr/>
        </p:nvSpPr>
        <p:spPr>
          <a:xfrm>
            <a:off x="7178040" y="4069080"/>
            <a:ext cx="2103120" cy="594360"/>
          </a:xfrm>
          <a:prstGeom prst="rect">
            <a:avLst/>
          </a:prstGeom>
          <a:noFill/>
        </p:spPr>
        <p:txBody>
          <a:bodyPr wrap="square" lIns="0" rIns="0" tIns="0" bIns="0" anchor="t">
            <a:spAutoFit/>
          </a:bodyPr>
          <a:lstStyle/>
          <a:p>
            <a:pPr algn="l">
              <a:spcAft>
                <a:spcPts val="400"/>
              </a:spcAft>
            </a:pPr>
            <a:r>
              <a:rPr sz="3200" b="1" i="0">
                <a:solidFill>
                  <a:srgbClr val="D9822B"/>
                </a:solidFill>
                <a:latin typeface="Cambria"/>
              </a:rPr>
              <a:t>59</a:t>
            </a:r>
          </a:p>
        </p:txBody>
      </p:sp>
      <p:sp>
        <p:nvSpPr>
          <p:cNvPr id="14" name="TextBox 13"/>
          <p:cNvSpPr txBox="1"/>
          <p:nvPr/>
        </p:nvSpPr>
        <p:spPr>
          <a:xfrm>
            <a:off x="7178040" y="4663440"/>
            <a:ext cx="2103120" cy="45720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pages</a:t>
            </a:r>
          </a:p>
        </p:txBody>
      </p:sp>
      <p:sp>
        <p:nvSpPr>
          <p:cNvPr id="15" name="TextBox 14"/>
          <p:cNvSpPr txBox="1"/>
          <p:nvPr/>
        </p:nvSpPr>
        <p:spPr>
          <a:xfrm>
            <a:off x="9418320" y="4069080"/>
            <a:ext cx="2103120" cy="594360"/>
          </a:xfrm>
          <a:prstGeom prst="rect">
            <a:avLst/>
          </a:prstGeom>
          <a:noFill/>
        </p:spPr>
        <p:txBody>
          <a:bodyPr wrap="square" lIns="0" rIns="0" tIns="0" bIns="0" anchor="t">
            <a:spAutoFit/>
          </a:bodyPr>
          <a:lstStyle/>
          <a:p>
            <a:pPr algn="l">
              <a:spcAft>
                <a:spcPts val="400"/>
              </a:spcAft>
            </a:pPr>
            <a:r>
              <a:rPr sz="3200" b="1" i="0">
                <a:solidFill>
                  <a:srgbClr val="D9822B"/>
                </a:solidFill>
                <a:latin typeface="Cambria"/>
              </a:rPr>
              <a:t>26,675</a:t>
            </a:r>
          </a:p>
        </p:txBody>
      </p:sp>
      <p:sp>
        <p:nvSpPr>
          <p:cNvPr id="16" name="TextBox 15"/>
          <p:cNvSpPr txBox="1"/>
          <p:nvPr/>
        </p:nvSpPr>
        <p:spPr>
          <a:xfrm>
            <a:off x="9418320" y="4663440"/>
            <a:ext cx="2103120" cy="45720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records in the final output</a:t>
            </a:r>
          </a:p>
        </p:txBody>
      </p:sp>
      <p:sp>
        <p:nvSpPr>
          <p:cNvPr id="17" name="TextBox 16"/>
          <p:cNvSpPr txBox="1"/>
          <p:nvPr/>
        </p:nvSpPr>
        <p:spPr>
          <a:xfrm>
            <a:off x="4937760" y="5303520"/>
            <a:ext cx="6583680" cy="82296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Read across the page, a 7-column register mixes names from different columns; cut into columns, each record is read in the order it was printed.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274320"/>
            <a:ext cx="347472" cy="3474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3" name="TextBox 2"/>
          <p:cNvSpPr txBox="1"/>
          <p:nvPr/>
        </p:nvSpPr>
        <p:spPr>
          <a:xfrm>
            <a:off x="896112" y="283464"/>
            <a:ext cx="8229600" cy="329184"/>
          </a:xfrm>
          <a:prstGeom prst="rect">
            <a:avLst/>
          </a:prstGeom>
          <a:noFill/>
        </p:spPr>
        <p:txBody>
          <a:bodyPr wrap="square" lIns="0" rIns="0" tIns="0" bIns="0" anchor="ctr">
            <a:spAutoFit/>
          </a:bodyPr>
          <a:lstStyle/>
          <a:p>
            <a:pPr algn="l">
              <a:spcAft>
                <a:spcPts val="400"/>
              </a:spcAft>
            </a:pPr>
            <a:r>
              <a:rPr sz="1200" b="1" i="0">
                <a:solidFill>
                  <a:srgbClr val="D9822B"/>
                </a:solidFill>
                <a:latin typeface="Calibri"/>
              </a:rPr>
              <a:t>READ · ROUTE A: RULED-TABLE READER</a:t>
            </a:r>
          </a:p>
        </p:txBody>
      </p:sp>
      <p:sp>
        <p:nvSpPr>
          <p:cNvPr id="4" name="TextBox 3"/>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Ruled tables: count the rows from the lines, then read in bands</a:t>
            </a:r>
          </a:p>
        </p:txBody>
      </p:sp>
      <p:sp>
        <p:nvSpPr>
          <p:cNvPr id="5" name="TextBox 4"/>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ExtractBench long: real_ftx_full_corrupted, page 47. Rows from the stored final output.</a:t>
            </a:r>
          </a:p>
        </p:txBody>
      </p:sp>
      <p:pic>
        <p:nvPicPr>
          <p:cNvPr id="6" name="Picture 5" descr="ruled_page.png"/>
          <p:cNvPicPr>
            <a:picLocks noChangeAspect="1"/>
          </p:cNvPicPr>
          <p:nvPr/>
        </p:nvPicPr>
        <p:blipFill>
          <a:blip r:embed="rId3"/>
          <a:stretch>
            <a:fillRect/>
          </a:stretch>
        </p:blipFill>
        <p:spPr>
          <a:xfrm>
            <a:off x="457200" y="1476144"/>
            <a:ext cx="6035040" cy="2122631"/>
          </a:xfrm>
          <a:prstGeom prst="rect">
            <a:avLst/>
          </a:prstGeom>
          <a:ln w="9525">
            <a:solidFill>
              <a:srgbClr val="D5DBE5"/>
            </a:solidFill>
          </a:ln>
        </p:spPr>
      </p:pic>
      <p:sp>
        <p:nvSpPr>
          <p:cNvPr id="7" name="TextBox 6"/>
          <p:cNvSpPr txBox="1"/>
          <p:nvPr/>
        </p:nvSpPr>
        <p:spPr>
          <a:xfrm>
            <a:off x="457200" y="3703320"/>
            <a:ext cx="603504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Detected rules (green) after deskewing by 1.15°</a:t>
            </a:r>
          </a:p>
        </p:txBody>
      </p:sp>
      <p:pic>
        <p:nvPicPr>
          <p:cNvPr id="8" name="Picture 7" descr="ruled_band.png"/>
          <p:cNvPicPr>
            <a:picLocks noChangeAspect="1"/>
          </p:cNvPicPr>
          <p:nvPr/>
        </p:nvPicPr>
        <p:blipFill>
          <a:blip r:embed="rId4"/>
          <a:stretch>
            <a:fillRect/>
          </a:stretch>
        </p:blipFill>
        <p:spPr>
          <a:xfrm>
            <a:off x="457200" y="4239993"/>
            <a:ext cx="6035040" cy="755453"/>
          </a:xfrm>
          <a:prstGeom prst="rect">
            <a:avLst/>
          </a:prstGeom>
          <a:ln w="9525">
            <a:solidFill>
              <a:srgbClr val="D5DBE5"/>
            </a:solidFill>
          </a:ln>
        </p:spPr>
      </p:pic>
      <p:sp>
        <p:nvSpPr>
          <p:cNvPr id="9" name="TextBox 8"/>
          <p:cNvSpPr txBox="1"/>
          <p:nvPr/>
        </p:nvSpPr>
        <p:spPr>
          <a:xfrm>
            <a:off x="457200" y="5212080"/>
            <a:ext cx="6035040" cy="54864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One call = the header row + one band of 12 rows. The decoding schema allows exactly 12 entries.</a:t>
            </a:r>
          </a:p>
        </p:txBody>
      </p:sp>
      <p:sp>
        <p:nvSpPr>
          <p:cNvPr id="10" name="Rounded Rectangle 9"/>
          <p:cNvSpPr/>
          <p:nvPr/>
        </p:nvSpPr>
        <p:spPr>
          <a:xfrm>
            <a:off x="6720840" y="1463040"/>
            <a:ext cx="5010912"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0" y="1600200"/>
            <a:ext cx="4645152" cy="320040"/>
          </a:xfrm>
          <a:prstGeom prst="rect">
            <a:avLst/>
          </a:prstGeom>
          <a:noFill/>
        </p:spPr>
        <p:txBody>
          <a:bodyPr wrap="square" lIns="0" rIns="0" tIns="0" bIns="0" anchor="t">
            <a:spAutoFit/>
          </a:bodyPr>
          <a:lstStyle/>
          <a:p>
            <a:pPr algn="l">
              <a:spcAft>
                <a:spcPts val="400"/>
              </a:spcAft>
            </a:pPr>
            <a:r>
              <a:rPr sz="1600" b="1" i="0">
                <a:solidFill>
                  <a:srgbClr val="D9822B"/>
                </a:solidFill>
                <a:latin typeface="Calibri"/>
              </a:rPr>
              <a:t>Page 47</a:t>
            </a:r>
          </a:p>
        </p:txBody>
      </p:sp>
      <p:sp>
        <p:nvSpPr>
          <p:cNvPr id="12" name="TextBox 11"/>
          <p:cNvSpPr txBox="1"/>
          <p:nvPr/>
        </p:nvSpPr>
        <p:spPr>
          <a:xfrm>
            <a:off x="6903720" y="1874519"/>
            <a:ext cx="2194560" cy="594360"/>
          </a:xfrm>
          <a:prstGeom prst="rect">
            <a:avLst/>
          </a:prstGeom>
          <a:noFill/>
        </p:spPr>
        <p:txBody>
          <a:bodyPr wrap="square" lIns="0" rIns="0" tIns="0" bIns="0" anchor="t">
            <a:spAutoFit/>
          </a:bodyPr>
          <a:lstStyle/>
          <a:p>
            <a:pPr algn="l">
              <a:spcAft>
                <a:spcPts val="400"/>
              </a:spcAft>
            </a:pPr>
            <a:r>
              <a:rPr sz="3200" b="1" i="0">
                <a:solidFill>
                  <a:srgbClr val="D9822B"/>
                </a:solidFill>
                <a:latin typeface="Cambria"/>
              </a:rPr>
              <a:t>67</a:t>
            </a:r>
          </a:p>
        </p:txBody>
      </p:sp>
      <p:sp>
        <p:nvSpPr>
          <p:cNvPr id="13" name="TextBox 12"/>
          <p:cNvSpPr txBox="1"/>
          <p:nvPr/>
        </p:nvSpPr>
        <p:spPr>
          <a:xfrm>
            <a:off x="6903720" y="2468880"/>
            <a:ext cx="2194560" cy="45720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rows counted from the rules</a:t>
            </a:r>
          </a:p>
        </p:txBody>
      </p:sp>
      <p:sp>
        <p:nvSpPr>
          <p:cNvPr id="14" name="TextBox 13"/>
          <p:cNvSpPr txBox="1"/>
          <p:nvPr/>
        </p:nvSpPr>
        <p:spPr>
          <a:xfrm>
            <a:off x="9281160" y="1874519"/>
            <a:ext cx="2194560" cy="594360"/>
          </a:xfrm>
          <a:prstGeom prst="rect">
            <a:avLst/>
          </a:prstGeom>
          <a:noFill/>
        </p:spPr>
        <p:txBody>
          <a:bodyPr wrap="square" lIns="0" rIns="0" tIns="0" bIns="0" anchor="t">
            <a:spAutoFit/>
          </a:bodyPr>
          <a:lstStyle/>
          <a:p>
            <a:pPr algn="l">
              <a:spcAft>
                <a:spcPts val="400"/>
              </a:spcAft>
            </a:pPr>
            <a:r>
              <a:rPr sz="3200" b="1" i="0">
                <a:solidFill>
                  <a:srgbClr val="D9822B"/>
                </a:solidFill>
                <a:latin typeface="Cambria"/>
              </a:rPr>
              <a:t>67</a:t>
            </a:r>
          </a:p>
        </p:txBody>
      </p:sp>
      <p:sp>
        <p:nvSpPr>
          <p:cNvPr id="15" name="TextBox 14"/>
          <p:cNvSpPr txBox="1"/>
          <p:nvPr/>
        </p:nvSpPr>
        <p:spPr>
          <a:xfrm>
            <a:off x="9281160" y="2468880"/>
            <a:ext cx="2194560" cy="45720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rows returned by the reader</a:t>
            </a:r>
          </a:p>
        </p:txBody>
      </p:sp>
      <p:sp>
        <p:nvSpPr>
          <p:cNvPr id="16" name="TextBox 15"/>
          <p:cNvSpPr txBox="1"/>
          <p:nvPr/>
        </p:nvSpPr>
        <p:spPr>
          <a:xfrm>
            <a:off x="6903720" y="2971800"/>
            <a:ext cx="4663440" cy="32004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Bands: 12 + 12 + 12 + 12 + 12 + 7</a:t>
            </a:r>
          </a:p>
        </p:txBody>
      </p:sp>
      <p:graphicFrame>
        <p:nvGraphicFramePr>
          <p:cNvPr id="17" name="Table 16"/>
          <p:cNvGraphicFramePr>
            <a:graphicFrameLocks noGrp="1"/>
          </p:cNvGraphicFramePr>
          <p:nvPr/>
        </p:nvGraphicFramePr>
        <p:xfrm>
          <a:off x="6903720" y="3429000"/>
          <a:ext cx="4645152" cy="1536192"/>
        </p:xfrm>
        <a:graphic>
          <a:graphicData uri="http://schemas.openxmlformats.org/drawingml/2006/table">
            <a:tbl>
              <a:tblPr firstRow="1" bandRow="1">
                <a:tableStyleId>{5C22544A-7EE6-4342-B048-85BDC9FD1C3A}</a:tableStyleId>
              </a:tblPr>
              <a:tblGrid>
                <a:gridCol w="1691640"/>
                <a:gridCol w="1463040"/>
                <a:gridCol w="896112"/>
                <a:gridCol w="594360"/>
              </a:tblGrid>
              <a:tr h="384048">
                <a:tc>
                  <a:txBody>
                    <a:bodyPr wrap="square"/>
                    <a:lstStyle/>
                    <a:p>
                      <a:pPr algn="l"/>
                      <a:r>
                        <a:rPr sz="1000" b="1">
                          <a:solidFill>
                            <a:srgbClr val="FFFFFF"/>
                          </a:solidFill>
                          <a:latin typeface="Calibri"/>
                        </a:rPr>
                        <a:t>name</a:t>
                      </a:r>
                    </a:p>
                  </a:txBody>
                  <a:tcPr marL="54864" marR="54864" marT="18288" marB="18288" anchor="ctr">
                    <a:solidFill>
                      <a:srgbClr val="1B2A4A"/>
                    </a:solidFill>
                  </a:tcPr>
                </a:tc>
                <a:tc>
                  <a:txBody>
                    <a:bodyPr wrap="square"/>
                    <a:lstStyle/>
                    <a:p>
                      <a:pPr algn="l"/>
                      <a:r>
                        <a:rPr sz="1000" b="1">
                          <a:solidFill>
                            <a:srgbClr val="FFFFFF"/>
                          </a:solidFill>
                          <a:latin typeface="Calibri"/>
                        </a:rPr>
                        <a:t>address_1</a:t>
                      </a:r>
                    </a:p>
                  </a:txBody>
                  <a:tcPr marL="54864" marR="54864" marT="18288" marB="18288" anchor="ctr">
                    <a:solidFill>
                      <a:srgbClr val="1B2A4A"/>
                    </a:solidFill>
                  </a:tcPr>
                </a:tc>
                <a:tc>
                  <a:txBody>
                    <a:bodyPr wrap="square"/>
                    <a:lstStyle/>
                    <a:p>
                      <a:pPr algn="l"/>
                      <a:r>
                        <a:rPr sz="1000" b="1">
                          <a:solidFill>
                            <a:srgbClr val="FFFFFF"/>
                          </a:solidFill>
                          <a:latin typeface="Calibri"/>
                        </a:rPr>
                        <a:t>city</a:t>
                      </a:r>
                    </a:p>
                  </a:txBody>
                  <a:tcPr marL="54864" marR="54864" marT="18288" marB="18288" anchor="ctr">
                    <a:solidFill>
                      <a:srgbClr val="1B2A4A"/>
                    </a:solidFill>
                  </a:tcPr>
                </a:tc>
                <a:tc>
                  <a:txBody>
                    <a:bodyPr wrap="square"/>
                    <a:lstStyle/>
                    <a:p>
                      <a:pPr algn="l"/>
                      <a:r>
                        <a:rPr sz="1000" b="1">
                          <a:solidFill>
                            <a:srgbClr val="FFFFFF"/>
                          </a:solidFill>
                          <a:latin typeface="Calibri"/>
                        </a:rPr>
                        <a:t>state</a:t>
                      </a:r>
                    </a:p>
                  </a:txBody>
                  <a:tcPr marL="54864" marR="54864" marT="18288" marB="18288" anchor="ctr">
                    <a:solidFill>
                      <a:srgbClr val="1B2A4A"/>
                    </a:solidFill>
                  </a:tcPr>
                </a:tc>
              </a:tr>
              <a:tr h="384048">
                <a:tc>
                  <a:txBody>
                    <a:bodyPr wrap="square"/>
                    <a:lstStyle/>
                    <a:p>
                      <a:pPr algn="l"/>
                      <a:r>
                        <a:rPr sz="1000" b="0">
                          <a:solidFill>
                            <a:srgbClr val="23314F"/>
                          </a:solidFill>
                          <a:latin typeface="Courier New"/>
                        </a:rPr>
                        <a:t>INCENTIVE ECOSYSTEM FOUNDATION</a:t>
                      </a:r>
                    </a:p>
                  </a:txBody>
                  <a:tcPr marL="54864" marR="54864" marT="18288" marB="18288" anchor="ctr">
                    <a:solidFill>
                      <a:srgbClr val="FFFFFF"/>
                    </a:solidFill>
                  </a:tcPr>
                </a:tc>
                <a:tc>
                  <a:txBody>
                    <a:bodyPr wrap="square"/>
                    <a:lstStyle/>
                    <a:p>
                      <a:pPr algn="l"/>
                      <a:r>
                        <a:rPr sz="1000" b="0">
                          <a:solidFill>
                            <a:srgbClr val="23314F"/>
                          </a:solidFill>
                          <a:latin typeface="Courier New"/>
                        </a:rPr>
                        <a:t>null</a:t>
                      </a:r>
                    </a:p>
                  </a:txBody>
                  <a:tcPr marL="54864" marR="54864" marT="18288" marB="18288" anchor="ctr">
                    <a:solidFill>
                      <a:srgbClr val="FFFFFF"/>
                    </a:solidFill>
                  </a:tcPr>
                </a:tc>
                <a:tc>
                  <a:txBody>
                    <a:bodyPr wrap="square"/>
                    <a:lstStyle/>
                    <a:p>
                      <a:pPr algn="l"/>
                      <a:r>
                        <a:rPr sz="1000" b="0">
                          <a:solidFill>
                            <a:srgbClr val="23314F"/>
                          </a:solidFill>
                          <a:latin typeface="Courier New"/>
                        </a:rPr>
                        <a:t>null</a:t>
                      </a:r>
                    </a:p>
                  </a:txBody>
                  <a:tcPr marL="54864" marR="54864" marT="18288" marB="18288" anchor="ctr">
                    <a:solidFill>
                      <a:srgbClr val="FFFFFF"/>
                    </a:solidFill>
                  </a:tcPr>
                </a:tc>
                <a:tc>
                  <a:txBody>
                    <a:bodyPr wrap="square"/>
                    <a:lstStyle/>
                    <a:p>
                      <a:pPr algn="l"/>
                      <a:r>
                        <a:rPr sz="1000" b="0">
                          <a:solidFill>
                            <a:srgbClr val="23314F"/>
                          </a:solidFill>
                          <a:latin typeface="Courier New"/>
                        </a:rPr>
                        <a:t>null</a:t>
                      </a:r>
                    </a:p>
                  </a:txBody>
                  <a:tcPr marL="54864" marR="54864" marT="18288" marB="18288" anchor="ctr">
                    <a:solidFill>
                      <a:srgbClr val="FFFFFF"/>
                    </a:solidFill>
                  </a:tcPr>
                </a:tc>
              </a:tr>
              <a:tr h="384048">
                <a:tc>
                  <a:txBody>
                    <a:bodyPr wrap="square"/>
                    <a:lstStyle/>
                    <a:p>
                      <a:pPr algn="l"/>
                      <a:r>
                        <a:rPr sz="1000" b="0">
                          <a:solidFill>
                            <a:srgbClr val="23314F"/>
                          </a:solidFill>
                          <a:latin typeface="Courier New"/>
                        </a:rPr>
                        <a:t>INCO, LLC</a:t>
                      </a:r>
                    </a:p>
                  </a:txBody>
                  <a:tcPr marL="54864" marR="54864" marT="18288" marB="18288" anchor="ctr">
                    <a:solidFill>
                      <a:srgbClr val="F6F8FB"/>
                    </a:solidFill>
                  </a:tcPr>
                </a:tc>
                <a:tc>
                  <a:txBody>
                    <a:bodyPr wrap="square"/>
                    <a:lstStyle/>
                    <a:p>
                      <a:pPr algn="l"/>
                      <a:r>
                        <a:rPr sz="1000" b="0">
                          <a:solidFill>
                            <a:srgbClr val="23314F"/>
                          </a:solidFill>
                          <a:latin typeface="Courier New"/>
                        </a:rPr>
                        <a:t>425 BROADWAY, 5TH FLOOR</a:t>
                      </a:r>
                    </a:p>
                  </a:txBody>
                  <a:tcPr marL="54864" marR="54864" marT="18288" marB="18288" anchor="ctr">
                    <a:solidFill>
                      <a:srgbClr val="F6F8FB"/>
                    </a:solidFill>
                  </a:tcPr>
                </a:tc>
                <a:tc>
                  <a:txBody>
                    <a:bodyPr wrap="square"/>
                    <a:lstStyle/>
                    <a:p>
                      <a:pPr algn="l"/>
                      <a:r>
                        <a:rPr sz="1000" b="0">
                          <a:solidFill>
                            <a:srgbClr val="23314F"/>
                          </a:solidFill>
                          <a:latin typeface="Courier New"/>
                        </a:rPr>
                        <a:t>NEW YORK</a:t>
                      </a:r>
                    </a:p>
                  </a:txBody>
                  <a:tcPr marL="54864" marR="54864" marT="18288" marB="18288" anchor="ctr">
                    <a:solidFill>
                      <a:srgbClr val="F6F8FB"/>
                    </a:solidFill>
                  </a:tcPr>
                </a:tc>
                <a:tc>
                  <a:txBody>
                    <a:bodyPr wrap="square"/>
                    <a:lstStyle/>
                    <a:p>
                      <a:pPr algn="l"/>
                      <a:r>
                        <a:rPr sz="1000" b="0">
                          <a:solidFill>
                            <a:srgbClr val="23314F"/>
                          </a:solidFill>
                          <a:latin typeface="Courier New"/>
                        </a:rPr>
                        <a:t>NY</a:t>
                      </a:r>
                    </a:p>
                  </a:txBody>
                  <a:tcPr marL="54864" marR="54864" marT="18288" marB="18288" anchor="ctr">
                    <a:solidFill>
                      <a:srgbClr val="F6F8FB"/>
                    </a:solidFill>
                  </a:tcPr>
                </a:tc>
              </a:tr>
              <a:tr h="384048">
                <a:tc>
                  <a:txBody>
                    <a:bodyPr wrap="square"/>
                    <a:lstStyle/>
                    <a:p>
                      <a:pPr algn="l"/>
                      <a:r>
                        <a:rPr sz="1000" b="0">
                          <a:solidFill>
                            <a:srgbClr val="23314F"/>
                          </a:solidFill>
                          <a:latin typeface="Courier New"/>
                        </a:rPr>
                        <a:t>INCO, LLC - INVISIBLE NORTH</a:t>
                      </a:r>
                    </a:p>
                  </a:txBody>
                  <a:tcPr marL="54864" marR="54864" marT="18288" marB="18288" anchor="ctr">
                    <a:solidFill>
                      <a:srgbClr val="FFFFFF"/>
                    </a:solidFill>
                  </a:tcPr>
                </a:tc>
                <a:tc>
                  <a:txBody>
                    <a:bodyPr wrap="square"/>
                    <a:lstStyle/>
                    <a:p>
                      <a:pPr algn="l"/>
                      <a:r>
                        <a:rPr sz="1000" b="0">
                          <a:solidFill>
                            <a:srgbClr val="23314F"/>
                          </a:solidFill>
                          <a:latin typeface="Courier New"/>
                        </a:rPr>
                        <a:t>425 BROADWAY</a:t>
                      </a:r>
                    </a:p>
                  </a:txBody>
                  <a:tcPr marL="54864" marR="54864" marT="18288" marB="18288" anchor="ctr">
                    <a:solidFill>
                      <a:srgbClr val="FFFFFF"/>
                    </a:solidFill>
                  </a:tcPr>
                </a:tc>
                <a:tc>
                  <a:txBody>
                    <a:bodyPr wrap="square"/>
                    <a:lstStyle/>
                    <a:p>
                      <a:pPr algn="l"/>
                      <a:r>
                        <a:rPr sz="1000" b="0">
                          <a:solidFill>
                            <a:srgbClr val="23314F"/>
                          </a:solidFill>
                          <a:latin typeface="Courier New"/>
                        </a:rPr>
                        <a:t>NEW YORK</a:t>
                      </a:r>
                    </a:p>
                  </a:txBody>
                  <a:tcPr marL="54864" marR="54864" marT="18288" marB="18288" anchor="ctr">
                    <a:solidFill>
                      <a:srgbClr val="FFFFFF"/>
                    </a:solidFill>
                  </a:tcPr>
                </a:tc>
                <a:tc>
                  <a:txBody>
                    <a:bodyPr wrap="square"/>
                    <a:lstStyle/>
                    <a:p>
                      <a:pPr algn="l"/>
                      <a:r>
                        <a:rPr sz="1000" b="0">
                          <a:solidFill>
                            <a:srgbClr val="23314F"/>
                          </a:solidFill>
                          <a:latin typeface="Courier New"/>
                        </a:rPr>
                        <a:t>NY</a:t>
                      </a:r>
                    </a:p>
                  </a:txBody>
                  <a:tcPr marL="54864" marR="54864" marT="18288" marB="18288"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274320"/>
            <a:ext cx="347472" cy="347472"/>
          </a:xfrm>
          <a:prstGeom prst="ellipse">
            <a:avLst/>
          </a:prstGeom>
          <a:solidFill>
            <a:srgbClr val="3E9E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3" name="TextBox 2"/>
          <p:cNvSpPr txBox="1"/>
          <p:nvPr/>
        </p:nvSpPr>
        <p:spPr>
          <a:xfrm>
            <a:off x="896112" y="283464"/>
            <a:ext cx="8229600" cy="329184"/>
          </a:xfrm>
          <a:prstGeom prst="rect">
            <a:avLst/>
          </a:prstGeom>
          <a:noFill/>
        </p:spPr>
        <p:txBody>
          <a:bodyPr wrap="square" lIns="0" rIns="0" tIns="0" bIns="0" anchor="ctr">
            <a:spAutoFit/>
          </a:bodyPr>
          <a:lstStyle/>
          <a:p>
            <a:pPr algn="l">
              <a:spcAft>
                <a:spcPts val="400"/>
              </a:spcAft>
            </a:pPr>
            <a:r>
              <a:rPr sz="1200" b="1" i="0">
                <a:solidFill>
                  <a:srgbClr val="3E9E5C"/>
                </a:solidFill>
                <a:latin typeface="Calibri"/>
              </a:rPr>
              <a:t>READ · ROUTE C: THREE READINGS OF ONE SCAN</a:t>
            </a:r>
          </a:p>
        </p:txBody>
      </p:sp>
      <p:sp>
        <p:nvSpPr>
          <p:cNvPr id="4" name="TextBox 3"/>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Three independent readings of the same scan</a:t>
            </a:r>
          </a:p>
        </p:txBody>
      </p:sp>
      <p:sp>
        <p:nvSpPr>
          <p:cNvPr id="5" name="TextBox 4"/>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ExtractBench short: 2A-9-160298_109929; stored readings after their checks.</a:t>
            </a:r>
          </a:p>
        </p:txBody>
      </p:sp>
      <p:pic>
        <p:nvPicPr>
          <p:cNvPr id="6" name="Picture 5" descr="input_form_p1.png"/>
          <p:cNvPicPr>
            <a:picLocks noChangeAspect="1"/>
          </p:cNvPicPr>
          <p:nvPr/>
        </p:nvPicPr>
        <p:blipFill>
          <a:blip r:embed="rId3"/>
          <a:stretch>
            <a:fillRect/>
          </a:stretch>
        </p:blipFill>
        <p:spPr>
          <a:xfrm>
            <a:off x="457200" y="2171105"/>
            <a:ext cx="2651760" cy="3475909"/>
          </a:xfrm>
          <a:prstGeom prst="rect">
            <a:avLst/>
          </a:prstGeom>
          <a:ln w="9525">
            <a:solidFill>
              <a:srgbClr val="D5DBE5"/>
            </a:solidFill>
          </a:ln>
        </p:spPr>
      </p:pic>
      <p:graphicFrame>
        <p:nvGraphicFramePr>
          <p:cNvPr id="7" name="Table 6"/>
          <p:cNvGraphicFramePr>
            <a:graphicFrameLocks noGrp="1"/>
          </p:cNvGraphicFramePr>
          <p:nvPr/>
        </p:nvGraphicFramePr>
        <p:xfrm>
          <a:off x="3383280" y="1463040"/>
          <a:ext cx="8348472" cy="2706624"/>
        </p:xfrm>
        <a:graphic>
          <a:graphicData uri="http://schemas.openxmlformats.org/drawingml/2006/table">
            <a:tbl>
              <a:tblPr firstRow="1" bandRow="1">
                <a:tableStyleId>{5C22544A-7EE6-4342-B048-85BDC9FD1C3A}</a:tableStyleId>
              </a:tblPr>
              <a:tblGrid>
                <a:gridCol w="2331720"/>
                <a:gridCol w="2148840"/>
                <a:gridCol w="2148840"/>
                <a:gridCol w="1719072"/>
              </a:tblGrid>
              <a:tr h="338328">
                <a:tc>
                  <a:txBody>
                    <a:bodyPr wrap="square"/>
                    <a:lstStyle/>
                    <a:p>
                      <a:pPr algn="l"/>
                      <a:r>
                        <a:rPr sz="1200" b="1">
                          <a:solidFill>
                            <a:srgbClr val="FFFFFF"/>
                          </a:solidFill>
                          <a:latin typeface="Calibri"/>
                        </a:rPr>
                        <a:t>field</a:t>
                      </a:r>
                    </a:p>
                  </a:txBody>
                  <a:tcPr marL="54864" marR="54864" marT="18288" marB="18288" anchor="ctr">
                    <a:solidFill>
                      <a:srgbClr val="1B2A4A"/>
                    </a:solidFill>
                  </a:tcPr>
                </a:tc>
                <a:tc>
                  <a:txBody>
                    <a:bodyPr wrap="square"/>
                    <a:lstStyle/>
                    <a:p>
                      <a:pPr algn="l"/>
                      <a:r>
                        <a:rPr sz="1200" b="1">
                          <a:solidFill>
                            <a:srgbClr val="FFFFFF"/>
                          </a:solidFill>
                          <a:latin typeface="Calibri"/>
                        </a:rPr>
                        <a:t>P  image reading</a:t>
                      </a:r>
                    </a:p>
                  </a:txBody>
                  <a:tcPr marL="54864" marR="54864" marT="18288" marB="18288" anchor="ctr">
                    <a:solidFill>
                      <a:srgbClr val="1B2A4A"/>
                    </a:solidFill>
                  </a:tcPr>
                </a:tc>
                <a:tc>
                  <a:txBody>
                    <a:bodyPr wrap="square"/>
                    <a:lstStyle/>
                    <a:p>
                      <a:pPr algn="l"/>
                      <a:r>
                        <a:rPr sz="1200" b="1">
                          <a:solidFill>
                            <a:srgbClr val="FFFFFF"/>
                          </a:solidFill>
                          <a:latin typeface="Calibri"/>
                        </a:rPr>
                        <a:t>M  parse reading</a:t>
                      </a:r>
                    </a:p>
                  </a:txBody>
                  <a:tcPr marL="54864" marR="54864" marT="18288" marB="18288" anchor="ctr">
                    <a:solidFill>
                      <a:srgbClr val="1B2A4A"/>
                    </a:solidFill>
                  </a:tcPr>
                </a:tc>
                <a:tc>
                  <a:txBody>
                    <a:bodyPr wrap="square"/>
                    <a:lstStyle/>
                    <a:p>
                      <a:pPr algn="l"/>
                      <a:r>
                        <a:rPr sz="1200" b="1">
                          <a:solidFill>
                            <a:srgbClr val="FFFFFF"/>
                          </a:solidFill>
                          <a:latin typeface="Calibri"/>
                        </a:rPr>
                        <a:t>O  one-shot</a:t>
                      </a:r>
                    </a:p>
                  </a:txBody>
                  <a:tcPr marL="54864" marR="54864" marT="18288" marB="18288" anchor="ctr">
                    <a:solidFill>
                      <a:srgbClr val="1B2A4A"/>
                    </a:solidFill>
                  </a:tcPr>
                </a:tc>
              </a:tr>
              <a:tr h="338328">
                <a:tc>
                  <a:txBody>
                    <a:bodyPr wrap="square"/>
                    <a:lstStyle/>
                    <a:p>
                      <a:pPr algn="l"/>
                      <a:r>
                        <a:rPr sz="1200" b="0">
                          <a:solidFill>
                            <a:srgbClr val="23314F"/>
                          </a:solidFill>
                          <a:latin typeface="Calibri"/>
                        </a:rPr>
                        <a:t>p1_company</a:t>
                      </a:r>
                    </a:p>
                  </a:txBody>
                  <a:tcPr marL="54864" marR="54864" marT="18288" marB="18288" anchor="ctr">
                    <a:solidFill>
                      <a:srgbClr val="FFFFFF"/>
                    </a:solidFill>
                  </a:tcPr>
                </a:tc>
                <a:tc>
                  <a:txBody>
                    <a:bodyPr wrap="square"/>
                    <a:lstStyle/>
                    <a:p>
                      <a:pPr algn="l"/>
                      <a:r>
                        <a:rPr sz="1200" b="0">
                          <a:solidFill>
                            <a:srgbClr val="23314F"/>
                          </a:solidFill>
                          <a:latin typeface="Courier New"/>
                        </a:rPr>
                        <a:t>R. L. Underwood</a:t>
                      </a:r>
                    </a:p>
                  </a:txBody>
                  <a:tcPr marL="54864" marR="54864" marT="18288" marB="18288" anchor="ctr">
                    <a:solidFill>
                      <a:srgbClr val="FFFFFF"/>
                    </a:solidFill>
                  </a:tcPr>
                </a:tc>
                <a:tc>
                  <a:txBody>
                    <a:bodyPr wrap="square"/>
                    <a:lstStyle/>
                    <a:p>
                      <a:pPr algn="l"/>
                      <a:r>
                        <a:rPr sz="1200" b="0">
                          <a:solidFill>
                            <a:srgbClr val="23314F"/>
                          </a:solidFill>
                          <a:latin typeface="Courier New"/>
                        </a:rPr>
                        <a:t>R. L. Underwood</a:t>
                      </a:r>
                    </a:p>
                  </a:txBody>
                  <a:tcPr marL="54864" marR="54864" marT="18288" marB="18288" anchor="ctr">
                    <a:solidFill>
                      <a:srgbClr val="FFFFFF"/>
                    </a:solidFill>
                  </a:tcPr>
                </a:tc>
                <a:tc>
                  <a:txBody>
                    <a:bodyPr wrap="square"/>
                    <a:lstStyle/>
                    <a:p>
                      <a:pPr algn="l"/>
                      <a:r>
                        <a:rPr sz="1200" b="0">
                          <a:solidFill>
                            <a:srgbClr val="C0392B"/>
                          </a:solidFill>
                          <a:latin typeface="Courier New"/>
                        </a:rPr>
                        <a:t>null</a:t>
                      </a:r>
                    </a:p>
                  </a:txBody>
                  <a:tcPr marL="54864" marR="54864" marT="18288" marB="18288" anchor="ctr">
                    <a:solidFill>
                      <a:srgbClr val="FFFFFF"/>
                    </a:solidFill>
                  </a:tcPr>
                </a:tc>
              </a:tr>
              <a:tr h="338328">
                <a:tc>
                  <a:txBody>
                    <a:bodyPr wrap="square"/>
                    <a:lstStyle/>
                    <a:p>
                      <a:pPr algn="l"/>
                      <a:r>
                        <a:rPr sz="1200" b="0">
                          <a:solidFill>
                            <a:srgbClr val="23314F"/>
                          </a:solidFill>
                          <a:latin typeface="Calibri"/>
                        </a:rPr>
                        <a:t>p1_county</a:t>
                      </a:r>
                    </a:p>
                  </a:txBody>
                  <a:tcPr marL="54864" marR="54864" marT="18288" marB="18288" anchor="ctr">
                    <a:solidFill>
                      <a:srgbClr val="F6F8FB"/>
                    </a:solidFill>
                  </a:tcPr>
                </a:tc>
                <a:tc>
                  <a:txBody>
                    <a:bodyPr wrap="square"/>
                    <a:lstStyle/>
                    <a:p>
                      <a:pPr algn="l"/>
                      <a:r>
                        <a:rPr sz="1200" b="0">
                          <a:solidFill>
                            <a:srgbClr val="23314F"/>
                          </a:solidFill>
                          <a:latin typeface="Courier New"/>
                        </a:rPr>
                        <a:t>Archer</a:t>
                      </a:r>
                    </a:p>
                  </a:txBody>
                  <a:tcPr marL="54864" marR="54864" marT="18288" marB="18288" anchor="ctr">
                    <a:solidFill>
                      <a:srgbClr val="F6F8FB"/>
                    </a:solidFill>
                  </a:tcPr>
                </a:tc>
                <a:tc>
                  <a:txBody>
                    <a:bodyPr wrap="square"/>
                    <a:lstStyle/>
                    <a:p>
                      <a:pPr algn="l"/>
                      <a:r>
                        <a:rPr sz="1200" b="0">
                          <a:solidFill>
                            <a:srgbClr val="23314F"/>
                          </a:solidFill>
                          <a:latin typeface="Courier New"/>
                        </a:rPr>
                        <a:t>Archer</a:t>
                      </a:r>
                    </a:p>
                  </a:txBody>
                  <a:tcPr marL="54864" marR="54864" marT="18288" marB="18288" anchor="ctr">
                    <a:solidFill>
                      <a:srgbClr val="F6F8FB"/>
                    </a:solidFill>
                  </a:tcPr>
                </a:tc>
                <a:tc>
                  <a:txBody>
                    <a:bodyPr wrap="square"/>
                    <a:lstStyle/>
                    <a:p>
                      <a:pPr algn="l"/>
                      <a:r>
                        <a:rPr sz="1200" b="0">
                          <a:solidFill>
                            <a:srgbClr val="C0392B"/>
                          </a:solidFill>
                          <a:latin typeface="Courier New"/>
                        </a:rPr>
                        <a:t>null</a:t>
                      </a:r>
                    </a:p>
                  </a:txBody>
                  <a:tcPr marL="54864" marR="54864" marT="18288" marB="18288" anchor="ctr">
                    <a:solidFill>
                      <a:srgbClr val="F6F8FB"/>
                    </a:solidFill>
                  </a:tcPr>
                </a:tc>
              </a:tr>
              <a:tr h="338328">
                <a:tc>
                  <a:txBody>
                    <a:bodyPr wrap="square"/>
                    <a:lstStyle/>
                    <a:p>
                      <a:pPr algn="l"/>
                      <a:r>
                        <a:rPr sz="1200" b="0">
                          <a:solidFill>
                            <a:srgbClr val="23314F"/>
                          </a:solidFill>
                          <a:latin typeface="Calibri"/>
                        </a:rPr>
                        <a:t>p1_well_no</a:t>
                      </a:r>
                    </a:p>
                  </a:txBody>
                  <a:tcPr marL="54864" marR="54864" marT="18288" marB="18288" anchor="ctr">
                    <a:solidFill>
                      <a:srgbClr val="FFFFFF"/>
                    </a:solidFill>
                  </a:tcPr>
                </a:tc>
                <a:tc>
                  <a:txBody>
                    <a:bodyPr wrap="square"/>
                    <a:lstStyle/>
                    <a:p>
                      <a:pPr algn="l"/>
                      <a:r>
                        <a:rPr sz="1200" b="0">
                          <a:solidFill>
                            <a:srgbClr val="23314F"/>
                          </a:solidFill>
                          <a:latin typeface="Courier New"/>
                        </a:rPr>
                        <a:t>Z-13</a:t>
                      </a:r>
                    </a:p>
                  </a:txBody>
                  <a:tcPr marL="54864" marR="54864" marT="18288" marB="18288" anchor="ctr">
                    <a:solidFill>
                      <a:srgbClr val="FFFFFF"/>
                    </a:solidFill>
                  </a:tcPr>
                </a:tc>
                <a:tc>
                  <a:txBody>
                    <a:bodyPr wrap="square"/>
                    <a:lstStyle/>
                    <a:p>
                      <a:pPr algn="l"/>
                      <a:r>
                        <a:rPr sz="1200" b="0">
                          <a:solidFill>
                            <a:srgbClr val="23314F"/>
                          </a:solidFill>
                          <a:latin typeface="Courier New"/>
                        </a:rPr>
                        <a:t>Z-13</a:t>
                      </a:r>
                    </a:p>
                  </a:txBody>
                  <a:tcPr marL="54864" marR="54864" marT="18288" marB="18288" anchor="ctr">
                    <a:solidFill>
                      <a:srgbClr val="FFFFFF"/>
                    </a:solidFill>
                  </a:tcPr>
                </a:tc>
                <a:tc>
                  <a:txBody>
                    <a:bodyPr wrap="square"/>
                    <a:lstStyle/>
                    <a:p>
                      <a:pPr algn="l"/>
                      <a:r>
                        <a:rPr sz="1200" b="0">
                          <a:solidFill>
                            <a:srgbClr val="C0392B"/>
                          </a:solidFill>
                          <a:latin typeface="Courier New"/>
                        </a:rPr>
                        <a:t>null</a:t>
                      </a:r>
                    </a:p>
                  </a:txBody>
                  <a:tcPr marL="54864" marR="54864" marT="18288" marB="18288" anchor="ctr">
                    <a:solidFill>
                      <a:srgbClr val="FFFFFF"/>
                    </a:solidFill>
                  </a:tcPr>
                </a:tc>
              </a:tr>
              <a:tr h="338328">
                <a:tc>
                  <a:txBody>
                    <a:bodyPr wrap="square"/>
                    <a:lstStyle/>
                    <a:p>
                      <a:pPr algn="l"/>
                      <a:r>
                        <a:rPr sz="1200" b="0">
                          <a:solidFill>
                            <a:srgbClr val="23314F"/>
                          </a:solidFill>
                          <a:latin typeface="Calibri"/>
                        </a:rPr>
                        <a:t>p1_name_of_lease</a:t>
                      </a:r>
                    </a:p>
                  </a:txBody>
                  <a:tcPr marL="54864" marR="54864" marT="18288" marB="18288" anchor="ctr">
                    <a:solidFill>
                      <a:srgbClr val="F6F8FB"/>
                    </a:solidFill>
                  </a:tcPr>
                </a:tc>
                <a:tc>
                  <a:txBody>
                    <a:bodyPr wrap="square"/>
                    <a:lstStyle/>
                    <a:p>
                      <a:pPr algn="l"/>
                      <a:r>
                        <a:rPr sz="1200" b="0">
                          <a:solidFill>
                            <a:srgbClr val="23314F"/>
                          </a:solidFill>
                          <a:latin typeface="Courier New"/>
                        </a:rPr>
                        <a:t>Campbell Est "Z"</a:t>
                      </a:r>
                    </a:p>
                  </a:txBody>
                  <a:tcPr marL="54864" marR="54864" marT="18288" marB="18288" anchor="ctr">
                    <a:solidFill>
                      <a:srgbClr val="F6F8FB"/>
                    </a:solidFill>
                  </a:tcPr>
                </a:tc>
                <a:tc>
                  <a:txBody>
                    <a:bodyPr wrap="square"/>
                    <a:lstStyle/>
                    <a:p>
                      <a:pPr algn="l"/>
                      <a:r>
                        <a:rPr sz="1200" b="0">
                          <a:solidFill>
                            <a:srgbClr val="23314F"/>
                          </a:solidFill>
                          <a:latin typeface="Courier New"/>
                        </a:rPr>
                        <a:t>Campbell Est "Z"</a:t>
                      </a:r>
                    </a:p>
                  </a:txBody>
                  <a:tcPr marL="54864" marR="54864" marT="18288" marB="18288" anchor="ctr">
                    <a:solidFill>
                      <a:srgbClr val="F6F8FB"/>
                    </a:solidFill>
                  </a:tcPr>
                </a:tc>
                <a:tc>
                  <a:txBody>
                    <a:bodyPr wrap="square"/>
                    <a:lstStyle/>
                    <a:p>
                      <a:pPr algn="l"/>
                      <a:r>
                        <a:rPr sz="1200" b="0">
                          <a:solidFill>
                            <a:srgbClr val="C0392B"/>
                          </a:solidFill>
                          <a:latin typeface="Courier New"/>
                        </a:rPr>
                        <a:t>null</a:t>
                      </a:r>
                    </a:p>
                  </a:txBody>
                  <a:tcPr marL="54864" marR="54864" marT="18288" marB="18288" anchor="ctr">
                    <a:solidFill>
                      <a:srgbClr val="F6F8FB"/>
                    </a:solidFill>
                  </a:tcPr>
                </a:tc>
              </a:tr>
              <a:tr h="338328">
                <a:tc>
                  <a:txBody>
                    <a:bodyPr wrap="square"/>
                    <a:lstStyle/>
                    <a:p>
                      <a:pPr algn="l"/>
                      <a:r>
                        <a:rPr sz="1200" b="0">
                          <a:solidFill>
                            <a:srgbClr val="23314F"/>
                          </a:solidFill>
                          <a:latin typeface="Calibri"/>
                        </a:rPr>
                        <a:t>p1_drilling_commenced</a:t>
                      </a:r>
                    </a:p>
                  </a:txBody>
                  <a:tcPr marL="54864" marR="54864" marT="18288" marB="18288" anchor="ctr">
                    <a:solidFill>
                      <a:srgbClr val="FFFFFF"/>
                    </a:solidFill>
                  </a:tcPr>
                </a:tc>
                <a:tc>
                  <a:txBody>
                    <a:bodyPr wrap="square"/>
                    <a:lstStyle/>
                    <a:p>
                      <a:pPr algn="l"/>
                      <a:r>
                        <a:rPr sz="1200" b="0">
                          <a:solidFill>
                            <a:srgbClr val="23314F"/>
                          </a:solidFill>
                          <a:latin typeface="Courier New"/>
                        </a:rPr>
                        <a:t>April 29, 1955</a:t>
                      </a:r>
                    </a:p>
                  </a:txBody>
                  <a:tcPr marL="54864" marR="54864" marT="18288" marB="18288" anchor="ctr">
                    <a:solidFill>
                      <a:srgbClr val="FFFFFF"/>
                    </a:solidFill>
                  </a:tcPr>
                </a:tc>
                <a:tc>
                  <a:txBody>
                    <a:bodyPr wrap="square"/>
                    <a:lstStyle/>
                    <a:p>
                      <a:pPr algn="l"/>
                      <a:r>
                        <a:rPr sz="1200" b="0">
                          <a:solidFill>
                            <a:srgbClr val="23314F"/>
                          </a:solidFill>
                          <a:latin typeface="Courier New"/>
                        </a:rPr>
                        <a:t>April 29, 1955</a:t>
                      </a:r>
                    </a:p>
                  </a:txBody>
                  <a:tcPr marL="54864" marR="54864" marT="18288" marB="18288" anchor="ctr">
                    <a:solidFill>
                      <a:srgbClr val="FFFFFF"/>
                    </a:solidFill>
                  </a:tcPr>
                </a:tc>
                <a:tc>
                  <a:txBody>
                    <a:bodyPr wrap="square"/>
                    <a:lstStyle/>
                    <a:p>
                      <a:pPr algn="l"/>
                      <a:r>
                        <a:rPr sz="1200" b="0">
                          <a:solidFill>
                            <a:srgbClr val="C0392B"/>
                          </a:solidFill>
                          <a:latin typeface="Courier New"/>
                        </a:rPr>
                        <a:t>null</a:t>
                      </a:r>
                    </a:p>
                  </a:txBody>
                  <a:tcPr marL="54864" marR="54864" marT="18288" marB="18288" anchor="ctr">
                    <a:solidFill>
                      <a:srgbClr val="FFFFFF"/>
                    </a:solidFill>
                  </a:tcPr>
                </a:tc>
              </a:tr>
              <a:tr h="338328">
                <a:tc>
                  <a:txBody>
                    <a:bodyPr wrap="square"/>
                    <a:lstStyle/>
                    <a:p>
                      <a:pPr algn="l"/>
                      <a:r>
                        <a:rPr sz="1200" b="0">
                          <a:solidFill>
                            <a:srgbClr val="23314F"/>
                          </a:solidFill>
                          <a:latin typeface="Calibri"/>
                        </a:rPr>
                        <a:t>p1_party_plugging_well</a:t>
                      </a:r>
                    </a:p>
                  </a:txBody>
                  <a:tcPr marL="54864" marR="54864" marT="18288" marB="18288" anchor="ctr">
                    <a:solidFill>
                      <a:srgbClr val="F6F8FB"/>
                    </a:solidFill>
                  </a:tcPr>
                </a:tc>
                <a:tc>
                  <a:txBody>
                    <a:bodyPr wrap="square"/>
                    <a:lstStyle/>
                    <a:p>
                      <a:pPr algn="l"/>
                      <a:r>
                        <a:rPr sz="1200" b="0">
                          <a:solidFill>
                            <a:srgbClr val="C0392B"/>
                          </a:solidFill>
                          <a:latin typeface="Courier New"/>
                        </a:rPr>
                        <a:t>R.W. Darden Dr'lg Co</a:t>
                      </a:r>
                    </a:p>
                  </a:txBody>
                  <a:tcPr marL="54864" marR="54864" marT="18288" marB="18288" anchor="ctr">
                    <a:solidFill>
                      <a:srgbClr val="F6F8FB"/>
                    </a:solidFill>
                  </a:tcPr>
                </a:tc>
                <a:tc>
                  <a:txBody>
                    <a:bodyPr wrap="square"/>
                    <a:lstStyle/>
                    <a:p>
                      <a:pPr algn="l"/>
                      <a:r>
                        <a:rPr sz="1200" b="0">
                          <a:solidFill>
                            <a:srgbClr val="C0392B"/>
                          </a:solidFill>
                          <a:latin typeface="Courier New"/>
                        </a:rPr>
                        <a:t>R.W.Darden Drlg Co</a:t>
                      </a:r>
                    </a:p>
                  </a:txBody>
                  <a:tcPr marL="54864" marR="54864" marT="18288" marB="18288" anchor="ctr">
                    <a:solidFill>
                      <a:srgbClr val="F6F8FB"/>
                    </a:solidFill>
                  </a:tcPr>
                </a:tc>
                <a:tc>
                  <a:txBody>
                    <a:bodyPr wrap="square"/>
                    <a:lstStyle/>
                    <a:p>
                      <a:pPr algn="l"/>
                      <a:r>
                        <a:rPr sz="1200" b="0">
                          <a:solidFill>
                            <a:srgbClr val="C0392B"/>
                          </a:solidFill>
                          <a:latin typeface="Courier New"/>
                        </a:rPr>
                        <a:t>null</a:t>
                      </a:r>
                    </a:p>
                  </a:txBody>
                  <a:tcPr marL="54864" marR="54864" marT="18288" marB="18288" anchor="ctr">
                    <a:solidFill>
                      <a:srgbClr val="F6F8FB"/>
                    </a:solidFill>
                  </a:tcPr>
                </a:tc>
              </a:tr>
              <a:tr h="338328">
                <a:tc>
                  <a:txBody>
                    <a:bodyPr wrap="square"/>
                    <a:lstStyle/>
                    <a:p>
                      <a:pPr algn="l"/>
                      <a:r>
                        <a:rPr sz="1200" b="0">
                          <a:solidFill>
                            <a:srgbClr val="23314F"/>
                          </a:solidFill>
                          <a:latin typeface="Calibri"/>
                        </a:rPr>
                        <a:t>p2_correspondence_name</a:t>
                      </a:r>
                    </a:p>
                  </a:txBody>
                  <a:tcPr marL="54864" marR="54864" marT="18288" marB="18288" anchor="ctr">
                    <a:solidFill>
                      <a:srgbClr val="FFFFFF"/>
                    </a:solidFill>
                  </a:tcPr>
                </a:tc>
                <a:tc>
                  <a:txBody>
                    <a:bodyPr wrap="square"/>
                    <a:lstStyle/>
                    <a:p>
                      <a:pPr algn="l"/>
                      <a:r>
                        <a:rPr sz="1200" b="0">
                          <a:solidFill>
                            <a:srgbClr val="C0392B"/>
                          </a:solidFill>
                          <a:latin typeface="Courier New"/>
                        </a:rPr>
                        <a:t>R.L. Underwood</a:t>
                      </a:r>
                    </a:p>
                  </a:txBody>
                  <a:tcPr marL="54864" marR="54864" marT="18288" marB="18288" anchor="ctr">
                    <a:solidFill>
                      <a:srgbClr val="FFFFFF"/>
                    </a:solidFill>
                  </a:tcPr>
                </a:tc>
                <a:tc>
                  <a:txBody>
                    <a:bodyPr wrap="square"/>
                    <a:lstStyle/>
                    <a:p>
                      <a:pPr algn="l"/>
                      <a:r>
                        <a:rPr sz="1200" b="0">
                          <a:solidFill>
                            <a:srgbClr val="C0392B"/>
                          </a:solidFill>
                          <a:latin typeface="Courier New"/>
                        </a:rPr>
                        <a:t>R.L.Underwood</a:t>
                      </a:r>
                    </a:p>
                  </a:txBody>
                  <a:tcPr marL="54864" marR="54864" marT="18288" marB="18288" anchor="ctr">
                    <a:solidFill>
                      <a:srgbClr val="FFFFFF"/>
                    </a:solidFill>
                  </a:tcPr>
                </a:tc>
                <a:tc>
                  <a:txBody>
                    <a:bodyPr wrap="square"/>
                    <a:lstStyle/>
                    <a:p>
                      <a:pPr algn="l"/>
                      <a:r>
                        <a:rPr sz="1200" b="0">
                          <a:solidFill>
                            <a:srgbClr val="C0392B"/>
                          </a:solidFill>
                          <a:latin typeface="Courier New"/>
                        </a:rPr>
                        <a:t>null</a:t>
                      </a:r>
                    </a:p>
                  </a:txBody>
                  <a:tcPr marL="54864" marR="54864" marT="18288" marB="18288" anchor="ctr">
                    <a:solidFill>
                      <a:srgbClr val="FFFFFF"/>
                    </a:solidFill>
                  </a:tcPr>
                </a:tc>
              </a:tr>
            </a:tbl>
          </a:graphicData>
        </a:graphic>
      </p:graphicFrame>
      <p:sp>
        <p:nvSpPr>
          <p:cNvPr id="8" name="Rounded Rectangle 7"/>
          <p:cNvSpPr/>
          <p:nvPr/>
        </p:nvSpPr>
        <p:spPr>
          <a:xfrm>
            <a:off x="3383280" y="5029200"/>
            <a:ext cx="2606040" cy="13258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566160" y="5193792"/>
            <a:ext cx="384048" cy="384048"/>
          </a:xfrm>
          <a:prstGeom prst="ellipse">
            <a:avLst/>
          </a:prstGeom>
          <a:solidFill>
            <a:srgbClr val="2F7F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P</a:t>
            </a:r>
          </a:p>
        </p:txBody>
      </p:sp>
      <p:sp>
        <p:nvSpPr>
          <p:cNvPr id="10" name="TextBox 9"/>
          <p:cNvSpPr txBox="1"/>
          <p:nvPr/>
        </p:nvSpPr>
        <p:spPr>
          <a:xfrm>
            <a:off x="4069080" y="5138928"/>
            <a:ext cx="1828800" cy="548640"/>
          </a:xfrm>
          <a:prstGeom prst="rect">
            <a:avLst/>
          </a:prstGeom>
          <a:noFill/>
        </p:spPr>
        <p:txBody>
          <a:bodyPr wrap="square" lIns="0" rIns="0" tIns="0" bIns="0" anchor="t">
            <a:spAutoFit/>
          </a:bodyPr>
          <a:lstStyle/>
          <a:p>
            <a:pPr algn="l">
              <a:spcAft>
                <a:spcPts val="400"/>
              </a:spcAft>
            </a:pPr>
            <a:r>
              <a:rPr sz="2600" b="1" i="0">
                <a:solidFill>
                  <a:srgbClr val="1B2A4A"/>
                </a:solidFill>
                <a:latin typeface="Cambria"/>
              </a:rPr>
              <a:t>59 / 77</a:t>
            </a:r>
          </a:p>
        </p:txBody>
      </p:sp>
      <p:sp>
        <p:nvSpPr>
          <p:cNvPr id="11" name="TextBox 10"/>
          <p:cNvSpPr txBox="1"/>
          <p:nvPr/>
        </p:nvSpPr>
        <p:spPr>
          <a:xfrm>
            <a:off x="4069080" y="5687568"/>
            <a:ext cx="1828800" cy="54864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fields filled</a:t>
            </a:r>
          </a:p>
        </p:txBody>
      </p:sp>
      <p:sp>
        <p:nvSpPr>
          <p:cNvPr id="12" name="Rounded Rectangle 11"/>
          <p:cNvSpPr/>
          <p:nvPr/>
        </p:nvSpPr>
        <p:spPr>
          <a:xfrm>
            <a:off x="6172200" y="5029200"/>
            <a:ext cx="2606040" cy="13258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55080" y="5193792"/>
            <a:ext cx="384048" cy="384048"/>
          </a:xfrm>
          <a:prstGeom prst="ellipse">
            <a:avLst/>
          </a:prstGeom>
          <a:solidFill>
            <a:srgbClr val="3E9E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M</a:t>
            </a:r>
          </a:p>
        </p:txBody>
      </p:sp>
      <p:sp>
        <p:nvSpPr>
          <p:cNvPr id="14" name="TextBox 13"/>
          <p:cNvSpPr txBox="1"/>
          <p:nvPr/>
        </p:nvSpPr>
        <p:spPr>
          <a:xfrm>
            <a:off x="6858000" y="5138928"/>
            <a:ext cx="1828800" cy="548640"/>
          </a:xfrm>
          <a:prstGeom prst="rect">
            <a:avLst/>
          </a:prstGeom>
          <a:noFill/>
        </p:spPr>
        <p:txBody>
          <a:bodyPr wrap="square" lIns="0" rIns="0" tIns="0" bIns="0" anchor="t">
            <a:spAutoFit/>
          </a:bodyPr>
          <a:lstStyle/>
          <a:p>
            <a:pPr algn="l">
              <a:spcAft>
                <a:spcPts val="400"/>
              </a:spcAft>
            </a:pPr>
            <a:r>
              <a:rPr sz="2600" b="1" i="0">
                <a:solidFill>
                  <a:srgbClr val="1B2A4A"/>
                </a:solidFill>
                <a:latin typeface="Cambria"/>
              </a:rPr>
              <a:t>59 / 77</a:t>
            </a:r>
          </a:p>
        </p:txBody>
      </p:sp>
      <p:sp>
        <p:nvSpPr>
          <p:cNvPr id="15" name="TextBox 14"/>
          <p:cNvSpPr txBox="1"/>
          <p:nvPr/>
        </p:nvSpPr>
        <p:spPr>
          <a:xfrm>
            <a:off x="6858000" y="5687568"/>
            <a:ext cx="1828800" cy="54864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fields filled</a:t>
            </a:r>
          </a:p>
        </p:txBody>
      </p:sp>
      <p:sp>
        <p:nvSpPr>
          <p:cNvPr id="16" name="Rounded Rectangle 15"/>
          <p:cNvSpPr/>
          <p:nvPr/>
        </p:nvSpPr>
        <p:spPr>
          <a:xfrm>
            <a:off x="8961120" y="5029200"/>
            <a:ext cx="2606040" cy="13258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0" y="5193792"/>
            <a:ext cx="384048" cy="384048"/>
          </a:xfrm>
          <a:prstGeom prst="ellipse">
            <a:avLst/>
          </a:prstGeom>
          <a:solidFill>
            <a:srgbClr val="7D5B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O</a:t>
            </a:r>
          </a:p>
        </p:txBody>
      </p:sp>
      <p:sp>
        <p:nvSpPr>
          <p:cNvPr id="18" name="TextBox 17"/>
          <p:cNvSpPr txBox="1"/>
          <p:nvPr/>
        </p:nvSpPr>
        <p:spPr>
          <a:xfrm>
            <a:off x="9646920" y="5138928"/>
            <a:ext cx="1828800" cy="548640"/>
          </a:xfrm>
          <a:prstGeom prst="rect">
            <a:avLst/>
          </a:prstGeom>
          <a:noFill/>
        </p:spPr>
        <p:txBody>
          <a:bodyPr wrap="square" lIns="0" rIns="0" tIns="0" bIns="0" anchor="t">
            <a:spAutoFit/>
          </a:bodyPr>
          <a:lstStyle/>
          <a:p>
            <a:pPr algn="l">
              <a:spcAft>
                <a:spcPts val="400"/>
              </a:spcAft>
            </a:pPr>
            <a:r>
              <a:rPr sz="2600" b="1" i="0">
                <a:solidFill>
                  <a:srgbClr val="1B2A4A"/>
                </a:solidFill>
                <a:latin typeface="Cambria"/>
              </a:rPr>
              <a:t>1 / 77</a:t>
            </a:r>
          </a:p>
        </p:txBody>
      </p:sp>
      <p:sp>
        <p:nvSpPr>
          <p:cNvPr id="19" name="TextBox 18"/>
          <p:cNvSpPr txBox="1"/>
          <p:nvPr/>
        </p:nvSpPr>
        <p:spPr>
          <a:xfrm>
            <a:off x="9646920" y="5687568"/>
            <a:ext cx="1828800" cy="54864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fields filled</a:t>
            </a:r>
          </a:p>
        </p:txBody>
      </p:sp>
      <p:sp>
        <p:nvSpPr>
          <p:cNvPr id="20" name="TextBox 19"/>
          <p:cNvSpPr txBox="1"/>
          <p:nvPr/>
        </p:nvSpPr>
        <p:spPr>
          <a:xfrm>
            <a:off x="3383280" y="4526280"/>
            <a:ext cx="8321040" cy="36576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Red: empty, or the two readings disagree (P and M differ only in spacing and punctuation).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274320"/>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3" name="TextBox 2"/>
          <p:cNvSpPr txBox="1"/>
          <p:nvPr/>
        </p:nvSpPr>
        <p:spPr>
          <a:xfrm>
            <a:off x="896112" y="283464"/>
            <a:ext cx="8229600" cy="329184"/>
          </a:xfrm>
          <a:prstGeom prst="rect">
            <a:avLst/>
          </a:prstGeom>
          <a:noFill/>
        </p:spPr>
        <p:txBody>
          <a:bodyPr wrap="square" lIns="0" rIns="0" tIns="0" bIns="0" anchor="ctr">
            <a:spAutoFit/>
          </a:bodyPr>
          <a:lstStyle/>
          <a:p>
            <a:pPr algn="l">
              <a:spcAft>
                <a:spcPts val="400"/>
              </a:spcAft>
            </a:pPr>
            <a:r>
              <a:rPr sz="1200" b="1" i="0">
                <a:solidFill>
                  <a:srgbClr val="1B2A4A"/>
                </a:solidFill>
                <a:latin typeface="Calibri"/>
              </a:rPr>
              <a:t>CHECK: STRUCTURE</a:t>
            </a:r>
          </a:p>
        </p:txBody>
      </p:sp>
      <p:sp>
        <p:nvSpPr>
          <p:cNvPr id="4" name="TextBox 3"/>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Checks that repair the structure of a reading</a:t>
            </a:r>
          </a:p>
        </p:txBody>
      </p:sp>
      <p:sp>
        <p:nvSpPr>
          <p:cNvPr id="5" name="TextBox 4"/>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Stored readings before and after each check, re-run with docquorum/checks and scored with ExtractBench's scorer.</a:t>
            </a:r>
          </a:p>
        </p:txBody>
      </p:sp>
      <p:sp>
        <p:nvSpPr>
          <p:cNvPr id="6" name="Rounded Rectangle 5"/>
          <p:cNvSpPr/>
          <p:nvPr/>
        </p:nvSpPr>
        <p:spPr>
          <a:xfrm>
            <a:off x="457200" y="1463040"/>
            <a:ext cx="5486400" cy="233172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27632"/>
            <a:ext cx="5029200" cy="365760"/>
          </a:xfrm>
          <a:prstGeom prst="rect">
            <a:avLst/>
          </a:prstGeom>
          <a:noFill/>
        </p:spPr>
        <p:txBody>
          <a:bodyPr wrap="square" lIns="0" rIns="0" tIns="0" bIns="0" anchor="t">
            <a:spAutoFit/>
          </a:bodyPr>
          <a:lstStyle/>
          <a:p>
            <a:pPr algn="l">
              <a:spcAft>
                <a:spcPts val="400"/>
              </a:spcAft>
            </a:pPr>
            <a:r>
              <a:rPr sz="1700" b="1" i="0">
                <a:solidFill>
                  <a:srgbClr val="1B2A4A"/>
                </a:solidFill>
                <a:latin typeface="Calibri"/>
              </a:rPr>
              <a:t>Rows copied into another list</a:t>
            </a:r>
          </a:p>
        </p:txBody>
      </p:sp>
      <p:sp>
        <p:nvSpPr>
          <p:cNvPr id="8" name="TextBox 7"/>
          <p:cNvSpPr txBox="1"/>
          <p:nvPr/>
        </p:nvSpPr>
        <p:spPr>
          <a:xfrm>
            <a:off x="685800" y="1993392"/>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Pueblo check register (ExtractBench medium)</a:t>
            </a:r>
          </a:p>
        </p:txBody>
      </p:sp>
      <p:sp>
        <p:nvSpPr>
          <p:cNvPr id="9" name="TextBox 8"/>
          <p:cNvSpPr txBox="1"/>
          <p:nvPr/>
        </p:nvSpPr>
        <p:spPr>
          <a:xfrm>
            <a:off x="685800" y="2331720"/>
            <a:ext cx="5029200" cy="548640"/>
          </a:xfrm>
          <a:prstGeom prst="rect">
            <a:avLst/>
          </a:prstGeom>
          <a:noFill/>
        </p:spPr>
        <p:txBody>
          <a:bodyPr wrap="square" lIns="0" rIns="0" tIns="0" bIns="0" anchor="t">
            <a:spAutoFit/>
          </a:bodyPr>
          <a:lstStyle/>
          <a:p>
            <a:pPr algn="l">
              <a:spcAft>
                <a:spcPts val="400"/>
              </a:spcAft>
            </a:pPr>
            <a:r>
              <a:rPr sz="2400" b="1" i="0">
                <a:solidFill>
                  <a:srgbClr val="1E8C6E"/>
                </a:solidFill>
                <a:latin typeface="Calibri"/>
              </a:rPr>
              <a:t>562 → 51 batch rows</a:t>
            </a:r>
          </a:p>
        </p:txBody>
      </p:sp>
      <p:sp>
        <p:nvSpPr>
          <p:cNvPr id="10" name="TextBox 9"/>
          <p:cNvSpPr txBox="1"/>
          <p:nvPr/>
        </p:nvSpPr>
        <p:spPr>
          <a:xfrm>
            <a:off x="685800" y="2880360"/>
            <a:ext cx="5029200" cy="50292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Check 01033982 ($700.88) was also filed as a batch with the same number and amount.</a:t>
            </a:r>
          </a:p>
        </p:txBody>
      </p:sp>
      <p:sp>
        <p:nvSpPr>
          <p:cNvPr id="11" name="TextBox 10"/>
          <p:cNvSpPr txBox="1"/>
          <p:nvPr/>
        </p:nvSpPr>
        <p:spPr>
          <a:xfrm>
            <a:off x="685800" y="3401568"/>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Value F1  </a:t>
            </a:r>
            <a:r>
              <a:rPr sz="1200" b="1" i="0">
                <a:solidFill>
                  <a:srgbClr val="23314F"/>
                </a:solidFill>
                <a:latin typeface="Calibri"/>
              </a:rPr>
              <a:t>84.73 → 99.91</a:t>
            </a:r>
          </a:p>
        </p:txBody>
      </p:sp>
      <p:sp>
        <p:nvSpPr>
          <p:cNvPr id="12" name="Rounded Rectangle 11"/>
          <p:cNvSpPr/>
          <p:nvPr/>
        </p:nvSpPr>
        <p:spPr>
          <a:xfrm>
            <a:off x="6126480" y="1463040"/>
            <a:ext cx="5486400" cy="233172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627632"/>
            <a:ext cx="5029200" cy="365760"/>
          </a:xfrm>
          <a:prstGeom prst="rect">
            <a:avLst/>
          </a:prstGeom>
          <a:noFill/>
        </p:spPr>
        <p:txBody>
          <a:bodyPr wrap="square" lIns="0" rIns="0" tIns="0" bIns="0" anchor="t">
            <a:spAutoFit/>
          </a:bodyPr>
          <a:lstStyle/>
          <a:p>
            <a:pPr algn="l">
              <a:spcAft>
                <a:spcPts val="400"/>
              </a:spcAft>
            </a:pPr>
            <a:r>
              <a:rPr sz="1700" b="1" i="0">
                <a:solidFill>
                  <a:srgbClr val="1B2A4A"/>
                </a:solidFill>
                <a:latin typeface="Calibri"/>
              </a:rPr>
              <a:t>Identical records capped at the printed count</a:t>
            </a:r>
          </a:p>
        </p:txBody>
      </p:sp>
      <p:sp>
        <p:nvSpPr>
          <p:cNvPr id="14" name="TextBox 13"/>
          <p:cNvSpPr txBox="1"/>
          <p:nvPr/>
        </p:nvSpPr>
        <p:spPr>
          <a:xfrm>
            <a:off x="6355080" y="1993392"/>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FTX creditor list, text layer (long)</a:t>
            </a:r>
          </a:p>
        </p:txBody>
      </p:sp>
      <p:sp>
        <p:nvSpPr>
          <p:cNvPr id="15" name="TextBox 14"/>
          <p:cNvSpPr txBox="1"/>
          <p:nvPr/>
        </p:nvSpPr>
        <p:spPr>
          <a:xfrm>
            <a:off x="6355080" y="2331720"/>
            <a:ext cx="5029200" cy="548640"/>
          </a:xfrm>
          <a:prstGeom prst="rect">
            <a:avLst/>
          </a:prstGeom>
          <a:noFill/>
        </p:spPr>
        <p:txBody>
          <a:bodyPr wrap="square" lIns="0" rIns="0" tIns="0" bIns="0" anchor="t">
            <a:spAutoFit/>
          </a:bodyPr>
          <a:lstStyle/>
          <a:p>
            <a:pPr algn="l">
              <a:spcAft>
                <a:spcPts val="400"/>
              </a:spcAft>
            </a:pPr>
            <a:r>
              <a:rPr sz="2400" b="1" i="0">
                <a:solidFill>
                  <a:srgbClr val="1E8C6E"/>
                </a:solidFill>
                <a:latin typeface="Calibri"/>
              </a:rPr>
              <a:t>146 → 37 rows on page 59</a:t>
            </a:r>
          </a:p>
        </p:txBody>
      </p:sp>
      <p:sp>
        <p:nvSpPr>
          <p:cNvPr id="16" name="TextBox 15"/>
          <p:cNvSpPr txBox="1"/>
          <p:nvPr/>
        </p:nvSpPr>
        <p:spPr>
          <a:xfrm>
            <a:off x="6355080" y="2880360"/>
            <a:ext cx="5029200" cy="50292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Page 59 prints the line “NAME ON FILE” 37 times; the reading had 146.</a:t>
            </a:r>
          </a:p>
        </p:txBody>
      </p:sp>
      <p:sp>
        <p:nvSpPr>
          <p:cNvPr id="17" name="TextBox 16"/>
          <p:cNvSpPr txBox="1"/>
          <p:nvPr/>
        </p:nvSpPr>
        <p:spPr>
          <a:xfrm>
            <a:off x="6355080" y="3401568"/>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Value F1  </a:t>
            </a:r>
            <a:r>
              <a:rPr sz="1200" b="1" i="0">
                <a:solidFill>
                  <a:srgbClr val="23314F"/>
                </a:solidFill>
                <a:latin typeface="Calibri"/>
              </a:rPr>
              <a:t>84.47 → 90.77</a:t>
            </a:r>
          </a:p>
        </p:txBody>
      </p:sp>
      <p:sp>
        <p:nvSpPr>
          <p:cNvPr id="18" name="Rounded Rectangle 17"/>
          <p:cNvSpPr/>
          <p:nvPr/>
        </p:nvSpPr>
        <p:spPr>
          <a:xfrm>
            <a:off x="457200" y="3950208"/>
            <a:ext cx="5486400" cy="233172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114800"/>
            <a:ext cx="5029200" cy="365760"/>
          </a:xfrm>
          <a:prstGeom prst="rect">
            <a:avLst/>
          </a:prstGeom>
          <a:noFill/>
        </p:spPr>
        <p:txBody>
          <a:bodyPr wrap="square" lIns="0" rIns="0" tIns="0" bIns="0" anchor="t">
            <a:spAutoFit/>
          </a:bodyPr>
          <a:lstStyle/>
          <a:p>
            <a:pPr algn="l">
              <a:spcAft>
                <a:spcPts val="400"/>
              </a:spcAft>
            </a:pPr>
            <a:r>
              <a:rPr sz="1700" b="1" i="0">
                <a:solidFill>
                  <a:srgbClr val="1B2A4A"/>
                </a:solidFill>
                <a:latin typeface="Calibri"/>
              </a:rPr>
              <a:t>Stacked lines folded into one record</a:t>
            </a:r>
          </a:p>
        </p:txBody>
      </p:sp>
      <p:sp>
        <p:nvSpPr>
          <p:cNvPr id="20" name="TextBox 19"/>
          <p:cNvSpPr txBox="1"/>
          <p:nvPr/>
        </p:nvSpPr>
        <p:spPr>
          <a:xfrm>
            <a:off x="685800" y="4480560"/>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Clinical adverse-event listing (long)</a:t>
            </a:r>
          </a:p>
        </p:txBody>
      </p:sp>
      <p:sp>
        <p:nvSpPr>
          <p:cNvPr id="21" name="TextBox 20"/>
          <p:cNvSpPr txBox="1"/>
          <p:nvPr/>
        </p:nvSpPr>
        <p:spPr>
          <a:xfrm>
            <a:off x="685800" y="4818888"/>
            <a:ext cx="5029200" cy="548640"/>
          </a:xfrm>
          <a:prstGeom prst="rect">
            <a:avLst/>
          </a:prstGeom>
          <a:noFill/>
        </p:spPr>
        <p:txBody>
          <a:bodyPr wrap="square" lIns="0" rIns="0" tIns="0" bIns="0" anchor="t">
            <a:spAutoFit/>
          </a:bodyPr>
          <a:lstStyle/>
          <a:p>
            <a:pPr algn="l">
              <a:spcAft>
                <a:spcPts val="400"/>
              </a:spcAft>
            </a:pPr>
            <a:r>
              <a:rPr sz="2400" b="1" i="0">
                <a:solidFill>
                  <a:srgbClr val="1E8C6E"/>
                </a:solidFill>
                <a:latin typeface="Calibri"/>
              </a:rPr>
              <a:t>1,499 → 668 records</a:t>
            </a:r>
          </a:p>
        </p:txBody>
      </p:sp>
      <p:sp>
        <p:nvSpPr>
          <p:cNvPr id="22" name="TextBox 21"/>
          <p:cNvSpPr txBox="1"/>
          <p:nvPr/>
        </p:nvSpPr>
        <p:spPr>
          <a:xfrm>
            <a:off x="685800" y="5367528"/>
            <a:ext cx="5029200" cy="50292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Subject R1002: three printed lines became one event with its resolved date.</a:t>
            </a:r>
          </a:p>
        </p:txBody>
      </p:sp>
      <p:sp>
        <p:nvSpPr>
          <p:cNvPr id="23" name="TextBox 22"/>
          <p:cNvSpPr txBox="1"/>
          <p:nvPr/>
        </p:nvSpPr>
        <p:spPr>
          <a:xfrm>
            <a:off x="685800" y="5888736"/>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Value F1  </a:t>
            </a:r>
            <a:r>
              <a:rPr sz="1200" b="1" i="0">
                <a:solidFill>
                  <a:srgbClr val="23314F"/>
                </a:solidFill>
                <a:latin typeface="Calibri"/>
              </a:rPr>
              <a:t>38.80 → 68.77</a:t>
            </a:r>
          </a:p>
        </p:txBody>
      </p:sp>
      <p:sp>
        <p:nvSpPr>
          <p:cNvPr id="24" name="Rounded Rectangle 23"/>
          <p:cNvSpPr/>
          <p:nvPr/>
        </p:nvSpPr>
        <p:spPr>
          <a:xfrm>
            <a:off x="6126480" y="3950208"/>
            <a:ext cx="5486400" cy="233172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4114800"/>
            <a:ext cx="5029200" cy="365760"/>
          </a:xfrm>
          <a:prstGeom prst="rect">
            <a:avLst/>
          </a:prstGeom>
          <a:noFill/>
        </p:spPr>
        <p:txBody>
          <a:bodyPr wrap="square" lIns="0" rIns="0" tIns="0" bIns="0" anchor="t">
            <a:spAutoFit/>
          </a:bodyPr>
          <a:lstStyle/>
          <a:p>
            <a:pPr algn="l">
              <a:spcAft>
                <a:spcPts val="400"/>
              </a:spcAft>
            </a:pPr>
            <a:r>
              <a:rPr sz="1700" b="1" i="0">
                <a:solidFill>
                  <a:srgbClr val="1B2A4A"/>
                </a:solidFill>
                <a:latin typeface="Calibri"/>
              </a:rPr>
              <a:t>Template rows dropped</a:t>
            </a:r>
          </a:p>
        </p:txBody>
      </p:sp>
      <p:sp>
        <p:nvSpPr>
          <p:cNvPr id="26" name="TextBox 25"/>
          <p:cNvSpPr txBox="1"/>
          <p:nvPr/>
        </p:nvSpPr>
        <p:spPr>
          <a:xfrm>
            <a:off x="6355080" y="4480560"/>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Texas W-14 well form (short)</a:t>
            </a:r>
          </a:p>
        </p:txBody>
      </p:sp>
      <p:sp>
        <p:nvSpPr>
          <p:cNvPr id="27" name="TextBox 26"/>
          <p:cNvSpPr txBox="1"/>
          <p:nvPr/>
        </p:nvSpPr>
        <p:spPr>
          <a:xfrm>
            <a:off x="6355080" y="4818888"/>
            <a:ext cx="5029200" cy="548640"/>
          </a:xfrm>
          <a:prstGeom prst="rect">
            <a:avLst/>
          </a:prstGeom>
          <a:noFill/>
        </p:spPr>
        <p:txBody>
          <a:bodyPr wrap="square" lIns="0" rIns="0" tIns="0" bIns="0" anchor="t">
            <a:spAutoFit/>
          </a:bodyPr>
          <a:lstStyle/>
          <a:p>
            <a:pPr algn="l">
              <a:spcAft>
                <a:spcPts val="400"/>
              </a:spcAft>
            </a:pPr>
            <a:r>
              <a:rPr sz="2400" b="1" i="0">
                <a:solidFill>
                  <a:srgbClr val="1E8C6E"/>
                </a:solidFill>
                <a:latin typeface="Calibri"/>
              </a:rPr>
              <a:t>5 → 2 casing rows</a:t>
            </a:r>
          </a:p>
        </p:txBody>
      </p:sp>
      <p:sp>
        <p:nvSpPr>
          <p:cNvPr id="28" name="TextBox 27"/>
          <p:cNvSpPr txBox="1"/>
          <p:nvPr/>
        </p:nvSpPr>
        <p:spPr>
          <a:xfrm>
            <a:off x="6355080" y="5367528"/>
            <a:ext cx="5029200" cy="50292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Three rows had only the printed row label (e.g. “Intermediate”) and nothing filled.</a:t>
            </a:r>
          </a:p>
        </p:txBody>
      </p:sp>
      <p:sp>
        <p:nvSpPr>
          <p:cNvPr id="29" name="TextBox 28"/>
          <p:cNvSpPr txBox="1"/>
          <p:nvPr/>
        </p:nvSpPr>
        <p:spPr>
          <a:xfrm>
            <a:off x="6355080" y="5888736"/>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Value F1  </a:t>
            </a:r>
            <a:r>
              <a:rPr sz="1200" b="1" i="0">
                <a:solidFill>
                  <a:srgbClr val="23314F"/>
                </a:solidFill>
                <a:latin typeface="Calibri"/>
              </a:rPr>
              <a:t>82.30 → 93.23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274320"/>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3" name="TextBox 2"/>
          <p:cNvSpPr txBox="1"/>
          <p:nvPr/>
        </p:nvSpPr>
        <p:spPr>
          <a:xfrm>
            <a:off x="896112" y="283464"/>
            <a:ext cx="8229600" cy="329184"/>
          </a:xfrm>
          <a:prstGeom prst="rect">
            <a:avLst/>
          </a:prstGeom>
          <a:noFill/>
        </p:spPr>
        <p:txBody>
          <a:bodyPr wrap="square" lIns="0" rIns="0" tIns="0" bIns="0" anchor="ctr">
            <a:spAutoFit/>
          </a:bodyPr>
          <a:lstStyle/>
          <a:p>
            <a:pPr algn="l">
              <a:spcAft>
                <a:spcPts val="400"/>
              </a:spcAft>
            </a:pPr>
            <a:r>
              <a:rPr sz="1200" b="1" i="0">
                <a:solidFill>
                  <a:srgbClr val="1B2A4A"/>
                </a:solidFill>
                <a:latin typeface="Calibri"/>
              </a:rPr>
              <a:t>CHECK: VALUES</a:t>
            </a:r>
          </a:p>
        </p:txBody>
      </p:sp>
      <p:sp>
        <p:nvSpPr>
          <p:cNvPr id="4" name="TextBox 3"/>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Checks that make values exactly what the page prints</a:t>
            </a:r>
          </a:p>
        </p:txBody>
      </p:sp>
      <p:sp>
        <p:nvSpPr>
          <p:cNvPr id="5" name="TextBox 4"/>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Stored readings before and after each check, re-run with docquorum/checks and scored with ExtractBench's scorer.</a:t>
            </a:r>
          </a:p>
        </p:txBody>
      </p:sp>
      <p:sp>
        <p:nvSpPr>
          <p:cNvPr id="6" name="Rounded Rectangle 5"/>
          <p:cNvSpPr/>
          <p:nvPr/>
        </p:nvSpPr>
        <p:spPr>
          <a:xfrm>
            <a:off x="457200" y="1463040"/>
            <a:ext cx="5486400" cy="233172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27632"/>
            <a:ext cx="5029200" cy="365760"/>
          </a:xfrm>
          <a:prstGeom prst="rect">
            <a:avLst/>
          </a:prstGeom>
          <a:noFill/>
        </p:spPr>
        <p:txBody>
          <a:bodyPr wrap="square" lIns="0" rIns="0" tIns="0" bIns="0" anchor="t">
            <a:spAutoFit/>
          </a:bodyPr>
          <a:lstStyle/>
          <a:p>
            <a:pPr algn="l">
              <a:spcAft>
                <a:spcPts val="400"/>
              </a:spcAft>
            </a:pPr>
            <a:r>
              <a:rPr sz="1700" b="1" i="0">
                <a:solidFill>
                  <a:srgbClr val="1B2A4A"/>
                </a:solidFill>
                <a:latin typeface="Calibri"/>
              </a:rPr>
              <a:t>Every schema field present</a:t>
            </a:r>
          </a:p>
        </p:txBody>
      </p:sp>
      <p:sp>
        <p:nvSpPr>
          <p:cNvPr id="8" name="TextBox 7"/>
          <p:cNvSpPr txBox="1"/>
          <p:nvPr/>
        </p:nvSpPr>
        <p:spPr>
          <a:xfrm>
            <a:off x="685800" y="1993392"/>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Caterpillar 330 excavator spec sheet (short)</a:t>
            </a:r>
          </a:p>
        </p:txBody>
      </p:sp>
      <p:sp>
        <p:nvSpPr>
          <p:cNvPr id="9" name="TextBox 8"/>
          <p:cNvSpPr txBox="1"/>
          <p:nvPr/>
        </p:nvSpPr>
        <p:spPr>
          <a:xfrm>
            <a:off x="685800" y="2331720"/>
            <a:ext cx="5029200" cy="548640"/>
          </a:xfrm>
          <a:prstGeom prst="rect">
            <a:avLst/>
          </a:prstGeom>
          <a:noFill/>
        </p:spPr>
        <p:txBody>
          <a:bodyPr wrap="square" lIns="0" rIns="0" tIns="0" bIns="0" anchor="t">
            <a:spAutoFit/>
          </a:bodyPr>
          <a:lstStyle/>
          <a:p>
            <a:pPr algn="l">
              <a:spcAft>
                <a:spcPts val="400"/>
              </a:spcAft>
            </a:pPr>
            <a:r>
              <a:rPr sz="2400" b="1" i="0">
                <a:solidFill>
                  <a:srgbClr val="1E8C6E"/>
                </a:solidFill>
                <a:latin typeface="Calibri"/>
              </a:rPr>
              <a:t>missing keys → null</a:t>
            </a:r>
          </a:p>
        </p:txBody>
      </p:sp>
      <p:sp>
        <p:nvSpPr>
          <p:cNvPr id="10" name="TextBox 9"/>
          <p:cNvSpPr txBox="1"/>
          <p:nvPr/>
        </p:nvSpPr>
        <p:spPr>
          <a:xfrm>
            <a:off x="685800" y="2880360"/>
            <a:ext cx="5029200" cy="50292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The reply left 7 optional fields out of every spec row; the scorer counts an absent key as a miss.</a:t>
            </a:r>
          </a:p>
        </p:txBody>
      </p:sp>
      <p:sp>
        <p:nvSpPr>
          <p:cNvPr id="11" name="TextBox 10"/>
          <p:cNvSpPr txBox="1"/>
          <p:nvPr/>
        </p:nvSpPr>
        <p:spPr>
          <a:xfrm>
            <a:off x="685800" y="3401568"/>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Value F1  </a:t>
            </a:r>
            <a:r>
              <a:rPr sz="1200" b="1" i="0">
                <a:solidFill>
                  <a:srgbClr val="23314F"/>
                </a:solidFill>
                <a:latin typeface="Calibri"/>
              </a:rPr>
              <a:t>61.48 → 95.74</a:t>
            </a:r>
          </a:p>
        </p:txBody>
      </p:sp>
      <p:sp>
        <p:nvSpPr>
          <p:cNvPr id="12" name="Rounded Rectangle 11"/>
          <p:cNvSpPr/>
          <p:nvPr/>
        </p:nvSpPr>
        <p:spPr>
          <a:xfrm>
            <a:off x="6126480" y="1463040"/>
            <a:ext cx="5486400" cy="233172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627632"/>
            <a:ext cx="5029200" cy="365760"/>
          </a:xfrm>
          <a:prstGeom prst="rect">
            <a:avLst/>
          </a:prstGeom>
          <a:noFill/>
        </p:spPr>
        <p:txBody>
          <a:bodyPr wrap="square" lIns="0" rIns="0" tIns="0" bIns="0" anchor="t">
            <a:spAutoFit/>
          </a:bodyPr>
          <a:lstStyle/>
          <a:p>
            <a:pPr algn="l">
              <a:spcAft>
                <a:spcPts val="400"/>
              </a:spcAft>
            </a:pPr>
            <a:r>
              <a:rPr sz="1700" b="1" i="0">
                <a:solidFill>
                  <a:srgbClr val="1B2A4A"/>
                </a:solidFill>
                <a:latin typeface="Calibri"/>
              </a:rPr>
              <a:t>A blank tick box is false</a:t>
            </a:r>
          </a:p>
        </p:txBody>
      </p:sp>
      <p:sp>
        <p:nvSpPr>
          <p:cNvPr id="14" name="TextBox 13"/>
          <p:cNvSpPr txBox="1"/>
          <p:nvPr/>
        </p:nvSpPr>
        <p:spPr>
          <a:xfrm>
            <a:off x="6355080" y="1993392"/>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Texas P-4 form (short)</a:t>
            </a:r>
          </a:p>
        </p:txBody>
      </p:sp>
      <p:sp>
        <p:nvSpPr>
          <p:cNvPr id="15" name="TextBox 14"/>
          <p:cNvSpPr txBox="1"/>
          <p:nvPr/>
        </p:nvSpPr>
        <p:spPr>
          <a:xfrm>
            <a:off x="6355080" y="2331720"/>
            <a:ext cx="5029200" cy="548640"/>
          </a:xfrm>
          <a:prstGeom prst="rect">
            <a:avLst/>
          </a:prstGeom>
          <a:noFill/>
        </p:spPr>
        <p:txBody>
          <a:bodyPr wrap="square" lIns="0" rIns="0" tIns="0" bIns="0" anchor="t">
            <a:spAutoFit/>
          </a:bodyPr>
          <a:lstStyle/>
          <a:p>
            <a:pPr algn="l">
              <a:spcAft>
                <a:spcPts val="400"/>
              </a:spcAft>
            </a:pPr>
            <a:r>
              <a:rPr sz="2400" b="1" i="0">
                <a:solidFill>
                  <a:srgbClr val="1E8C6E"/>
                </a:solidFill>
                <a:latin typeface="Calibri"/>
              </a:rPr>
              <a:t>6 boxes: null → false</a:t>
            </a:r>
          </a:p>
        </p:txBody>
      </p:sp>
      <p:sp>
        <p:nvSpPr>
          <p:cNvPr id="16" name="TextBox 15"/>
          <p:cNvSpPr txBox="1"/>
          <p:nvPr/>
        </p:nvSpPr>
        <p:spPr>
          <a:xfrm>
            <a:off x="6355080" y="2880360"/>
            <a:ext cx="5029200" cy="50292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The field description says “false if left blank”; the reader had returned null.</a:t>
            </a:r>
          </a:p>
        </p:txBody>
      </p:sp>
      <p:sp>
        <p:nvSpPr>
          <p:cNvPr id="17" name="TextBox 16"/>
          <p:cNvSpPr txBox="1"/>
          <p:nvPr/>
        </p:nvSpPr>
        <p:spPr>
          <a:xfrm>
            <a:off x="6355080" y="3401568"/>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Value F1  </a:t>
            </a:r>
            <a:r>
              <a:rPr sz="1200" b="1" i="0">
                <a:solidFill>
                  <a:srgbClr val="23314F"/>
                </a:solidFill>
                <a:latin typeface="Calibri"/>
              </a:rPr>
              <a:t>91.67 → 96.67</a:t>
            </a:r>
          </a:p>
        </p:txBody>
      </p:sp>
      <p:sp>
        <p:nvSpPr>
          <p:cNvPr id="18" name="Rounded Rectangle 17"/>
          <p:cNvSpPr/>
          <p:nvPr/>
        </p:nvSpPr>
        <p:spPr>
          <a:xfrm>
            <a:off x="457200" y="3950208"/>
            <a:ext cx="5486400" cy="233172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114800"/>
            <a:ext cx="5029200" cy="365760"/>
          </a:xfrm>
          <a:prstGeom prst="rect">
            <a:avLst/>
          </a:prstGeom>
          <a:noFill/>
        </p:spPr>
        <p:txBody>
          <a:bodyPr wrap="square" lIns="0" rIns="0" tIns="0" bIns="0" anchor="t">
            <a:spAutoFit/>
          </a:bodyPr>
          <a:lstStyle/>
          <a:p>
            <a:pPr algn="l">
              <a:spcAft>
                <a:spcPts val="400"/>
              </a:spcAft>
            </a:pPr>
            <a:r>
              <a:rPr sz="1700" b="1" i="0">
                <a:solidFill>
                  <a:srgbClr val="1B2A4A"/>
                </a:solidFill>
                <a:latin typeface="Calibri"/>
              </a:rPr>
              <a:t>Quotes as printed</a:t>
            </a:r>
          </a:p>
        </p:txBody>
      </p:sp>
      <p:sp>
        <p:nvSpPr>
          <p:cNvPr id="20" name="TextBox 19"/>
          <p:cNvSpPr txBox="1"/>
          <p:nvPr/>
        </p:nvSpPr>
        <p:spPr>
          <a:xfrm>
            <a:off x="685800" y="4480560"/>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Census statistical table (short)</a:t>
            </a:r>
          </a:p>
        </p:txBody>
      </p:sp>
      <p:sp>
        <p:nvSpPr>
          <p:cNvPr id="21" name="TextBox 20"/>
          <p:cNvSpPr txBox="1"/>
          <p:nvPr/>
        </p:nvSpPr>
        <p:spPr>
          <a:xfrm>
            <a:off x="685800" y="4818888"/>
            <a:ext cx="5029200" cy="548640"/>
          </a:xfrm>
          <a:prstGeom prst="rect">
            <a:avLst/>
          </a:prstGeom>
          <a:noFill/>
        </p:spPr>
        <p:txBody>
          <a:bodyPr wrap="square" lIns="0" rIns="0" tIns="0" bIns="0" anchor="t">
            <a:spAutoFit/>
          </a:bodyPr>
          <a:lstStyle/>
          <a:p>
            <a:pPr algn="l">
              <a:spcAft>
                <a:spcPts val="400"/>
              </a:spcAft>
            </a:pPr>
            <a:r>
              <a:rPr sz="2400" b="1" i="0">
                <a:solidFill>
                  <a:srgbClr val="1E8C6E"/>
                </a:solidFill>
                <a:latin typeface="Calibri"/>
              </a:rPr>
              <a:t>Bachelor's → Bachelor’s</a:t>
            </a:r>
          </a:p>
        </p:txBody>
      </p:sp>
      <p:sp>
        <p:nvSpPr>
          <p:cNvPr id="22" name="TextBox 21"/>
          <p:cNvSpPr txBox="1"/>
          <p:nvPr/>
        </p:nvSpPr>
        <p:spPr>
          <a:xfrm>
            <a:off x="685800" y="5367528"/>
            <a:ext cx="5029200" cy="50292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The page prints a curly apostrophe; only the quote character is copied from the page.</a:t>
            </a:r>
          </a:p>
        </p:txBody>
      </p:sp>
      <p:sp>
        <p:nvSpPr>
          <p:cNvPr id="23" name="TextBox 22"/>
          <p:cNvSpPr txBox="1"/>
          <p:nvPr/>
        </p:nvSpPr>
        <p:spPr>
          <a:xfrm>
            <a:off x="685800" y="5888736"/>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Value F1  </a:t>
            </a:r>
            <a:r>
              <a:rPr sz="1200" b="1" i="0">
                <a:solidFill>
                  <a:srgbClr val="23314F"/>
                </a:solidFill>
                <a:latin typeface="Calibri"/>
              </a:rPr>
              <a:t>60.12 → 62.58</a:t>
            </a:r>
          </a:p>
        </p:txBody>
      </p:sp>
      <p:sp>
        <p:nvSpPr>
          <p:cNvPr id="24" name="Rounded Rectangle 23"/>
          <p:cNvSpPr/>
          <p:nvPr/>
        </p:nvSpPr>
        <p:spPr>
          <a:xfrm>
            <a:off x="6126480" y="3950208"/>
            <a:ext cx="5486400" cy="233172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4114800"/>
            <a:ext cx="5029200" cy="365760"/>
          </a:xfrm>
          <a:prstGeom prst="rect">
            <a:avLst/>
          </a:prstGeom>
          <a:noFill/>
        </p:spPr>
        <p:txBody>
          <a:bodyPr wrap="square" lIns="0" rIns="0" tIns="0" bIns="0" anchor="t">
            <a:spAutoFit/>
          </a:bodyPr>
          <a:lstStyle/>
          <a:p>
            <a:pPr algn="l">
              <a:spcAft>
                <a:spcPts val="400"/>
              </a:spcAft>
            </a:pPr>
            <a:r>
              <a:rPr sz="1700" b="1" i="0">
                <a:solidFill>
                  <a:srgbClr val="1B2A4A"/>
                </a:solidFill>
                <a:latin typeface="Calibri"/>
              </a:rPr>
              <a:t>Numbers as printed</a:t>
            </a:r>
          </a:p>
        </p:txBody>
      </p:sp>
      <p:sp>
        <p:nvSpPr>
          <p:cNvPr id="26" name="TextBox 25"/>
          <p:cNvSpPr txBox="1"/>
          <p:nvPr/>
        </p:nvSpPr>
        <p:spPr>
          <a:xfrm>
            <a:off x="6355080" y="4480560"/>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Schedule K-1 (short, one-shot reading)</a:t>
            </a:r>
          </a:p>
        </p:txBody>
      </p:sp>
      <p:sp>
        <p:nvSpPr>
          <p:cNvPr id="27" name="TextBox 26"/>
          <p:cNvSpPr txBox="1"/>
          <p:nvPr/>
        </p:nvSpPr>
        <p:spPr>
          <a:xfrm>
            <a:off x="6355080" y="4818888"/>
            <a:ext cx="5029200" cy="548640"/>
          </a:xfrm>
          <a:prstGeom prst="rect">
            <a:avLst/>
          </a:prstGeom>
          <a:noFill/>
        </p:spPr>
        <p:txBody>
          <a:bodyPr wrap="square" lIns="0" rIns="0" tIns="0" bIns="0" anchor="t">
            <a:spAutoFit/>
          </a:bodyPr>
          <a:lstStyle/>
          <a:p>
            <a:pPr algn="l">
              <a:spcAft>
                <a:spcPts val="400"/>
              </a:spcAft>
            </a:pPr>
            <a:r>
              <a:rPr sz="2400" b="1" i="0">
                <a:solidFill>
                  <a:srgbClr val="1E8C6E"/>
                </a:solidFill>
                <a:latin typeface="Calibri"/>
              </a:rPr>
              <a:t>33.333333 → 33.3333333</a:t>
            </a:r>
          </a:p>
        </p:txBody>
      </p:sp>
      <p:sp>
        <p:nvSpPr>
          <p:cNvPr id="28" name="TextBox 27"/>
          <p:cNvSpPr txBox="1"/>
          <p:nvPr/>
        </p:nvSpPr>
        <p:spPr>
          <a:xfrm>
            <a:off x="6355080" y="5367528"/>
            <a:ext cx="5029200" cy="50292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A rounded value is replaced by the one printed figure it restates (6 share fields).</a:t>
            </a:r>
          </a:p>
        </p:txBody>
      </p:sp>
      <p:sp>
        <p:nvSpPr>
          <p:cNvPr id="29" name="TextBox 28"/>
          <p:cNvSpPr txBox="1"/>
          <p:nvPr/>
        </p:nvSpPr>
        <p:spPr>
          <a:xfrm>
            <a:off x="6355080" y="5888736"/>
            <a:ext cx="5029200" cy="27432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Value F1  </a:t>
            </a:r>
            <a:r>
              <a:rPr sz="1200" b="1" i="0">
                <a:solidFill>
                  <a:srgbClr val="23314F"/>
                </a:solidFill>
                <a:latin typeface="Calibri"/>
              </a:rPr>
              <a:t>85.42 → 97.92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274320"/>
            <a:ext cx="347472" cy="347472"/>
          </a:xfrm>
          <a:prstGeom prst="ellipse">
            <a:avLst/>
          </a:prstGeom>
          <a:solidFill>
            <a:srgbClr val="3E9E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3" name="TextBox 2"/>
          <p:cNvSpPr txBox="1"/>
          <p:nvPr/>
        </p:nvSpPr>
        <p:spPr>
          <a:xfrm>
            <a:off x="896112" y="283464"/>
            <a:ext cx="8229600" cy="329184"/>
          </a:xfrm>
          <a:prstGeom prst="rect">
            <a:avLst/>
          </a:prstGeom>
          <a:noFill/>
        </p:spPr>
        <p:txBody>
          <a:bodyPr wrap="square" lIns="0" rIns="0" tIns="0" bIns="0" anchor="ctr">
            <a:spAutoFit/>
          </a:bodyPr>
          <a:lstStyle/>
          <a:p>
            <a:pPr algn="l">
              <a:spcAft>
                <a:spcPts val="400"/>
              </a:spcAft>
            </a:pPr>
            <a:r>
              <a:rPr sz="1200" b="1" i="0">
                <a:solidFill>
                  <a:srgbClr val="3E9E5C"/>
                </a:solidFill>
                <a:latin typeface="Calibri"/>
              </a:rPr>
              <a:t>SELECT: THE QUORUM</a:t>
            </a:r>
          </a:p>
        </p:txBody>
      </p:sp>
      <p:sp>
        <p:nvSpPr>
          <p:cNvPr id="4" name="TextBox 3"/>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Keep the reading the others agree with most</a:t>
            </a:r>
          </a:p>
        </p:txBody>
      </p:sp>
      <p:sp>
        <p:nvSpPr>
          <p:cNvPr id="5" name="TextBox 4"/>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2A-9-160298_109929: agreement from docquorum.quorum on the checked readings. F1 shown for illustration only.</a:t>
            </a:r>
          </a:p>
        </p:txBody>
      </p:sp>
      <p:cxnSp>
        <p:nvCxnSpPr>
          <p:cNvPr id="6" name="Connector 5"/>
          <p:cNvCxnSpPr/>
          <p:nvPr/>
        </p:nvCxnSpPr>
        <p:spPr>
          <a:xfrm>
            <a:off x="1874520" y="2240280"/>
            <a:ext cx="3017520" cy="0"/>
          </a:xfrm>
          <a:prstGeom prst="line">
            <a:avLst/>
          </a:prstGeom>
          <a:ln w="31750">
            <a:solidFill>
              <a:srgbClr val="9AA5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743200" y="1783080"/>
            <a:ext cx="1188720" cy="320040"/>
          </a:xfrm>
          <a:prstGeom prst="rect">
            <a:avLst/>
          </a:prstGeom>
          <a:noFill/>
        </p:spPr>
        <p:txBody>
          <a:bodyPr wrap="square" lIns="0" rIns="0" tIns="0" bIns="0" anchor="t">
            <a:spAutoFit/>
          </a:bodyPr>
          <a:lstStyle/>
          <a:p>
            <a:pPr algn="ctr">
              <a:spcAft>
                <a:spcPts val="400"/>
              </a:spcAft>
            </a:pPr>
            <a:r>
              <a:rPr sz="1400" b="1" i="0">
                <a:solidFill>
                  <a:srgbClr val="1B2A4A"/>
                </a:solidFill>
                <a:latin typeface="Calibri"/>
              </a:rPr>
              <a:t>0.98</a:t>
            </a:r>
          </a:p>
        </p:txBody>
      </p:sp>
      <p:cxnSp>
        <p:nvCxnSpPr>
          <p:cNvPr id="8" name="Connector 7"/>
          <p:cNvCxnSpPr/>
          <p:nvPr/>
        </p:nvCxnSpPr>
        <p:spPr>
          <a:xfrm>
            <a:off x="1874520" y="2240280"/>
            <a:ext cx="1508760" cy="2514600"/>
          </a:xfrm>
          <a:prstGeom prst="line">
            <a:avLst/>
          </a:prstGeom>
          <a:ln w="31750">
            <a:solidFill>
              <a:srgbClr val="9AA5B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17320" y="3337560"/>
            <a:ext cx="1188720" cy="320040"/>
          </a:xfrm>
          <a:prstGeom prst="rect">
            <a:avLst/>
          </a:prstGeom>
          <a:noFill/>
        </p:spPr>
        <p:txBody>
          <a:bodyPr wrap="square" lIns="0" rIns="0" tIns="0" bIns="0" anchor="t">
            <a:spAutoFit/>
          </a:bodyPr>
          <a:lstStyle/>
          <a:p>
            <a:pPr algn="ctr">
              <a:spcAft>
                <a:spcPts val="400"/>
              </a:spcAft>
            </a:pPr>
            <a:r>
              <a:rPr sz="1400" b="1" i="0">
                <a:solidFill>
                  <a:srgbClr val="1B2A4A"/>
                </a:solidFill>
                <a:latin typeface="Calibri"/>
              </a:rPr>
              <a:t>0.23</a:t>
            </a:r>
          </a:p>
        </p:txBody>
      </p:sp>
      <p:cxnSp>
        <p:nvCxnSpPr>
          <p:cNvPr id="10" name="Connector 9"/>
          <p:cNvCxnSpPr/>
          <p:nvPr/>
        </p:nvCxnSpPr>
        <p:spPr>
          <a:xfrm flipH="1">
            <a:off x="3383280" y="2240280"/>
            <a:ext cx="1508760" cy="2514600"/>
          </a:xfrm>
          <a:prstGeom prst="line">
            <a:avLst/>
          </a:prstGeom>
          <a:ln w="31750">
            <a:solidFill>
              <a:srgbClr val="9AA5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069080" y="3337560"/>
            <a:ext cx="1188720" cy="320040"/>
          </a:xfrm>
          <a:prstGeom prst="rect">
            <a:avLst/>
          </a:prstGeom>
          <a:noFill/>
        </p:spPr>
        <p:txBody>
          <a:bodyPr wrap="square" lIns="0" rIns="0" tIns="0" bIns="0" anchor="t">
            <a:spAutoFit/>
          </a:bodyPr>
          <a:lstStyle/>
          <a:p>
            <a:pPr algn="ctr">
              <a:spcAft>
                <a:spcPts val="400"/>
              </a:spcAft>
            </a:pPr>
            <a:r>
              <a:rPr sz="1400" b="1" i="0">
                <a:solidFill>
                  <a:srgbClr val="1B2A4A"/>
                </a:solidFill>
                <a:latin typeface="Calibri"/>
              </a:rPr>
              <a:t>0.23</a:t>
            </a:r>
          </a:p>
        </p:txBody>
      </p:sp>
      <p:sp>
        <p:nvSpPr>
          <p:cNvPr id="12" name="Oval 11"/>
          <p:cNvSpPr/>
          <p:nvPr/>
        </p:nvSpPr>
        <p:spPr>
          <a:xfrm>
            <a:off x="1463040" y="1828800"/>
            <a:ext cx="822960" cy="822960"/>
          </a:xfrm>
          <a:prstGeom prst="ellipse">
            <a:avLst/>
          </a:prstGeom>
          <a:solidFill>
            <a:srgbClr val="2F7F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Calibri"/>
              </a:rPr>
              <a:t>P</a:t>
            </a:r>
          </a:p>
        </p:txBody>
      </p:sp>
      <p:sp>
        <p:nvSpPr>
          <p:cNvPr id="13" name="Oval 12"/>
          <p:cNvSpPr/>
          <p:nvPr/>
        </p:nvSpPr>
        <p:spPr>
          <a:xfrm>
            <a:off x="4480560" y="1828800"/>
            <a:ext cx="822960" cy="822960"/>
          </a:xfrm>
          <a:prstGeom prst="ellipse">
            <a:avLst/>
          </a:prstGeom>
          <a:solidFill>
            <a:srgbClr val="3E9E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Calibri"/>
              </a:rPr>
              <a:t>M</a:t>
            </a:r>
          </a:p>
        </p:txBody>
      </p:sp>
      <p:sp>
        <p:nvSpPr>
          <p:cNvPr id="14" name="Oval 13"/>
          <p:cNvSpPr/>
          <p:nvPr/>
        </p:nvSpPr>
        <p:spPr>
          <a:xfrm>
            <a:off x="2971800" y="4343400"/>
            <a:ext cx="822960" cy="822960"/>
          </a:xfrm>
          <a:prstGeom prst="ellipse">
            <a:avLst/>
          </a:prstGeom>
          <a:solidFill>
            <a:srgbClr val="7D5B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Calibri"/>
              </a:rPr>
              <a:t>O</a:t>
            </a:r>
          </a:p>
        </p:txBody>
      </p:sp>
      <p:sp>
        <p:nvSpPr>
          <p:cNvPr id="15" name="TextBox 14"/>
          <p:cNvSpPr txBox="1"/>
          <p:nvPr/>
        </p:nvSpPr>
        <p:spPr>
          <a:xfrm>
            <a:off x="457200" y="5394960"/>
            <a:ext cx="5486400" cy="822960"/>
          </a:xfrm>
          <a:prstGeom prst="rect">
            <a:avLst/>
          </a:prstGeom>
          <a:noFill/>
        </p:spPr>
        <p:txBody>
          <a:bodyPr wrap="square" lIns="0" rIns="0" tIns="0" bIns="0" anchor="t">
            <a:spAutoFit/>
          </a:bodyPr>
          <a:lstStyle/>
          <a:p>
            <a:pPr algn="l">
              <a:spcAft>
                <a:spcPts val="400"/>
              </a:spcAft>
            </a:pPr>
            <a:r>
              <a:rPr sz="1300" b="0" i="0">
                <a:solidFill>
                  <a:srgbClr val="23314F"/>
                </a:solidFill>
                <a:latin typeface="Calibri"/>
              </a:rPr>
              <a:t>Edge = how much two readings agree (recall-weighted value F-score). P and M agree almost completely; O agrees with neither.</a:t>
            </a:r>
          </a:p>
        </p:txBody>
      </p:sp>
      <p:sp>
        <p:nvSpPr>
          <p:cNvPr id="16" name="Rounded Rectangle 15"/>
          <p:cNvSpPr/>
          <p:nvPr/>
        </p:nvSpPr>
        <p:spPr>
          <a:xfrm>
            <a:off x="6309360" y="1463040"/>
            <a:ext cx="5422392" cy="2926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600200"/>
            <a:ext cx="5056631" cy="320040"/>
          </a:xfrm>
          <a:prstGeom prst="rect">
            <a:avLst/>
          </a:prstGeom>
          <a:noFill/>
        </p:spPr>
        <p:txBody>
          <a:bodyPr wrap="square" lIns="0" rIns="0" tIns="0" bIns="0" anchor="t">
            <a:spAutoFit/>
          </a:bodyPr>
          <a:lstStyle/>
          <a:p>
            <a:pPr algn="l">
              <a:spcAft>
                <a:spcPts val="400"/>
              </a:spcAft>
            </a:pPr>
            <a:r>
              <a:rPr sz="1600" b="1" i="0">
                <a:solidFill>
                  <a:srgbClr val="1B2A4A"/>
                </a:solidFill>
                <a:latin typeface="Calibri"/>
              </a:rPr>
              <a:t>Mean agreement with the other readings</a:t>
            </a:r>
          </a:p>
        </p:txBody>
      </p:sp>
      <p:graphicFrame>
        <p:nvGraphicFramePr>
          <p:cNvPr id="18" name="Table 17"/>
          <p:cNvGraphicFramePr>
            <a:graphicFrameLocks noGrp="1"/>
          </p:cNvGraphicFramePr>
          <p:nvPr/>
        </p:nvGraphicFramePr>
        <p:xfrm>
          <a:off x="6492240" y="1920240"/>
          <a:ext cx="5056632" cy="1536192"/>
        </p:xfrm>
        <a:graphic>
          <a:graphicData uri="http://schemas.openxmlformats.org/drawingml/2006/table">
            <a:tbl>
              <a:tblPr firstRow="1" bandRow="1">
                <a:tableStyleId>{5C22544A-7EE6-4342-B048-85BDC9FD1C3A}</a:tableStyleId>
              </a:tblPr>
              <a:tblGrid>
                <a:gridCol w="2560320"/>
                <a:gridCol w="1371600"/>
                <a:gridCol w="1124712"/>
              </a:tblGrid>
              <a:tr h="384048">
                <a:tc>
                  <a:txBody>
                    <a:bodyPr wrap="square"/>
                    <a:lstStyle/>
                    <a:p>
                      <a:pPr algn="l"/>
                      <a:r>
                        <a:rPr sz="1300" b="1">
                          <a:solidFill>
                            <a:srgbClr val="FFFFFF"/>
                          </a:solidFill>
                          <a:latin typeface="Calibri"/>
                        </a:rPr>
                        <a:t>reading</a:t>
                      </a:r>
                    </a:p>
                  </a:txBody>
                  <a:tcPr marL="54864" marR="54864" marT="18288" marB="18288" anchor="ctr">
                    <a:solidFill>
                      <a:srgbClr val="1B2A4A"/>
                    </a:solidFill>
                  </a:tcPr>
                </a:tc>
                <a:tc>
                  <a:txBody>
                    <a:bodyPr wrap="square"/>
                    <a:lstStyle/>
                    <a:p>
                      <a:pPr algn="r"/>
                      <a:r>
                        <a:rPr sz="1300" b="1">
                          <a:solidFill>
                            <a:srgbClr val="FFFFFF"/>
                          </a:solidFill>
                          <a:latin typeface="Calibri"/>
                        </a:rPr>
                        <a:t>agreement</a:t>
                      </a:r>
                    </a:p>
                  </a:txBody>
                  <a:tcPr marL="54864" marR="54864" marT="18288" marB="18288" anchor="ctr">
                    <a:solidFill>
                      <a:srgbClr val="1B2A4A"/>
                    </a:solidFill>
                  </a:tcPr>
                </a:tc>
                <a:tc>
                  <a:txBody>
                    <a:bodyPr wrap="square"/>
                    <a:lstStyle/>
                    <a:p>
                      <a:pPr algn="l"/>
                      <a:r>
                        <a:rPr sz="1300" b="1">
                          <a:solidFill>
                            <a:srgbClr val="FFFFFF"/>
                          </a:solidFill>
                          <a:latin typeface="Calibri"/>
                        </a:rPr>
                        <a:t>kept?</a:t>
                      </a:r>
                    </a:p>
                  </a:txBody>
                  <a:tcPr marL="54864" marR="54864" marT="18288" marB="18288" anchor="ctr">
                    <a:solidFill>
                      <a:srgbClr val="1B2A4A"/>
                    </a:solidFill>
                  </a:tcPr>
                </a:tc>
              </a:tr>
              <a:tr h="384048">
                <a:tc>
                  <a:txBody>
                    <a:bodyPr wrap="square"/>
                    <a:lstStyle/>
                    <a:p>
                      <a:pPr algn="l"/>
                      <a:r>
                        <a:rPr sz="1300" b="1">
                          <a:solidFill>
                            <a:srgbClr val="23314F"/>
                          </a:solidFill>
                          <a:latin typeface="Calibri"/>
                        </a:rPr>
                        <a:t>P  image reading</a:t>
                      </a:r>
                    </a:p>
                  </a:txBody>
                  <a:tcPr marL="54864" marR="54864" marT="18288" marB="18288" anchor="ctr">
                    <a:solidFill>
                      <a:srgbClr val="DDF1EA"/>
                    </a:solidFill>
                  </a:tcPr>
                </a:tc>
                <a:tc>
                  <a:txBody>
                    <a:bodyPr wrap="square"/>
                    <a:lstStyle/>
                    <a:p>
                      <a:pPr algn="r"/>
                      <a:r>
                        <a:rPr sz="1300" b="1">
                          <a:solidFill>
                            <a:srgbClr val="23314F"/>
                          </a:solidFill>
                          <a:latin typeface="Calibri"/>
                        </a:rPr>
                        <a:t>0.604</a:t>
                      </a:r>
                    </a:p>
                  </a:txBody>
                  <a:tcPr marL="54864" marR="54864" marT="18288" marB="18288" anchor="ctr">
                    <a:solidFill>
                      <a:srgbClr val="DDF1EA"/>
                    </a:solidFill>
                  </a:tcPr>
                </a:tc>
                <a:tc>
                  <a:txBody>
                    <a:bodyPr wrap="square"/>
                    <a:lstStyle/>
                    <a:p>
                      <a:pPr algn="l"/>
                      <a:r>
                        <a:rPr sz="1300" b="1">
                          <a:solidFill>
                            <a:srgbClr val="23314F"/>
                          </a:solidFill>
                          <a:latin typeface="Calibri"/>
                        </a:rPr>
                        <a:t>kept</a:t>
                      </a:r>
                    </a:p>
                  </a:txBody>
                  <a:tcPr marL="54864" marR="54864" marT="18288" marB="18288" anchor="ctr">
                    <a:solidFill>
                      <a:srgbClr val="DDF1EA"/>
                    </a:solidFill>
                  </a:tcPr>
                </a:tc>
              </a:tr>
              <a:tr h="384048">
                <a:tc>
                  <a:txBody>
                    <a:bodyPr wrap="square"/>
                    <a:lstStyle/>
                    <a:p>
                      <a:pPr algn="l"/>
                      <a:r>
                        <a:rPr sz="1300" b="0">
                          <a:solidFill>
                            <a:srgbClr val="23314F"/>
                          </a:solidFill>
                          <a:latin typeface="Calibri"/>
                        </a:rPr>
                        <a:t>M  parse reading</a:t>
                      </a:r>
                    </a:p>
                  </a:txBody>
                  <a:tcPr marL="54864" marR="54864" marT="18288" marB="18288" anchor="ctr">
                    <a:solidFill>
                      <a:srgbClr val="F6F8FB"/>
                    </a:solidFill>
                  </a:tcPr>
                </a:tc>
                <a:tc>
                  <a:txBody>
                    <a:bodyPr wrap="square"/>
                    <a:lstStyle/>
                    <a:p>
                      <a:pPr algn="r"/>
                      <a:r>
                        <a:rPr sz="1300" b="0">
                          <a:solidFill>
                            <a:srgbClr val="23314F"/>
                          </a:solidFill>
                          <a:latin typeface="Calibri"/>
                        </a:rPr>
                        <a:t>0.604</a:t>
                      </a:r>
                    </a:p>
                  </a:txBody>
                  <a:tcPr marL="54864" marR="54864" marT="18288" marB="18288" anchor="ctr">
                    <a:solidFill>
                      <a:srgbClr val="F6F8FB"/>
                    </a:solidFill>
                  </a:tcPr>
                </a:tc>
                <a:tc>
                  <a:txBody>
                    <a:bodyPr wrap="square"/>
                    <a:lstStyle/>
                    <a:p>
                      <a:pPr algn="l"/>
                      <a:r>
                        <a:rPr sz="1300" b="0">
                          <a:solidFill>
                            <a:srgbClr val="23314F"/>
                          </a:solidFill>
                          <a:latin typeface="Calibri"/>
                        </a:rPr>
                        <a:t/>
                      </a:r>
                    </a:p>
                  </a:txBody>
                  <a:tcPr marL="54864" marR="54864" marT="18288" marB="18288" anchor="ctr">
                    <a:solidFill>
                      <a:srgbClr val="F6F8FB"/>
                    </a:solidFill>
                  </a:tcPr>
                </a:tc>
              </a:tr>
              <a:tr h="384048">
                <a:tc>
                  <a:txBody>
                    <a:bodyPr wrap="square"/>
                    <a:lstStyle/>
                    <a:p>
                      <a:pPr algn="l"/>
                      <a:r>
                        <a:rPr sz="1300" b="0">
                          <a:solidFill>
                            <a:srgbClr val="23314F"/>
                          </a:solidFill>
                          <a:latin typeface="Calibri"/>
                        </a:rPr>
                        <a:t>O  one-shot</a:t>
                      </a:r>
                    </a:p>
                  </a:txBody>
                  <a:tcPr marL="54864" marR="54864" marT="18288" marB="18288" anchor="ctr">
                    <a:solidFill>
                      <a:srgbClr val="FFFFFF"/>
                    </a:solidFill>
                  </a:tcPr>
                </a:tc>
                <a:tc>
                  <a:txBody>
                    <a:bodyPr wrap="square"/>
                    <a:lstStyle/>
                    <a:p>
                      <a:pPr algn="r"/>
                      <a:r>
                        <a:rPr sz="1300" b="0">
                          <a:solidFill>
                            <a:srgbClr val="23314F"/>
                          </a:solidFill>
                          <a:latin typeface="Calibri"/>
                        </a:rPr>
                        <a:t>0.218</a:t>
                      </a:r>
                    </a:p>
                  </a:txBody>
                  <a:tcPr marL="54864" marR="54864" marT="18288" marB="18288" anchor="ctr">
                    <a:solidFill>
                      <a:srgbClr val="FFFFFF"/>
                    </a:solidFill>
                  </a:tcPr>
                </a:tc>
                <a:tc>
                  <a:txBody>
                    <a:bodyPr wrap="square"/>
                    <a:lstStyle/>
                    <a:p>
                      <a:pPr algn="l"/>
                      <a:r>
                        <a:rPr sz="1300" b="0">
                          <a:solidFill>
                            <a:srgbClr val="23314F"/>
                          </a:solidFill>
                          <a:latin typeface="Calibri"/>
                        </a:rPr>
                        <a:t/>
                      </a:r>
                    </a:p>
                  </a:txBody>
                  <a:tcPr marL="54864" marR="54864" marT="18288" marB="18288" anchor="ctr">
                    <a:solidFill>
                      <a:srgbClr val="FFFFFF"/>
                    </a:solidFill>
                  </a:tcPr>
                </a:tc>
              </a:tr>
            </a:tbl>
          </a:graphicData>
        </a:graphic>
      </p:graphicFrame>
      <p:sp>
        <p:nvSpPr>
          <p:cNvPr id="19" name="TextBox 18"/>
          <p:cNvSpPr txBox="1"/>
          <p:nvPr/>
        </p:nvSpPr>
        <p:spPr>
          <a:xfrm>
            <a:off x="6492240" y="3611880"/>
            <a:ext cx="5029200" cy="685800"/>
          </a:xfrm>
          <a:prstGeom prst="rect">
            <a:avLst/>
          </a:prstGeom>
          <a:noFill/>
        </p:spPr>
        <p:txBody>
          <a:bodyPr wrap="square" lIns="0" rIns="0" tIns="0" bIns="0" anchor="t">
            <a:spAutoFit/>
          </a:bodyPr>
          <a:lstStyle/>
          <a:p>
            <a:pPr algn="l">
              <a:spcAft>
                <a:spcPts val="400"/>
              </a:spcAft>
            </a:pPr>
            <a:r>
              <a:rPr sz="1200" b="0" i="0">
                <a:solidFill>
                  <a:srgbClr val="5B6577"/>
                </a:solidFill>
                <a:latin typeface="Calibri"/>
              </a:rPr>
              <a:t>P and M tie; the tie goes to the reading listed first. The whole of P is returned.</a:t>
            </a:r>
          </a:p>
        </p:txBody>
      </p:sp>
      <p:sp>
        <p:nvSpPr>
          <p:cNvPr id="20" name="Rounded Rectangle 19"/>
          <p:cNvSpPr/>
          <p:nvPr/>
        </p:nvSpPr>
        <p:spPr>
          <a:xfrm>
            <a:off x="6309360" y="4572000"/>
            <a:ext cx="5422392" cy="1783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709160"/>
            <a:ext cx="5056631" cy="320040"/>
          </a:xfrm>
          <a:prstGeom prst="rect">
            <a:avLst/>
          </a:prstGeom>
          <a:noFill/>
        </p:spPr>
        <p:txBody>
          <a:bodyPr wrap="square" lIns="0" rIns="0" tIns="0" bIns="0" anchor="t">
            <a:spAutoFit/>
          </a:bodyPr>
          <a:lstStyle/>
          <a:p>
            <a:pPr algn="l">
              <a:spcAft>
                <a:spcPts val="400"/>
              </a:spcAft>
            </a:pPr>
            <a:r>
              <a:rPr sz="1600" b="1" i="0">
                <a:solidFill>
                  <a:srgbClr val="1B2A4A"/>
                </a:solidFill>
                <a:latin typeface="Calibri"/>
              </a:rPr>
              <a:t>Agreement is not accuracy</a:t>
            </a:r>
          </a:p>
        </p:txBody>
      </p:sp>
      <p:sp>
        <p:nvSpPr>
          <p:cNvPr id="22" name="TextBox 21"/>
          <p:cNvSpPr txBox="1"/>
          <p:nvPr/>
        </p:nvSpPr>
        <p:spPr>
          <a:xfrm>
            <a:off x="6492240" y="4983480"/>
            <a:ext cx="5056632" cy="1280160"/>
          </a:xfrm>
          <a:prstGeom prst="rect">
            <a:avLst/>
          </a:prstGeom>
          <a:noFill/>
        </p:spPr>
        <p:txBody>
          <a:bodyPr wrap="square" lIns="0" rIns="0" tIns="0" bIns="0" anchor="t">
            <a:spAutoFit/>
          </a:bodyPr>
          <a:lstStyle/>
          <a:p>
            <a:pPr algn="l">
              <a:spcAft>
                <a:spcPts val="400"/>
              </a:spcAft>
            </a:pPr>
            <a:r>
              <a:rPr sz="1200" b="0" i="0">
                <a:solidFill>
                  <a:srgbClr val="23314F"/>
                </a:solidFill>
                <a:latin typeface="Calibri"/>
              </a:rPr>
              <a:t>Answer-key F1 here: P 95.24 · M 95.24 · O 22.50.</a:t>
            </a:r>
          </a:p>
          <a:p>
            <a:pPr algn="l">
              <a:spcAft>
                <a:spcPts val="400"/>
              </a:spcAft>
            </a:pPr>
            <a:r>
              <a:rPr sz="1200" b="0" i="0">
                <a:solidFill>
                  <a:srgbClr val="5B6577"/>
                </a:solidFill>
                <a:latin typeface="Calibri"/>
              </a:rPr>
              <a:t>On the scanned purchase order, the quorum kept the one-shot reading (78.26) although the image reading scored higher (82.61).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274320"/>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3" name="TextBox 2"/>
          <p:cNvSpPr txBox="1"/>
          <p:nvPr/>
        </p:nvSpPr>
        <p:spPr>
          <a:xfrm>
            <a:off x="896112" y="283464"/>
            <a:ext cx="8229600" cy="329184"/>
          </a:xfrm>
          <a:prstGeom prst="rect">
            <a:avLst/>
          </a:prstGeom>
          <a:noFill/>
        </p:spPr>
        <p:txBody>
          <a:bodyPr wrap="square" lIns="0" rIns="0" tIns="0" bIns="0" anchor="ctr">
            <a:spAutoFit/>
          </a:bodyPr>
          <a:lstStyle/>
          <a:p>
            <a:pPr algn="l">
              <a:spcAft>
                <a:spcPts val="400"/>
              </a:spcAft>
            </a:pPr>
            <a:r>
              <a:rPr sz="1200" b="1" i="0">
                <a:solidFill>
                  <a:srgbClr val="1B2A4A"/>
                </a:solidFill>
                <a:latin typeface="Calibri"/>
              </a:rPr>
              <a:t>RETURN</a:t>
            </a:r>
          </a:p>
        </p:txBody>
      </p:sp>
      <p:sp>
        <p:nvSpPr>
          <p:cNvPr id="4" name="TextBox 3"/>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One checked JSON, in the shape the user asked for</a:t>
            </a:r>
          </a:p>
        </p:txBody>
      </p:sp>
      <p:sp>
        <p:nvSpPr>
          <p:cNvPr id="5" name="TextBox 4"/>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Left: final output for the 1955 form (stored). Right: UNIKIE-BENCH Catering-Services test_1.jpg, quorum over six stored readings.</a:t>
            </a:r>
          </a:p>
        </p:txBody>
      </p:sp>
      <p:sp>
        <p:nvSpPr>
          <p:cNvPr id="6" name="Rounded Rectangle 5"/>
          <p:cNvSpPr/>
          <p:nvPr/>
        </p:nvSpPr>
        <p:spPr>
          <a:xfrm>
            <a:off x="457200" y="1463040"/>
            <a:ext cx="5486400"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5120640" cy="320040"/>
          </a:xfrm>
          <a:prstGeom prst="rect">
            <a:avLst/>
          </a:prstGeom>
          <a:noFill/>
        </p:spPr>
        <p:txBody>
          <a:bodyPr wrap="square" lIns="0" rIns="0" tIns="0" bIns="0" anchor="t">
            <a:spAutoFit/>
          </a:bodyPr>
          <a:lstStyle/>
          <a:p>
            <a:pPr algn="l">
              <a:spcAft>
                <a:spcPts val="400"/>
              </a:spcAft>
            </a:pPr>
            <a:r>
              <a:rPr sz="1600" b="1" i="0">
                <a:solidFill>
                  <a:srgbClr val="1B2A4A"/>
                </a:solidFill>
                <a:latin typeface="Calibri"/>
              </a:rPr>
              <a:t>Schema in → JSON out (1955 form, 77 fields)</a:t>
            </a:r>
          </a:p>
        </p:txBody>
      </p:sp>
      <p:sp>
        <p:nvSpPr>
          <p:cNvPr id="8" name="Rounded Rectangle 7"/>
          <p:cNvSpPr/>
          <p:nvPr/>
        </p:nvSpPr>
        <p:spPr>
          <a:xfrm>
            <a:off x="640080" y="1920240"/>
            <a:ext cx="5120640" cy="4251960"/>
          </a:xfrm>
          <a:prstGeom prst="roundRect">
            <a:avLst>
              <a:gd name="adj" fmla="val 6000"/>
            </a:avLst>
          </a:prstGeom>
          <a:solidFill>
            <a:srgbClr val="FFFFFF"/>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011680"/>
            <a:ext cx="4892040" cy="4114800"/>
          </a:xfrm>
          <a:prstGeom prst="rect">
            <a:avLst/>
          </a:prstGeom>
          <a:noFill/>
        </p:spPr>
        <p:txBody>
          <a:bodyPr wrap="square" lIns="0" rIns="0" tIns="0" bIns="0" anchor="t">
            <a:spAutoFit/>
          </a:bodyPr>
          <a:lstStyle/>
          <a:p>
            <a:pPr algn="l">
              <a:spcAft>
                <a:spcPts val="400"/>
              </a:spcAft>
            </a:pPr>
            <a:r>
              <a:rPr sz="1200" b="0" i="0">
                <a:solidFill>
                  <a:srgbClr val="23314F"/>
                </a:solidFill>
                <a:latin typeface="Courier New"/>
              </a:rPr>
              <a:t>{</a:t>
            </a:r>
          </a:p>
          <a:p>
            <a:pPr algn="l">
              <a:spcAft>
                <a:spcPts val="400"/>
              </a:spcAft>
            </a:pPr>
            <a:r>
              <a:rPr sz="1200" b="0" i="0">
                <a:solidFill>
                  <a:srgbClr val="23314F"/>
                </a:solidFill>
                <a:latin typeface="Courier New"/>
              </a:rPr>
              <a:t> "p1_company": "R. L. Underwood",</a:t>
            </a:r>
          </a:p>
          <a:p>
            <a:pPr algn="l">
              <a:spcAft>
                <a:spcPts val="400"/>
              </a:spcAft>
            </a:pPr>
            <a:r>
              <a:rPr sz="1200" b="0" i="0">
                <a:solidFill>
                  <a:srgbClr val="23314F"/>
                </a:solidFill>
                <a:latin typeface="Courier New"/>
              </a:rPr>
              <a:t> "p1_address": "420 Oil &amp; Gas Bldg Wichita Falls, Tex",</a:t>
            </a:r>
          </a:p>
          <a:p>
            <a:pPr algn="l">
              <a:spcAft>
                <a:spcPts val="400"/>
              </a:spcAft>
            </a:pPr>
            <a:r>
              <a:rPr sz="1200" b="0" i="0">
                <a:solidFill>
                  <a:srgbClr val="23314F"/>
                </a:solidFill>
                <a:latin typeface="Courier New"/>
              </a:rPr>
              <a:t> "p1_county": "Archer",</a:t>
            </a:r>
          </a:p>
          <a:p>
            <a:pPr algn="l">
              <a:spcAft>
                <a:spcPts val="400"/>
              </a:spcAft>
            </a:pPr>
            <a:r>
              <a:rPr sz="1200" b="0" i="0">
                <a:solidFill>
                  <a:srgbClr val="23314F"/>
                </a:solidFill>
                <a:latin typeface="Courier New"/>
              </a:rPr>
              <a:t> "p1_well_no": "Z-13",</a:t>
            </a:r>
          </a:p>
          <a:p>
            <a:pPr algn="l">
              <a:spcAft>
                <a:spcPts val="400"/>
              </a:spcAft>
            </a:pPr>
            <a:r>
              <a:rPr sz="1200" b="0" i="0">
                <a:solidFill>
                  <a:srgbClr val="23314F"/>
                </a:solidFill>
                <a:latin typeface="Courier New"/>
              </a:rPr>
              <a:t> "p1_name_of_lease": "Campbell Est \"Z\"",</a:t>
            </a:r>
          </a:p>
          <a:p>
            <a:pPr algn="l">
              <a:spcAft>
                <a:spcPts val="400"/>
              </a:spcAft>
            </a:pPr>
            <a:r>
              <a:rPr sz="1200" b="0" i="0">
                <a:solidFill>
                  <a:srgbClr val="23314F"/>
                </a:solidFill>
                <a:latin typeface="Courier New"/>
              </a:rPr>
              <a:t> "p1_drilling_commenced": "April 29, 1955",</a:t>
            </a:r>
          </a:p>
          <a:p>
            <a:pPr algn="l">
              <a:spcAft>
                <a:spcPts val="400"/>
              </a:spcAft>
            </a:pPr>
            <a:r>
              <a:rPr sz="1200" b="0" i="0">
                <a:solidFill>
                  <a:srgbClr val="23314F"/>
                </a:solidFill>
                <a:latin typeface="Courier New"/>
              </a:rPr>
              <a:t> "p1_total_depth": "1093'"</a:t>
            </a:r>
          </a:p>
          <a:p>
            <a:pPr algn="l">
              <a:spcAft>
                <a:spcPts val="400"/>
              </a:spcAft>
            </a:pPr>
            <a:r>
              <a:rPr sz="1200" b="0" i="0">
                <a:solidFill>
                  <a:srgbClr val="23314F"/>
                </a:solidFill>
                <a:latin typeface="Courier New"/>
              </a:rPr>
              <a:t>  ... 70 more fields</a:t>
            </a:r>
          </a:p>
          <a:p>
            <a:pPr algn="l">
              <a:spcAft>
                <a:spcPts val="400"/>
              </a:spcAft>
            </a:pPr>
            <a:r>
              <a:rPr sz="1200" b="0" i="0">
                <a:solidFill>
                  <a:srgbClr val="23314F"/>
                </a:solidFill>
                <a:latin typeface="Courier New"/>
              </a:rPr>
              <a:t>}</a:t>
            </a:r>
          </a:p>
        </p:txBody>
      </p:sp>
      <p:sp>
        <p:nvSpPr>
          <p:cNvPr id="10" name="Rounded Rectangle 9"/>
          <p:cNvSpPr/>
          <p:nvPr/>
        </p:nvSpPr>
        <p:spPr>
          <a:xfrm>
            <a:off x="6126480" y="1463040"/>
            <a:ext cx="5605272" cy="48920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600200"/>
            <a:ext cx="5239512" cy="320040"/>
          </a:xfrm>
          <a:prstGeom prst="rect">
            <a:avLst/>
          </a:prstGeom>
          <a:noFill/>
        </p:spPr>
        <p:txBody>
          <a:bodyPr wrap="square" lIns="0" rIns="0" tIns="0" bIns="0" anchor="t">
            <a:spAutoFit/>
          </a:bodyPr>
          <a:lstStyle/>
          <a:p>
            <a:pPr algn="l">
              <a:spcAft>
                <a:spcPts val="400"/>
              </a:spcAft>
            </a:pPr>
            <a:r>
              <a:rPr sz="1600" b="1" i="0">
                <a:solidFill>
                  <a:srgbClr val="1B2A4A"/>
                </a:solidFill>
                <a:latin typeface="Calibri"/>
              </a:rPr>
              <a:t>Template in → same template filled</a:t>
            </a:r>
          </a:p>
        </p:txBody>
      </p:sp>
      <p:pic>
        <p:nvPicPr>
          <p:cNvPr id="12" name="Picture 11" descr="input_receipt.png"/>
          <p:cNvPicPr>
            <a:picLocks noChangeAspect="1"/>
          </p:cNvPicPr>
          <p:nvPr/>
        </p:nvPicPr>
        <p:blipFill>
          <a:blip r:embed="rId3"/>
          <a:stretch>
            <a:fillRect/>
          </a:stretch>
        </p:blipFill>
        <p:spPr>
          <a:xfrm>
            <a:off x="6309360" y="2006628"/>
            <a:ext cx="1554480" cy="2067502"/>
          </a:xfrm>
          <a:prstGeom prst="rect">
            <a:avLst/>
          </a:prstGeom>
          <a:ln w="9525">
            <a:solidFill>
              <a:srgbClr val="D5DBE5"/>
            </a:solidFill>
          </a:ln>
        </p:spPr>
      </p:pic>
      <p:sp>
        <p:nvSpPr>
          <p:cNvPr id="13" name="TextBox 12"/>
          <p:cNvSpPr txBox="1"/>
          <p:nvPr/>
        </p:nvSpPr>
        <p:spPr>
          <a:xfrm>
            <a:off x="8046720" y="1965960"/>
            <a:ext cx="3520440" cy="2103120"/>
          </a:xfrm>
          <a:prstGeom prst="rect">
            <a:avLst/>
          </a:prstGeom>
          <a:noFill/>
        </p:spPr>
        <p:txBody>
          <a:bodyPr wrap="square" lIns="0" rIns="0" tIns="0" bIns="0" anchor="t">
            <a:spAutoFit/>
          </a:bodyPr>
          <a:lstStyle/>
          <a:p>
            <a:pPr algn="l">
              <a:spcAft>
                <a:spcPts val="400"/>
              </a:spcAft>
            </a:pPr>
            <a:r>
              <a:rPr sz="1100" b="0" i="0">
                <a:solidFill>
                  <a:srgbClr val="5B6577"/>
                </a:solidFill>
                <a:latin typeface="Courier New"/>
              </a:rPr>
              <a:t>{"menu": [{"price": "",</a:t>
            </a:r>
          </a:p>
          <a:p>
            <a:pPr algn="l">
              <a:spcAft>
                <a:spcPts val="400"/>
              </a:spcAft>
            </a:pPr>
            <a:r>
              <a:rPr sz="1100" b="0" i="0">
                <a:solidFill>
                  <a:srgbClr val="5B6577"/>
                </a:solidFill>
                <a:latin typeface="Courier New"/>
              </a:rPr>
              <a:t>           "nm": ""}],</a:t>
            </a:r>
          </a:p>
          <a:p>
            <a:pPr algn="l">
              <a:spcAft>
                <a:spcPts val="400"/>
              </a:spcAft>
            </a:pPr>
            <a:r>
              <a:rPr sz="1100" b="0" i="0">
                <a:solidFill>
                  <a:srgbClr val="5B6577"/>
                </a:solidFill>
                <a:latin typeface="Courier New"/>
              </a:rPr>
              <a:t> "total": {"cashprice": "",</a:t>
            </a:r>
          </a:p>
          <a:p>
            <a:pPr algn="l">
              <a:spcAft>
                <a:spcPts val="400"/>
              </a:spcAft>
            </a:pPr>
            <a:r>
              <a:rPr sz="1100" b="0" i="0">
                <a:solidFill>
                  <a:srgbClr val="5B6577"/>
                </a:solidFill>
                <a:latin typeface="Courier New"/>
              </a:rPr>
              <a:t>           "total_price": ""}}</a:t>
            </a:r>
          </a:p>
        </p:txBody>
      </p:sp>
      <p:sp>
        <p:nvSpPr>
          <p:cNvPr id="14" name="Rounded Rectangle 13"/>
          <p:cNvSpPr/>
          <p:nvPr/>
        </p:nvSpPr>
        <p:spPr>
          <a:xfrm>
            <a:off x="6309360" y="4297680"/>
            <a:ext cx="5239512" cy="1920240"/>
          </a:xfrm>
          <a:prstGeom prst="roundRect">
            <a:avLst>
              <a:gd name="adj" fmla="val 6000"/>
            </a:avLst>
          </a:prstGeom>
          <a:solidFill>
            <a:srgbClr val="FFFFFF"/>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343400"/>
            <a:ext cx="5074920" cy="1828800"/>
          </a:xfrm>
          <a:prstGeom prst="rect">
            <a:avLst/>
          </a:prstGeom>
          <a:noFill/>
        </p:spPr>
        <p:txBody>
          <a:bodyPr wrap="square" lIns="0" rIns="0" tIns="0" bIns="0" anchor="t">
            <a:spAutoFit/>
          </a:bodyPr>
          <a:lstStyle/>
          <a:p>
            <a:pPr algn="l">
              <a:spcAft>
                <a:spcPts val="400"/>
              </a:spcAft>
            </a:pPr>
            <a:r>
              <a:rPr sz="1100" b="0" i="0">
                <a:solidFill>
                  <a:srgbClr val="1E8C6E"/>
                </a:solidFill>
                <a:latin typeface="Courier New"/>
              </a:rPr>
              <a:t>{"menu": [ {"price": "17500", "nm": "J.STB PROMO"}, {"price": "46000", "nm": "Y.B.BAT"}, {"price": "27500", "nm": "Y.BASO PROM"} ], "total": {"cashprice": "91000", "total_price": "91000"}}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ExtractBench: DocQuorum is 3rd of 48</a:t>
            </a:r>
          </a:p>
        </p:txBody>
      </p:sp>
      <p:sp>
        <p:nvSpPr>
          <p:cNvPr id="3" name="TextBox 2"/>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ExtractBench leaderboard snapshot (2 October 2026, 47 published systems); value F1 (%) by the benchmark's scorer; $/page and s/doc as published (s/doc averaged over the 370 documents). – not published (open models the leaderboard ran itself). *DocQuorum: open weights on one GPU, no price per call; its measured tokens (random 20) priced at the Qwen3.8-27B list price, weighted by split as the leaderboard's $/page is. Full table: docs/docquorum.pdf.</a:t>
            </a:r>
          </a:p>
        </p:txBody>
      </p:sp>
      <p:graphicFrame>
        <p:nvGraphicFramePr>
          <p:cNvPr id="4" name="Table 3"/>
          <p:cNvGraphicFramePr>
            <a:graphicFrameLocks noGrp="1"/>
          </p:cNvGraphicFramePr>
          <p:nvPr/>
        </p:nvGraphicFramePr>
        <p:xfrm>
          <a:off x="457200" y="1463040"/>
          <a:ext cx="11274552" cy="4828032"/>
        </p:xfrm>
        <a:graphic>
          <a:graphicData uri="http://schemas.openxmlformats.org/drawingml/2006/table">
            <a:tbl>
              <a:tblPr firstRow="1" bandRow="1">
                <a:tableStyleId>{5C22544A-7EE6-4342-B048-85BDC9FD1C3A}</a:tableStyleId>
              </a:tblPr>
              <a:tblGrid>
                <a:gridCol w="548640"/>
                <a:gridCol w="4873752"/>
                <a:gridCol w="960120"/>
                <a:gridCol w="960120"/>
                <a:gridCol w="960120"/>
                <a:gridCol w="960120"/>
                <a:gridCol w="960120"/>
                <a:gridCol w="1051560"/>
              </a:tblGrid>
              <a:tr h="301752">
                <a:tc>
                  <a:txBody>
                    <a:bodyPr wrap="square"/>
                    <a:lstStyle/>
                    <a:p>
                      <a:pPr algn="l"/>
                      <a:r>
                        <a:rPr sz="1300" b="1">
                          <a:solidFill>
                            <a:srgbClr val="FFFFFF"/>
                          </a:solidFill>
                          <a:latin typeface="Calibri"/>
                        </a:rPr>
                        <a:t>#</a:t>
                      </a:r>
                    </a:p>
                  </a:txBody>
                  <a:tcPr marL="54864" marR="54864" marT="18288" marB="18288" anchor="ctr">
                    <a:solidFill>
                      <a:srgbClr val="1B2A4A"/>
                    </a:solidFill>
                  </a:tcPr>
                </a:tc>
                <a:tc>
                  <a:txBody>
                    <a:bodyPr wrap="square"/>
                    <a:lstStyle/>
                    <a:p>
                      <a:pPr algn="l"/>
                      <a:r>
                        <a:rPr sz="1300" b="1">
                          <a:solidFill>
                            <a:srgbClr val="FFFFFF"/>
                          </a:solidFill>
                          <a:latin typeface="Calibri"/>
                        </a:rPr>
                        <a:t>System</a:t>
                      </a:r>
                    </a:p>
                  </a:txBody>
                  <a:tcPr marL="54864" marR="54864" marT="18288" marB="18288" anchor="ctr">
                    <a:solidFill>
                      <a:srgbClr val="1B2A4A"/>
                    </a:solidFill>
                  </a:tcPr>
                </a:tc>
                <a:tc>
                  <a:txBody>
                    <a:bodyPr wrap="square"/>
                    <a:lstStyle/>
                    <a:p>
                      <a:pPr algn="r"/>
                      <a:r>
                        <a:rPr sz="1300" b="1">
                          <a:solidFill>
                            <a:srgbClr val="FFFFFF"/>
                          </a:solidFill>
                          <a:latin typeface="Calibri"/>
                        </a:rPr>
                        <a:t>Short</a:t>
                      </a:r>
                    </a:p>
                  </a:txBody>
                  <a:tcPr marL="54864" marR="54864" marT="18288" marB="18288" anchor="ctr">
                    <a:solidFill>
                      <a:srgbClr val="1B2A4A"/>
                    </a:solidFill>
                  </a:tcPr>
                </a:tc>
                <a:tc>
                  <a:txBody>
                    <a:bodyPr wrap="square"/>
                    <a:lstStyle/>
                    <a:p>
                      <a:pPr algn="r"/>
                      <a:r>
                        <a:rPr sz="1300" b="1">
                          <a:solidFill>
                            <a:srgbClr val="FFFFFF"/>
                          </a:solidFill>
                          <a:latin typeface="Calibri"/>
                        </a:rPr>
                        <a:t>Medium</a:t>
                      </a:r>
                    </a:p>
                  </a:txBody>
                  <a:tcPr marL="54864" marR="54864" marT="18288" marB="18288" anchor="ctr">
                    <a:solidFill>
                      <a:srgbClr val="1B2A4A"/>
                    </a:solidFill>
                  </a:tcPr>
                </a:tc>
                <a:tc>
                  <a:txBody>
                    <a:bodyPr wrap="square"/>
                    <a:lstStyle/>
                    <a:p>
                      <a:pPr algn="r"/>
                      <a:r>
                        <a:rPr sz="1300" b="1">
                          <a:solidFill>
                            <a:srgbClr val="FFFFFF"/>
                          </a:solidFill>
                          <a:latin typeface="Calibri"/>
                        </a:rPr>
                        <a:t>Long</a:t>
                      </a:r>
                    </a:p>
                  </a:txBody>
                  <a:tcPr marL="54864" marR="54864" marT="18288" marB="18288" anchor="ctr">
                    <a:solidFill>
                      <a:srgbClr val="1B2A4A"/>
                    </a:solidFill>
                  </a:tcPr>
                </a:tc>
                <a:tc>
                  <a:txBody>
                    <a:bodyPr wrap="square"/>
                    <a:lstStyle/>
                    <a:p>
                      <a:pPr algn="r"/>
                      <a:r>
                        <a:rPr sz="1300" b="1">
                          <a:solidFill>
                            <a:srgbClr val="FFFFFF"/>
                          </a:solidFill>
                          <a:latin typeface="Calibri"/>
                        </a:rPr>
                        <a:t>Overall</a:t>
                      </a:r>
                    </a:p>
                  </a:txBody>
                  <a:tcPr marL="54864" marR="54864" marT="18288" marB="18288" anchor="ctr">
                    <a:solidFill>
                      <a:srgbClr val="1B2A4A"/>
                    </a:solidFill>
                  </a:tcPr>
                </a:tc>
                <a:tc>
                  <a:txBody>
                    <a:bodyPr wrap="square"/>
                    <a:lstStyle/>
                    <a:p>
                      <a:pPr algn="r"/>
                      <a:r>
                        <a:rPr sz="1300" b="1">
                          <a:solidFill>
                            <a:srgbClr val="FFFFFF"/>
                          </a:solidFill>
                          <a:latin typeface="Calibri"/>
                        </a:rPr>
                        <a:t>$/page</a:t>
                      </a:r>
                    </a:p>
                  </a:txBody>
                  <a:tcPr marL="54864" marR="54864" marT="18288" marB="18288" anchor="ctr">
                    <a:solidFill>
                      <a:srgbClr val="1B2A4A"/>
                    </a:solidFill>
                  </a:tcPr>
                </a:tc>
                <a:tc>
                  <a:txBody>
                    <a:bodyPr wrap="square"/>
                    <a:lstStyle/>
                    <a:p>
                      <a:pPr algn="r"/>
                      <a:r>
                        <a:rPr sz="1300" b="1">
                          <a:solidFill>
                            <a:srgbClr val="FFFFFF"/>
                          </a:solidFill>
                          <a:latin typeface="Calibri"/>
                        </a:rPr>
                        <a:t>s/doc</a:t>
                      </a:r>
                    </a:p>
                  </a:txBody>
                  <a:tcPr marL="54864" marR="54864" marT="18288" marB="18288" anchor="ctr">
                    <a:solidFill>
                      <a:srgbClr val="1B2A4A"/>
                    </a:solidFill>
                  </a:tcPr>
                </a:tc>
              </a:tr>
              <a:tr h="301752">
                <a:tc>
                  <a:txBody>
                    <a:bodyPr wrap="square"/>
                    <a:lstStyle/>
                    <a:p>
                      <a:pPr algn="l"/>
                      <a:r>
                        <a:rPr sz="1300" b="0">
                          <a:solidFill>
                            <a:srgbClr val="23314F"/>
                          </a:solidFill>
                          <a:latin typeface="Calibri"/>
                        </a:rPr>
                        <a:t>1</a:t>
                      </a:r>
                    </a:p>
                  </a:txBody>
                  <a:tcPr marL="54864" marR="54864" marT="18288" marB="18288" anchor="ctr">
                    <a:solidFill>
                      <a:srgbClr val="FFFFFF"/>
                    </a:solidFill>
                  </a:tcPr>
                </a:tc>
                <a:tc>
                  <a:txBody>
                    <a:bodyPr wrap="square"/>
                    <a:lstStyle/>
                    <a:p>
                      <a:pPr algn="l"/>
                      <a:r>
                        <a:rPr sz="1300" b="0">
                          <a:solidFill>
                            <a:srgbClr val="23314F"/>
                          </a:solidFill>
                          <a:latin typeface="Calibri"/>
                        </a:rPr>
                        <a:t>LlamaExtract Agentic Plus</a:t>
                      </a:r>
                    </a:p>
                  </a:txBody>
                  <a:tcPr marL="54864" marR="54864" marT="18288" marB="18288" anchor="ctr">
                    <a:solidFill>
                      <a:srgbClr val="FFFFFF"/>
                    </a:solidFill>
                  </a:tcPr>
                </a:tc>
                <a:tc>
                  <a:txBody>
                    <a:bodyPr wrap="square"/>
                    <a:lstStyle/>
                    <a:p>
                      <a:pPr algn="r"/>
                      <a:r>
                        <a:rPr sz="1300" b="0">
                          <a:solidFill>
                            <a:srgbClr val="23314F"/>
                          </a:solidFill>
                          <a:latin typeface="Calibri"/>
                        </a:rPr>
                        <a:t>96.94</a:t>
                      </a:r>
                    </a:p>
                  </a:txBody>
                  <a:tcPr marL="54864" marR="54864" marT="18288" marB="18288" anchor="ctr">
                    <a:solidFill>
                      <a:srgbClr val="FFFFFF"/>
                    </a:solidFill>
                  </a:tcPr>
                </a:tc>
                <a:tc>
                  <a:txBody>
                    <a:bodyPr wrap="square"/>
                    <a:lstStyle/>
                    <a:p>
                      <a:pPr algn="r"/>
                      <a:r>
                        <a:rPr sz="1300" b="0">
                          <a:solidFill>
                            <a:srgbClr val="23314F"/>
                          </a:solidFill>
                          <a:latin typeface="Calibri"/>
                        </a:rPr>
                        <a:t>94.45</a:t>
                      </a:r>
                    </a:p>
                  </a:txBody>
                  <a:tcPr marL="54864" marR="54864" marT="18288" marB="18288" anchor="ctr">
                    <a:solidFill>
                      <a:srgbClr val="FFFFFF"/>
                    </a:solidFill>
                  </a:tcPr>
                </a:tc>
                <a:tc>
                  <a:txBody>
                    <a:bodyPr wrap="square"/>
                    <a:lstStyle/>
                    <a:p>
                      <a:pPr algn="r"/>
                      <a:r>
                        <a:rPr sz="1300" b="0">
                          <a:solidFill>
                            <a:srgbClr val="23314F"/>
                          </a:solidFill>
                          <a:latin typeface="Calibri"/>
                        </a:rPr>
                        <a:t>90.18</a:t>
                      </a:r>
                    </a:p>
                  </a:txBody>
                  <a:tcPr marL="54864" marR="54864" marT="18288" marB="18288" anchor="ctr">
                    <a:solidFill>
                      <a:srgbClr val="FFFFFF"/>
                    </a:solidFill>
                  </a:tcPr>
                </a:tc>
                <a:tc>
                  <a:txBody>
                    <a:bodyPr wrap="square"/>
                    <a:lstStyle/>
                    <a:p>
                      <a:pPr algn="r"/>
                      <a:r>
                        <a:rPr sz="1300" b="0">
                          <a:solidFill>
                            <a:srgbClr val="23314F"/>
                          </a:solidFill>
                          <a:latin typeface="Calibri"/>
                        </a:rPr>
                        <a:t>95.91</a:t>
                      </a:r>
                    </a:p>
                  </a:txBody>
                  <a:tcPr marL="54864" marR="54864" marT="18288" marB="18288" anchor="ctr">
                    <a:solidFill>
                      <a:srgbClr val="FFFFFF"/>
                    </a:solidFill>
                  </a:tcPr>
                </a:tc>
                <a:tc>
                  <a:txBody>
                    <a:bodyPr wrap="square"/>
                    <a:lstStyle/>
                    <a:p>
                      <a:pPr algn="r"/>
                      <a:r>
                        <a:rPr sz="1300" b="0">
                          <a:solidFill>
                            <a:srgbClr val="23314F"/>
                          </a:solidFill>
                          <a:latin typeface="Calibri"/>
                        </a:rPr>
                        <a:t>0.081</a:t>
                      </a:r>
                    </a:p>
                  </a:txBody>
                  <a:tcPr marL="54864" marR="54864" marT="18288" marB="18288" anchor="ctr">
                    <a:solidFill>
                      <a:srgbClr val="FFFFFF"/>
                    </a:solidFill>
                  </a:tcPr>
                </a:tc>
                <a:tc>
                  <a:txBody>
                    <a:bodyPr wrap="square"/>
                    <a:lstStyle/>
                    <a:p>
                      <a:pPr algn="r"/>
                      <a:r>
                        <a:rPr sz="1300" b="0">
                          <a:solidFill>
                            <a:srgbClr val="23314F"/>
                          </a:solidFill>
                          <a:latin typeface="Calibri"/>
                        </a:rPr>
                        <a:t>152</a:t>
                      </a:r>
                    </a:p>
                  </a:txBody>
                  <a:tcPr marL="54864" marR="54864" marT="18288" marB="18288" anchor="ctr">
                    <a:solidFill>
                      <a:srgbClr val="FFFFFF"/>
                    </a:solidFill>
                  </a:tcPr>
                </a:tc>
              </a:tr>
              <a:tr h="301752">
                <a:tc>
                  <a:txBody>
                    <a:bodyPr wrap="square"/>
                    <a:lstStyle/>
                    <a:p>
                      <a:pPr algn="l"/>
                      <a:r>
                        <a:rPr sz="1300" b="0">
                          <a:solidFill>
                            <a:srgbClr val="23314F"/>
                          </a:solidFill>
                          <a:latin typeface="Calibri"/>
                        </a:rPr>
                        <a:t>1</a:t>
                      </a:r>
                    </a:p>
                  </a:txBody>
                  <a:tcPr marL="54864" marR="54864" marT="18288" marB="18288" anchor="ctr">
                    <a:solidFill>
                      <a:srgbClr val="F6F8FB"/>
                    </a:solidFill>
                  </a:tcPr>
                </a:tc>
                <a:tc>
                  <a:txBody>
                    <a:bodyPr wrap="square"/>
                    <a:lstStyle/>
                    <a:p>
                      <a:pPr algn="l"/>
                      <a:r>
                        <a:rPr sz="1300" b="0">
                          <a:solidFill>
                            <a:srgbClr val="23314F"/>
                          </a:solidFill>
                          <a:latin typeface="Calibri"/>
                        </a:rPr>
                        <a:t>Pulse (Effort)</a:t>
                      </a:r>
                    </a:p>
                  </a:txBody>
                  <a:tcPr marL="54864" marR="54864" marT="18288" marB="18288" anchor="ctr">
                    <a:solidFill>
                      <a:srgbClr val="F6F8FB"/>
                    </a:solidFill>
                  </a:tcPr>
                </a:tc>
                <a:tc>
                  <a:txBody>
                    <a:bodyPr wrap="square"/>
                    <a:lstStyle/>
                    <a:p>
                      <a:pPr algn="r"/>
                      <a:r>
                        <a:rPr sz="1300" b="0">
                          <a:solidFill>
                            <a:srgbClr val="23314F"/>
                          </a:solidFill>
                          <a:latin typeface="Calibri"/>
                        </a:rPr>
                        <a:t>96.46</a:t>
                      </a:r>
                    </a:p>
                  </a:txBody>
                  <a:tcPr marL="54864" marR="54864" marT="18288" marB="18288" anchor="ctr">
                    <a:solidFill>
                      <a:srgbClr val="F6F8FB"/>
                    </a:solidFill>
                  </a:tcPr>
                </a:tc>
                <a:tc>
                  <a:txBody>
                    <a:bodyPr wrap="square"/>
                    <a:lstStyle/>
                    <a:p>
                      <a:pPr algn="r"/>
                      <a:r>
                        <a:rPr sz="1300" b="0">
                          <a:solidFill>
                            <a:srgbClr val="23314F"/>
                          </a:solidFill>
                          <a:latin typeface="Calibri"/>
                        </a:rPr>
                        <a:t>95.01</a:t>
                      </a:r>
                    </a:p>
                  </a:txBody>
                  <a:tcPr marL="54864" marR="54864" marT="18288" marB="18288" anchor="ctr">
                    <a:solidFill>
                      <a:srgbClr val="F6F8FB"/>
                    </a:solidFill>
                  </a:tcPr>
                </a:tc>
                <a:tc>
                  <a:txBody>
                    <a:bodyPr wrap="square"/>
                    <a:lstStyle/>
                    <a:p>
                      <a:pPr algn="r"/>
                      <a:r>
                        <a:rPr sz="1300" b="0">
                          <a:solidFill>
                            <a:srgbClr val="23314F"/>
                          </a:solidFill>
                          <a:latin typeface="Calibri"/>
                        </a:rPr>
                        <a:t>93.51</a:t>
                      </a:r>
                    </a:p>
                  </a:txBody>
                  <a:tcPr marL="54864" marR="54864" marT="18288" marB="18288" anchor="ctr">
                    <a:solidFill>
                      <a:srgbClr val="F6F8FB"/>
                    </a:solidFill>
                  </a:tcPr>
                </a:tc>
                <a:tc>
                  <a:txBody>
                    <a:bodyPr wrap="square"/>
                    <a:lstStyle/>
                    <a:p>
                      <a:pPr algn="r"/>
                      <a:r>
                        <a:rPr sz="1300" b="0">
                          <a:solidFill>
                            <a:srgbClr val="23314F"/>
                          </a:solidFill>
                          <a:latin typeface="Calibri"/>
                        </a:rPr>
                        <a:t>95.91</a:t>
                      </a:r>
                    </a:p>
                  </a:txBody>
                  <a:tcPr marL="54864" marR="54864" marT="18288" marB="18288" anchor="ctr">
                    <a:solidFill>
                      <a:srgbClr val="F6F8FB"/>
                    </a:solidFill>
                  </a:tcPr>
                </a:tc>
                <a:tc>
                  <a:txBody>
                    <a:bodyPr wrap="square"/>
                    <a:lstStyle/>
                    <a:p>
                      <a:pPr algn="r"/>
                      <a:r>
                        <a:rPr sz="1300" b="0">
                          <a:solidFill>
                            <a:srgbClr val="23314F"/>
                          </a:solidFill>
                          <a:latin typeface="Calibri"/>
                        </a:rPr>
                        <a:t>0.105</a:t>
                      </a:r>
                    </a:p>
                  </a:txBody>
                  <a:tcPr marL="54864" marR="54864" marT="18288" marB="18288" anchor="ctr">
                    <a:solidFill>
                      <a:srgbClr val="F6F8FB"/>
                    </a:solidFill>
                  </a:tcPr>
                </a:tc>
                <a:tc>
                  <a:txBody>
                    <a:bodyPr wrap="square"/>
                    <a:lstStyle/>
                    <a:p>
                      <a:pPr algn="r"/>
                      <a:r>
                        <a:rPr sz="1300" b="0">
                          <a:solidFill>
                            <a:srgbClr val="23314F"/>
                          </a:solidFill>
                          <a:latin typeface="Calibri"/>
                        </a:rPr>
                        <a:t>165</a:t>
                      </a:r>
                    </a:p>
                  </a:txBody>
                  <a:tcPr marL="54864" marR="54864" marT="18288" marB="18288" anchor="ctr">
                    <a:solidFill>
                      <a:srgbClr val="F6F8FB"/>
                    </a:solidFill>
                  </a:tcPr>
                </a:tc>
              </a:tr>
              <a:tr h="301752">
                <a:tc>
                  <a:txBody>
                    <a:bodyPr wrap="square"/>
                    <a:lstStyle/>
                    <a:p>
                      <a:pPr algn="l"/>
                      <a:r>
                        <a:rPr sz="1300" b="1">
                          <a:solidFill>
                            <a:srgbClr val="23314F"/>
                          </a:solidFill>
                          <a:latin typeface="Calibri"/>
                        </a:rPr>
                        <a:t>3</a:t>
                      </a:r>
                    </a:p>
                  </a:txBody>
                  <a:tcPr marL="54864" marR="54864" marT="18288" marB="18288" anchor="ctr">
                    <a:solidFill>
                      <a:srgbClr val="DDF1EA"/>
                    </a:solidFill>
                  </a:tcPr>
                </a:tc>
                <a:tc>
                  <a:txBody>
                    <a:bodyPr wrap="square"/>
                    <a:lstStyle/>
                    <a:p>
                      <a:pPr algn="l"/>
                      <a:r>
                        <a:rPr sz="1300" b="1">
                          <a:solidFill>
                            <a:srgbClr val="23314F"/>
                          </a:solidFill>
                          <a:latin typeface="Calibri"/>
                        </a:rPr>
                        <a:t>DocQuorum (ours, open 27B)</a:t>
                      </a:r>
                    </a:p>
                  </a:txBody>
                  <a:tcPr marL="54864" marR="54864" marT="18288" marB="18288" anchor="ctr">
                    <a:solidFill>
                      <a:srgbClr val="DDF1EA"/>
                    </a:solidFill>
                  </a:tcPr>
                </a:tc>
                <a:tc>
                  <a:txBody>
                    <a:bodyPr wrap="square"/>
                    <a:lstStyle/>
                    <a:p>
                      <a:pPr algn="r"/>
                      <a:r>
                        <a:rPr sz="1300" b="1">
                          <a:solidFill>
                            <a:srgbClr val="23314F"/>
                          </a:solidFill>
                          <a:latin typeface="Calibri"/>
                        </a:rPr>
                        <a:t>96.34</a:t>
                      </a:r>
                    </a:p>
                  </a:txBody>
                  <a:tcPr marL="54864" marR="54864" marT="18288" marB="18288" anchor="ctr">
                    <a:solidFill>
                      <a:srgbClr val="DDF1EA"/>
                    </a:solidFill>
                  </a:tcPr>
                </a:tc>
                <a:tc>
                  <a:txBody>
                    <a:bodyPr wrap="square"/>
                    <a:lstStyle/>
                    <a:p>
                      <a:pPr algn="r"/>
                      <a:r>
                        <a:rPr sz="1300" b="1">
                          <a:solidFill>
                            <a:srgbClr val="23314F"/>
                          </a:solidFill>
                          <a:latin typeface="Calibri"/>
                        </a:rPr>
                        <a:t>94.11</a:t>
                      </a:r>
                    </a:p>
                  </a:txBody>
                  <a:tcPr marL="54864" marR="54864" marT="18288" marB="18288" anchor="ctr">
                    <a:solidFill>
                      <a:srgbClr val="DDF1EA"/>
                    </a:solidFill>
                  </a:tcPr>
                </a:tc>
                <a:tc>
                  <a:txBody>
                    <a:bodyPr wrap="square"/>
                    <a:lstStyle/>
                    <a:p>
                      <a:pPr algn="r"/>
                      <a:r>
                        <a:rPr sz="1300" b="1">
                          <a:solidFill>
                            <a:srgbClr val="23314F"/>
                          </a:solidFill>
                          <a:latin typeface="Calibri"/>
                        </a:rPr>
                        <a:t>90.41</a:t>
                      </a:r>
                    </a:p>
                  </a:txBody>
                  <a:tcPr marL="54864" marR="54864" marT="18288" marB="18288" anchor="ctr">
                    <a:solidFill>
                      <a:srgbClr val="DDF1EA"/>
                    </a:solidFill>
                  </a:tcPr>
                </a:tc>
                <a:tc>
                  <a:txBody>
                    <a:bodyPr wrap="square"/>
                    <a:lstStyle/>
                    <a:p>
                      <a:pPr algn="r"/>
                      <a:r>
                        <a:rPr sz="1300" b="1">
                          <a:solidFill>
                            <a:srgbClr val="23314F"/>
                          </a:solidFill>
                          <a:latin typeface="Calibri"/>
                        </a:rPr>
                        <a:t>95.43</a:t>
                      </a:r>
                    </a:p>
                  </a:txBody>
                  <a:tcPr marL="54864" marR="54864" marT="18288" marB="18288" anchor="ctr">
                    <a:solidFill>
                      <a:srgbClr val="DDF1EA"/>
                    </a:solidFill>
                  </a:tcPr>
                </a:tc>
                <a:tc>
                  <a:txBody>
                    <a:bodyPr wrap="square"/>
                    <a:lstStyle/>
                    <a:p>
                      <a:pPr algn="r"/>
                      <a:r>
                        <a:rPr sz="1300" b="1">
                          <a:solidFill>
                            <a:srgbClr val="23314F"/>
                          </a:solidFill>
                          <a:latin typeface="Calibri"/>
                        </a:rPr>
                        <a:t>0.029*</a:t>
                      </a:r>
                    </a:p>
                  </a:txBody>
                  <a:tcPr marL="54864" marR="54864" marT="18288" marB="18288" anchor="ctr">
                    <a:solidFill>
                      <a:srgbClr val="DDF1EA"/>
                    </a:solidFill>
                  </a:tcPr>
                </a:tc>
                <a:tc>
                  <a:txBody>
                    <a:bodyPr wrap="square"/>
                    <a:lstStyle/>
                    <a:p>
                      <a:pPr algn="r"/>
                      <a:r>
                        <a:rPr sz="1300" b="1">
                          <a:solidFill>
                            <a:srgbClr val="23314F"/>
                          </a:solidFill>
                          <a:latin typeface="Calibri"/>
                        </a:rPr>
                        <a:t>568</a:t>
                      </a:r>
                    </a:p>
                  </a:txBody>
                  <a:tcPr marL="54864" marR="54864" marT="18288" marB="18288" anchor="ctr">
                    <a:solidFill>
                      <a:srgbClr val="DDF1EA"/>
                    </a:solidFill>
                  </a:tcPr>
                </a:tc>
              </a:tr>
              <a:tr h="301752">
                <a:tc>
                  <a:txBody>
                    <a:bodyPr wrap="square"/>
                    <a:lstStyle/>
                    <a:p>
                      <a:pPr algn="l"/>
                      <a:r>
                        <a:rPr sz="1300" b="0">
                          <a:solidFill>
                            <a:srgbClr val="23314F"/>
                          </a:solidFill>
                          <a:latin typeface="Calibri"/>
                        </a:rPr>
                        <a:t>4</a:t>
                      </a:r>
                    </a:p>
                  </a:txBody>
                  <a:tcPr marL="54864" marR="54864" marT="18288" marB="18288" anchor="ctr">
                    <a:solidFill>
                      <a:srgbClr val="F6F8FB"/>
                    </a:solidFill>
                  </a:tcPr>
                </a:tc>
                <a:tc>
                  <a:txBody>
                    <a:bodyPr wrap="square"/>
                    <a:lstStyle/>
                    <a:p>
                      <a:pPr algn="l"/>
                      <a:r>
                        <a:rPr sz="1300" b="0">
                          <a:solidFill>
                            <a:srgbClr val="23314F"/>
                          </a:solidFill>
                          <a:latin typeface="Calibri"/>
                        </a:rPr>
                        <a:t>LlamaExtract Agentic</a:t>
                      </a:r>
                    </a:p>
                  </a:txBody>
                  <a:tcPr marL="54864" marR="54864" marT="18288" marB="18288" anchor="ctr">
                    <a:solidFill>
                      <a:srgbClr val="F6F8FB"/>
                    </a:solidFill>
                  </a:tcPr>
                </a:tc>
                <a:tc>
                  <a:txBody>
                    <a:bodyPr wrap="square"/>
                    <a:lstStyle/>
                    <a:p>
                      <a:pPr algn="r"/>
                      <a:r>
                        <a:rPr sz="1300" b="0">
                          <a:solidFill>
                            <a:srgbClr val="23314F"/>
                          </a:solidFill>
                          <a:latin typeface="Calibri"/>
                        </a:rPr>
                        <a:t>96.04</a:t>
                      </a:r>
                    </a:p>
                  </a:txBody>
                  <a:tcPr marL="54864" marR="54864" marT="18288" marB="18288" anchor="ctr">
                    <a:solidFill>
                      <a:srgbClr val="F6F8FB"/>
                    </a:solidFill>
                  </a:tcPr>
                </a:tc>
                <a:tc>
                  <a:txBody>
                    <a:bodyPr wrap="square"/>
                    <a:lstStyle/>
                    <a:p>
                      <a:pPr algn="r"/>
                      <a:r>
                        <a:rPr sz="1300" b="0">
                          <a:solidFill>
                            <a:srgbClr val="23314F"/>
                          </a:solidFill>
                          <a:latin typeface="Calibri"/>
                        </a:rPr>
                        <a:t>92.11</a:t>
                      </a:r>
                    </a:p>
                  </a:txBody>
                  <a:tcPr marL="54864" marR="54864" marT="18288" marB="18288" anchor="ctr">
                    <a:solidFill>
                      <a:srgbClr val="F6F8FB"/>
                    </a:solidFill>
                  </a:tcPr>
                </a:tc>
                <a:tc>
                  <a:txBody>
                    <a:bodyPr wrap="square"/>
                    <a:lstStyle/>
                    <a:p>
                      <a:pPr algn="r"/>
                      <a:r>
                        <a:rPr sz="1300" b="0">
                          <a:solidFill>
                            <a:srgbClr val="23314F"/>
                          </a:solidFill>
                          <a:latin typeface="Calibri"/>
                        </a:rPr>
                        <a:t>91.83</a:t>
                      </a:r>
                    </a:p>
                  </a:txBody>
                  <a:tcPr marL="54864" marR="54864" marT="18288" marB="18288" anchor="ctr">
                    <a:solidFill>
                      <a:srgbClr val="F6F8FB"/>
                    </a:solidFill>
                  </a:tcPr>
                </a:tc>
                <a:tc>
                  <a:txBody>
                    <a:bodyPr wrap="square"/>
                    <a:lstStyle/>
                    <a:p>
                      <a:pPr algn="r"/>
                      <a:r>
                        <a:rPr sz="1300" b="0">
                          <a:solidFill>
                            <a:srgbClr val="23314F"/>
                          </a:solidFill>
                          <a:latin typeface="Calibri"/>
                        </a:rPr>
                        <a:t>94.77</a:t>
                      </a:r>
                    </a:p>
                  </a:txBody>
                  <a:tcPr marL="54864" marR="54864" marT="18288" marB="18288" anchor="ctr">
                    <a:solidFill>
                      <a:srgbClr val="F6F8FB"/>
                    </a:solidFill>
                  </a:tcPr>
                </a:tc>
                <a:tc>
                  <a:txBody>
                    <a:bodyPr wrap="square"/>
                    <a:lstStyle/>
                    <a:p>
                      <a:pPr algn="r"/>
                      <a:r>
                        <a:rPr sz="1300" b="0">
                          <a:solidFill>
                            <a:srgbClr val="23314F"/>
                          </a:solidFill>
                          <a:latin typeface="Calibri"/>
                        </a:rPr>
                        <a:t>0.033</a:t>
                      </a:r>
                    </a:p>
                  </a:txBody>
                  <a:tcPr marL="54864" marR="54864" marT="18288" marB="18288" anchor="ctr">
                    <a:solidFill>
                      <a:srgbClr val="F6F8FB"/>
                    </a:solidFill>
                  </a:tcPr>
                </a:tc>
                <a:tc>
                  <a:txBody>
                    <a:bodyPr wrap="square"/>
                    <a:lstStyle/>
                    <a:p>
                      <a:pPr algn="r"/>
                      <a:r>
                        <a:rPr sz="1300" b="0">
                          <a:solidFill>
                            <a:srgbClr val="23314F"/>
                          </a:solidFill>
                          <a:latin typeface="Calibri"/>
                        </a:rPr>
                        <a:t>80</a:t>
                      </a:r>
                    </a:p>
                  </a:txBody>
                  <a:tcPr marL="54864" marR="54864" marT="18288" marB="18288" anchor="ctr">
                    <a:solidFill>
                      <a:srgbClr val="F6F8FB"/>
                    </a:solidFill>
                  </a:tcPr>
                </a:tc>
              </a:tr>
              <a:tr h="301752">
                <a:tc>
                  <a:txBody>
                    <a:bodyPr wrap="square"/>
                    <a:lstStyle/>
                    <a:p>
                      <a:pPr algn="l"/>
                      <a:r>
                        <a:rPr sz="1300" b="0">
                          <a:solidFill>
                            <a:srgbClr val="23314F"/>
                          </a:solidFill>
                          <a:latin typeface="Calibri"/>
                        </a:rPr>
                        <a:t>5</a:t>
                      </a:r>
                    </a:p>
                  </a:txBody>
                  <a:tcPr marL="54864" marR="54864" marT="18288" marB="18288" anchor="ctr">
                    <a:solidFill>
                      <a:srgbClr val="FFFFFF"/>
                    </a:solidFill>
                  </a:tcPr>
                </a:tc>
                <a:tc>
                  <a:txBody>
                    <a:bodyPr wrap="square"/>
                    <a:lstStyle/>
                    <a:p>
                      <a:pPr algn="l"/>
                      <a:r>
                        <a:rPr sz="1300" b="0">
                          <a:solidFill>
                            <a:srgbClr val="23314F"/>
                          </a:solidFill>
                          <a:latin typeface="Calibri"/>
                        </a:rPr>
                        <a:t>Codex (GPT-6 Sol Evidence)</a:t>
                      </a:r>
                    </a:p>
                  </a:txBody>
                  <a:tcPr marL="54864" marR="54864" marT="18288" marB="18288" anchor="ctr">
                    <a:solidFill>
                      <a:srgbClr val="FFFFFF"/>
                    </a:solidFill>
                  </a:tcPr>
                </a:tc>
                <a:tc>
                  <a:txBody>
                    <a:bodyPr wrap="square"/>
                    <a:lstStyle/>
                    <a:p>
                      <a:pPr algn="r"/>
                      <a:r>
                        <a:rPr sz="1300" b="0">
                          <a:solidFill>
                            <a:srgbClr val="23314F"/>
                          </a:solidFill>
                          <a:latin typeface="Calibri"/>
                        </a:rPr>
                        <a:t>95.99</a:t>
                      </a:r>
                    </a:p>
                  </a:txBody>
                  <a:tcPr marL="54864" marR="54864" marT="18288" marB="18288" anchor="ctr">
                    <a:solidFill>
                      <a:srgbClr val="FFFFFF"/>
                    </a:solidFill>
                  </a:tcPr>
                </a:tc>
                <a:tc>
                  <a:txBody>
                    <a:bodyPr wrap="square"/>
                    <a:lstStyle/>
                    <a:p>
                      <a:pPr algn="r"/>
                      <a:r>
                        <a:rPr sz="1300" b="0">
                          <a:solidFill>
                            <a:srgbClr val="23314F"/>
                          </a:solidFill>
                          <a:latin typeface="Calibri"/>
                        </a:rPr>
                        <a:t>92.42</a:t>
                      </a:r>
                    </a:p>
                  </a:txBody>
                  <a:tcPr marL="54864" marR="54864" marT="18288" marB="18288" anchor="ctr">
                    <a:solidFill>
                      <a:srgbClr val="FFFFFF"/>
                    </a:solidFill>
                  </a:tcPr>
                </a:tc>
                <a:tc>
                  <a:txBody>
                    <a:bodyPr wrap="square"/>
                    <a:lstStyle/>
                    <a:p>
                      <a:pPr algn="r"/>
                      <a:r>
                        <a:rPr sz="1300" b="0">
                          <a:solidFill>
                            <a:srgbClr val="23314F"/>
                          </a:solidFill>
                          <a:latin typeface="Calibri"/>
                        </a:rPr>
                        <a:t>87.25</a:t>
                      </a:r>
                    </a:p>
                  </a:txBody>
                  <a:tcPr marL="54864" marR="54864" marT="18288" marB="18288" anchor="ctr">
                    <a:solidFill>
                      <a:srgbClr val="FFFFFF"/>
                    </a:solidFill>
                  </a:tcPr>
                </a:tc>
                <a:tc>
                  <a:txBody>
                    <a:bodyPr wrap="square"/>
                    <a:lstStyle/>
                    <a:p>
                      <a:pPr algn="r"/>
                      <a:r>
                        <a:rPr sz="1300" b="0">
                          <a:solidFill>
                            <a:srgbClr val="23314F"/>
                          </a:solidFill>
                          <a:latin typeface="Calibri"/>
                        </a:rPr>
                        <a:t>94.57</a:t>
                      </a:r>
                    </a:p>
                  </a:txBody>
                  <a:tcPr marL="54864" marR="54864" marT="18288" marB="18288" anchor="ctr">
                    <a:solidFill>
                      <a:srgbClr val="FFFFFF"/>
                    </a:solidFill>
                  </a:tcPr>
                </a:tc>
                <a:tc>
                  <a:txBody>
                    <a:bodyPr wrap="square"/>
                    <a:lstStyle/>
                    <a:p>
                      <a:pPr algn="r"/>
                      <a:r>
                        <a:rPr sz="1300" b="0">
                          <a:solidFill>
                            <a:srgbClr val="23314F"/>
                          </a:solidFill>
                          <a:latin typeface="Calibri"/>
                        </a:rPr>
                        <a:t>0.098</a:t>
                      </a:r>
                    </a:p>
                  </a:txBody>
                  <a:tcPr marL="54864" marR="54864" marT="18288" marB="18288" anchor="ctr">
                    <a:solidFill>
                      <a:srgbClr val="FFFFFF"/>
                    </a:solidFill>
                  </a:tcPr>
                </a:tc>
                <a:tc>
                  <a:txBody>
                    <a:bodyPr wrap="square"/>
                    <a:lstStyle/>
                    <a:p>
                      <a:pPr algn="r"/>
                      <a:r>
                        <a:rPr sz="1300" b="0">
                          <a:solidFill>
                            <a:srgbClr val="23314F"/>
                          </a:solidFill>
                          <a:latin typeface="Calibri"/>
                        </a:rPr>
                        <a:t>100</a:t>
                      </a:r>
                    </a:p>
                  </a:txBody>
                  <a:tcPr marL="54864" marR="54864" marT="18288" marB="18288" anchor="ctr">
                    <a:solidFill>
                      <a:srgbClr val="FFFFFF"/>
                    </a:solidFill>
                  </a:tcPr>
                </a:tc>
              </a:tr>
              <a:tr h="301752">
                <a:tc>
                  <a:txBody>
                    <a:bodyPr wrap="square"/>
                    <a:lstStyle/>
                    <a:p>
                      <a:pPr algn="l"/>
                      <a:r>
                        <a:rPr sz="1300" b="0">
                          <a:solidFill>
                            <a:srgbClr val="23314F"/>
                          </a:solidFill>
                          <a:latin typeface="Calibri"/>
                        </a:rPr>
                        <a:t>6</a:t>
                      </a:r>
                    </a:p>
                  </a:txBody>
                  <a:tcPr marL="54864" marR="54864" marT="18288" marB="18288" anchor="ctr">
                    <a:solidFill>
                      <a:srgbClr val="F6F8FB"/>
                    </a:solidFill>
                  </a:tcPr>
                </a:tc>
                <a:tc>
                  <a:txBody>
                    <a:bodyPr wrap="square"/>
                    <a:lstStyle/>
                    <a:p>
                      <a:pPr algn="l"/>
                      <a:r>
                        <a:rPr sz="1300" b="0">
                          <a:solidFill>
                            <a:srgbClr val="23314F"/>
                          </a:solidFill>
                          <a:latin typeface="Calibri"/>
                        </a:rPr>
                        <a:t>Codex (GPT-5.6 Sol Evidence)</a:t>
                      </a:r>
                    </a:p>
                  </a:txBody>
                  <a:tcPr marL="54864" marR="54864" marT="18288" marB="18288" anchor="ctr">
                    <a:solidFill>
                      <a:srgbClr val="F6F8FB"/>
                    </a:solidFill>
                  </a:tcPr>
                </a:tc>
                <a:tc>
                  <a:txBody>
                    <a:bodyPr wrap="square"/>
                    <a:lstStyle/>
                    <a:p>
                      <a:pPr algn="r"/>
                      <a:r>
                        <a:rPr sz="1300" b="0">
                          <a:solidFill>
                            <a:srgbClr val="23314F"/>
                          </a:solidFill>
                          <a:latin typeface="Calibri"/>
                        </a:rPr>
                        <a:t>96.04</a:t>
                      </a:r>
                    </a:p>
                  </a:txBody>
                  <a:tcPr marL="54864" marR="54864" marT="18288" marB="18288" anchor="ctr">
                    <a:solidFill>
                      <a:srgbClr val="F6F8FB"/>
                    </a:solidFill>
                  </a:tcPr>
                </a:tc>
                <a:tc>
                  <a:txBody>
                    <a:bodyPr wrap="square"/>
                    <a:lstStyle/>
                    <a:p>
                      <a:pPr algn="r"/>
                      <a:r>
                        <a:rPr sz="1300" b="0">
                          <a:solidFill>
                            <a:srgbClr val="23314F"/>
                          </a:solidFill>
                          <a:latin typeface="Calibri"/>
                        </a:rPr>
                        <a:t>90.19</a:t>
                      </a:r>
                    </a:p>
                  </a:txBody>
                  <a:tcPr marL="54864" marR="54864" marT="18288" marB="18288" anchor="ctr">
                    <a:solidFill>
                      <a:srgbClr val="F6F8FB"/>
                    </a:solidFill>
                  </a:tcPr>
                </a:tc>
                <a:tc>
                  <a:txBody>
                    <a:bodyPr wrap="square"/>
                    <a:lstStyle/>
                    <a:p>
                      <a:pPr algn="r"/>
                      <a:r>
                        <a:rPr sz="1300" b="0">
                          <a:solidFill>
                            <a:srgbClr val="23314F"/>
                          </a:solidFill>
                          <a:latin typeface="Calibri"/>
                        </a:rPr>
                        <a:t>82.73</a:t>
                      </a:r>
                    </a:p>
                  </a:txBody>
                  <a:tcPr marL="54864" marR="54864" marT="18288" marB="18288" anchor="ctr">
                    <a:solidFill>
                      <a:srgbClr val="F6F8FB"/>
                    </a:solidFill>
                  </a:tcPr>
                </a:tc>
                <a:tc>
                  <a:txBody>
                    <a:bodyPr wrap="square"/>
                    <a:lstStyle/>
                    <a:p>
                      <a:pPr algn="r"/>
                      <a:r>
                        <a:rPr sz="1300" b="0">
                          <a:solidFill>
                            <a:srgbClr val="23314F"/>
                          </a:solidFill>
                          <a:latin typeface="Calibri"/>
                        </a:rPr>
                        <a:t>93.77</a:t>
                      </a:r>
                    </a:p>
                  </a:txBody>
                  <a:tcPr marL="54864" marR="54864" marT="18288" marB="18288" anchor="ctr">
                    <a:solidFill>
                      <a:srgbClr val="F6F8FB"/>
                    </a:solidFill>
                  </a:tcPr>
                </a:tc>
                <a:tc>
                  <a:txBody>
                    <a:bodyPr wrap="square"/>
                    <a:lstStyle/>
                    <a:p>
                      <a:pPr algn="r"/>
                      <a:r>
                        <a:rPr sz="1300" b="0">
                          <a:solidFill>
                            <a:srgbClr val="23314F"/>
                          </a:solidFill>
                          <a:latin typeface="Calibri"/>
                        </a:rPr>
                        <a:t>0.216</a:t>
                      </a:r>
                    </a:p>
                  </a:txBody>
                  <a:tcPr marL="54864" marR="54864" marT="18288" marB="18288" anchor="ctr">
                    <a:solidFill>
                      <a:srgbClr val="F6F8FB"/>
                    </a:solidFill>
                  </a:tcPr>
                </a:tc>
                <a:tc>
                  <a:txBody>
                    <a:bodyPr wrap="square"/>
                    <a:lstStyle/>
                    <a:p>
                      <a:pPr algn="r"/>
                      <a:r>
                        <a:rPr sz="1300" b="0">
                          <a:solidFill>
                            <a:srgbClr val="23314F"/>
                          </a:solidFill>
                          <a:latin typeface="Calibri"/>
                        </a:rPr>
                        <a:t>104</a:t>
                      </a:r>
                    </a:p>
                  </a:txBody>
                  <a:tcPr marL="54864" marR="54864" marT="18288" marB="18288" anchor="ctr">
                    <a:solidFill>
                      <a:srgbClr val="F6F8FB"/>
                    </a:solidFill>
                  </a:tcPr>
                </a:tc>
              </a:tr>
              <a:tr h="301752">
                <a:tc>
                  <a:txBody>
                    <a:bodyPr wrap="square"/>
                    <a:lstStyle/>
                    <a:p>
                      <a:pPr algn="l"/>
                      <a:r>
                        <a:rPr sz="1300" b="0">
                          <a:solidFill>
                            <a:srgbClr val="23314F"/>
                          </a:solidFill>
                          <a:latin typeface="Calibri"/>
                        </a:rPr>
                        <a:t>7</a:t>
                      </a:r>
                    </a:p>
                  </a:txBody>
                  <a:tcPr marL="54864" marR="54864" marT="18288" marB="18288" anchor="ctr">
                    <a:solidFill>
                      <a:srgbClr val="FFFFFF"/>
                    </a:solidFill>
                  </a:tcPr>
                </a:tc>
                <a:tc>
                  <a:txBody>
                    <a:bodyPr wrap="square"/>
                    <a:lstStyle/>
                    <a:p>
                      <a:pPr algn="l"/>
                      <a:r>
                        <a:rPr sz="1300" b="0">
                          <a:solidFill>
                            <a:srgbClr val="23314F"/>
                          </a:solidFill>
                          <a:latin typeface="Calibri"/>
                        </a:rPr>
                        <a:t>Codex (GPT-5.5)</a:t>
                      </a:r>
                    </a:p>
                  </a:txBody>
                  <a:tcPr marL="54864" marR="54864" marT="18288" marB="18288" anchor="ctr">
                    <a:solidFill>
                      <a:srgbClr val="FFFFFF"/>
                    </a:solidFill>
                  </a:tcPr>
                </a:tc>
                <a:tc>
                  <a:txBody>
                    <a:bodyPr wrap="square"/>
                    <a:lstStyle/>
                    <a:p>
                      <a:pPr algn="r"/>
                      <a:r>
                        <a:rPr sz="1300" b="0">
                          <a:solidFill>
                            <a:srgbClr val="23314F"/>
                          </a:solidFill>
                          <a:latin typeface="Calibri"/>
                        </a:rPr>
                        <a:t>95.68</a:t>
                      </a:r>
                    </a:p>
                  </a:txBody>
                  <a:tcPr marL="54864" marR="54864" marT="18288" marB="18288" anchor="ctr">
                    <a:solidFill>
                      <a:srgbClr val="FFFFFF"/>
                    </a:solidFill>
                  </a:tcPr>
                </a:tc>
                <a:tc>
                  <a:txBody>
                    <a:bodyPr wrap="square"/>
                    <a:lstStyle/>
                    <a:p>
                      <a:pPr algn="r"/>
                      <a:r>
                        <a:rPr sz="1300" b="0">
                          <a:solidFill>
                            <a:srgbClr val="23314F"/>
                          </a:solidFill>
                          <a:latin typeface="Calibri"/>
                        </a:rPr>
                        <a:t>91.15</a:t>
                      </a:r>
                    </a:p>
                  </a:txBody>
                  <a:tcPr marL="54864" marR="54864" marT="18288" marB="18288" anchor="ctr">
                    <a:solidFill>
                      <a:srgbClr val="FFFFFF"/>
                    </a:solidFill>
                  </a:tcPr>
                </a:tc>
                <a:tc>
                  <a:txBody>
                    <a:bodyPr wrap="square"/>
                    <a:lstStyle/>
                    <a:p>
                      <a:pPr algn="r"/>
                      <a:r>
                        <a:rPr sz="1300" b="0">
                          <a:solidFill>
                            <a:srgbClr val="23314F"/>
                          </a:solidFill>
                          <a:latin typeface="Calibri"/>
                        </a:rPr>
                        <a:t>78.88</a:t>
                      </a:r>
                    </a:p>
                  </a:txBody>
                  <a:tcPr marL="54864" marR="54864" marT="18288" marB="18288" anchor="ctr">
                    <a:solidFill>
                      <a:srgbClr val="FFFFFF"/>
                    </a:solidFill>
                  </a:tcPr>
                </a:tc>
                <a:tc>
                  <a:txBody>
                    <a:bodyPr wrap="square"/>
                    <a:lstStyle/>
                    <a:p>
                      <a:pPr algn="r"/>
                      <a:r>
                        <a:rPr sz="1300" b="0">
                          <a:solidFill>
                            <a:srgbClr val="23314F"/>
                          </a:solidFill>
                          <a:latin typeface="Calibri"/>
                        </a:rPr>
                        <a:t>93.57</a:t>
                      </a:r>
                    </a:p>
                  </a:txBody>
                  <a:tcPr marL="54864" marR="54864" marT="18288" marB="18288" anchor="ctr">
                    <a:solidFill>
                      <a:srgbClr val="FFFFFF"/>
                    </a:solidFill>
                  </a:tcPr>
                </a:tc>
                <a:tc>
                  <a:txBody>
                    <a:bodyPr wrap="square"/>
                    <a:lstStyle/>
                    <a:p>
                      <a:pPr algn="r"/>
                      <a:r>
                        <a:rPr sz="1300" b="0">
                          <a:solidFill>
                            <a:srgbClr val="23314F"/>
                          </a:solidFill>
                          <a:latin typeface="Calibri"/>
                        </a:rPr>
                        <a:t>0.278</a:t>
                      </a:r>
                    </a:p>
                  </a:txBody>
                  <a:tcPr marL="54864" marR="54864" marT="18288" marB="18288" anchor="ctr">
                    <a:solidFill>
                      <a:srgbClr val="FFFFFF"/>
                    </a:solidFill>
                  </a:tcPr>
                </a:tc>
                <a:tc>
                  <a:txBody>
                    <a:bodyPr wrap="square"/>
                    <a:lstStyle/>
                    <a:p>
                      <a:pPr algn="r"/>
                      <a:r>
                        <a:rPr sz="1300" b="0">
                          <a:solidFill>
                            <a:srgbClr val="23314F"/>
                          </a:solidFill>
                          <a:latin typeface="Calibri"/>
                        </a:rPr>
                        <a:t>76</a:t>
                      </a:r>
                    </a:p>
                  </a:txBody>
                  <a:tcPr marL="54864" marR="54864" marT="18288" marB="18288" anchor="ctr">
                    <a:solidFill>
                      <a:srgbClr val="FFFFFF"/>
                    </a:solidFill>
                  </a:tcPr>
                </a:tc>
              </a:tr>
              <a:tr h="301752">
                <a:tc>
                  <a:txBody>
                    <a:bodyPr wrap="square"/>
                    <a:lstStyle/>
                    <a:p>
                      <a:pPr algn="l"/>
                      <a:r>
                        <a:rPr sz="1300" b="0">
                          <a:solidFill>
                            <a:srgbClr val="23314F"/>
                          </a:solidFill>
                          <a:latin typeface="Calibri"/>
                        </a:rPr>
                        <a:t>8</a:t>
                      </a:r>
                    </a:p>
                  </a:txBody>
                  <a:tcPr marL="54864" marR="54864" marT="18288" marB="18288" anchor="ctr">
                    <a:solidFill>
                      <a:srgbClr val="F6F8FB"/>
                    </a:solidFill>
                  </a:tcPr>
                </a:tc>
                <a:tc>
                  <a:txBody>
                    <a:bodyPr wrap="square"/>
                    <a:lstStyle/>
                    <a:p>
                      <a:pPr algn="l"/>
                      <a:r>
                        <a:rPr sz="1300" b="0">
                          <a:solidFill>
                            <a:srgbClr val="23314F"/>
                          </a:solidFill>
                          <a:latin typeface="Calibri"/>
                        </a:rPr>
                        <a:t>Codex (GPT-5.5 Evidence)</a:t>
                      </a:r>
                    </a:p>
                  </a:txBody>
                  <a:tcPr marL="54864" marR="54864" marT="18288" marB="18288" anchor="ctr">
                    <a:solidFill>
                      <a:srgbClr val="F6F8FB"/>
                    </a:solidFill>
                  </a:tcPr>
                </a:tc>
                <a:tc>
                  <a:txBody>
                    <a:bodyPr wrap="square"/>
                    <a:lstStyle/>
                    <a:p>
                      <a:pPr algn="r"/>
                      <a:r>
                        <a:rPr sz="1300" b="0">
                          <a:solidFill>
                            <a:srgbClr val="23314F"/>
                          </a:solidFill>
                          <a:latin typeface="Calibri"/>
                        </a:rPr>
                        <a:t>95.59</a:t>
                      </a:r>
                    </a:p>
                  </a:txBody>
                  <a:tcPr marL="54864" marR="54864" marT="18288" marB="18288" anchor="ctr">
                    <a:solidFill>
                      <a:srgbClr val="F6F8FB"/>
                    </a:solidFill>
                  </a:tcPr>
                </a:tc>
                <a:tc>
                  <a:txBody>
                    <a:bodyPr wrap="square"/>
                    <a:lstStyle/>
                    <a:p>
                      <a:pPr algn="r"/>
                      <a:r>
                        <a:rPr sz="1300" b="0">
                          <a:solidFill>
                            <a:srgbClr val="23314F"/>
                          </a:solidFill>
                          <a:latin typeface="Calibri"/>
                        </a:rPr>
                        <a:t>88.72</a:t>
                      </a:r>
                    </a:p>
                  </a:txBody>
                  <a:tcPr marL="54864" marR="54864" marT="18288" marB="18288" anchor="ctr">
                    <a:solidFill>
                      <a:srgbClr val="F6F8FB"/>
                    </a:solidFill>
                  </a:tcPr>
                </a:tc>
                <a:tc>
                  <a:txBody>
                    <a:bodyPr wrap="square"/>
                    <a:lstStyle/>
                    <a:p>
                      <a:pPr algn="r"/>
                      <a:r>
                        <a:rPr sz="1300" b="0">
                          <a:solidFill>
                            <a:srgbClr val="23314F"/>
                          </a:solidFill>
                          <a:latin typeface="Calibri"/>
                        </a:rPr>
                        <a:t>87.97</a:t>
                      </a:r>
                    </a:p>
                  </a:txBody>
                  <a:tcPr marL="54864" marR="54864" marT="18288" marB="18288" anchor="ctr">
                    <a:solidFill>
                      <a:srgbClr val="F6F8FB"/>
                    </a:solidFill>
                  </a:tcPr>
                </a:tc>
                <a:tc>
                  <a:txBody>
                    <a:bodyPr wrap="square"/>
                    <a:lstStyle/>
                    <a:p>
                      <a:pPr algn="r"/>
                      <a:r>
                        <a:rPr sz="1300" b="0">
                          <a:solidFill>
                            <a:srgbClr val="23314F"/>
                          </a:solidFill>
                          <a:latin typeface="Calibri"/>
                        </a:rPr>
                        <a:t>93.35</a:t>
                      </a:r>
                    </a:p>
                  </a:txBody>
                  <a:tcPr marL="54864" marR="54864" marT="18288" marB="18288" anchor="ctr">
                    <a:solidFill>
                      <a:srgbClr val="F6F8FB"/>
                    </a:solidFill>
                  </a:tcPr>
                </a:tc>
                <a:tc>
                  <a:txBody>
                    <a:bodyPr wrap="square"/>
                    <a:lstStyle/>
                    <a:p>
                      <a:pPr algn="r"/>
                      <a:r>
                        <a:rPr sz="1300" b="0">
                          <a:solidFill>
                            <a:srgbClr val="23314F"/>
                          </a:solidFill>
                          <a:latin typeface="Calibri"/>
                        </a:rPr>
                        <a:t>0.336</a:t>
                      </a:r>
                    </a:p>
                  </a:txBody>
                  <a:tcPr marL="54864" marR="54864" marT="18288" marB="18288" anchor="ctr">
                    <a:solidFill>
                      <a:srgbClr val="F6F8FB"/>
                    </a:solidFill>
                  </a:tcPr>
                </a:tc>
                <a:tc>
                  <a:txBody>
                    <a:bodyPr wrap="square"/>
                    <a:lstStyle/>
                    <a:p>
                      <a:pPr algn="r"/>
                      <a:r>
                        <a:rPr sz="1300" b="0">
                          <a:solidFill>
                            <a:srgbClr val="23314F"/>
                          </a:solidFill>
                          <a:latin typeface="Calibri"/>
                        </a:rPr>
                        <a:t>101</a:t>
                      </a:r>
                    </a:p>
                  </a:txBody>
                  <a:tcPr marL="54864" marR="54864" marT="18288" marB="18288" anchor="ctr">
                    <a:solidFill>
                      <a:srgbClr val="F6F8FB"/>
                    </a:solidFill>
                  </a:tcPr>
                </a:tc>
              </a:tr>
              <a:tr h="301752">
                <a:tc>
                  <a:txBody>
                    <a:bodyPr wrap="square"/>
                    <a:lstStyle/>
                    <a:p>
                      <a:pPr algn="l"/>
                      <a:r>
                        <a:rPr sz="1300" b="0">
                          <a:solidFill>
                            <a:srgbClr val="23314F"/>
                          </a:solidFill>
                          <a:latin typeface="Calibri"/>
                        </a:rPr>
                        <a:t>9</a:t>
                      </a:r>
                    </a:p>
                  </a:txBody>
                  <a:tcPr marL="54864" marR="54864" marT="18288" marB="18288" anchor="ctr">
                    <a:solidFill>
                      <a:srgbClr val="FFFFFF"/>
                    </a:solidFill>
                  </a:tcPr>
                </a:tc>
                <a:tc>
                  <a:txBody>
                    <a:bodyPr wrap="square"/>
                    <a:lstStyle/>
                    <a:p>
                      <a:pPr algn="l"/>
                      <a:r>
                        <a:rPr sz="1300" b="0">
                          <a:solidFill>
                            <a:srgbClr val="23314F"/>
                          </a:solidFill>
                          <a:latin typeface="Calibri"/>
                        </a:rPr>
                        <a:t>Pulse (Non-effort)</a:t>
                      </a:r>
                    </a:p>
                  </a:txBody>
                  <a:tcPr marL="54864" marR="54864" marT="18288" marB="18288" anchor="ctr">
                    <a:solidFill>
                      <a:srgbClr val="FFFFFF"/>
                    </a:solidFill>
                  </a:tcPr>
                </a:tc>
                <a:tc>
                  <a:txBody>
                    <a:bodyPr wrap="square"/>
                    <a:lstStyle/>
                    <a:p>
                      <a:pPr algn="r"/>
                      <a:r>
                        <a:rPr sz="1300" b="0">
                          <a:solidFill>
                            <a:srgbClr val="23314F"/>
                          </a:solidFill>
                          <a:latin typeface="Calibri"/>
                        </a:rPr>
                        <a:t>93.17</a:t>
                      </a:r>
                    </a:p>
                  </a:txBody>
                  <a:tcPr marL="54864" marR="54864" marT="18288" marB="18288" anchor="ctr">
                    <a:solidFill>
                      <a:srgbClr val="FFFFFF"/>
                    </a:solidFill>
                  </a:tcPr>
                </a:tc>
                <a:tc>
                  <a:txBody>
                    <a:bodyPr wrap="square"/>
                    <a:lstStyle/>
                    <a:p>
                      <a:pPr algn="r"/>
                      <a:r>
                        <a:rPr sz="1300" b="0">
                          <a:solidFill>
                            <a:srgbClr val="23314F"/>
                          </a:solidFill>
                          <a:latin typeface="Calibri"/>
                        </a:rPr>
                        <a:t>92.22</a:t>
                      </a:r>
                    </a:p>
                  </a:txBody>
                  <a:tcPr marL="54864" marR="54864" marT="18288" marB="18288" anchor="ctr">
                    <a:solidFill>
                      <a:srgbClr val="FFFFFF"/>
                    </a:solidFill>
                  </a:tcPr>
                </a:tc>
                <a:tc>
                  <a:txBody>
                    <a:bodyPr wrap="square"/>
                    <a:lstStyle/>
                    <a:p>
                      <a:pPr algn="r"/>
                      <a:r>
                        <a:rPr sz="1300" b="0">
                          <a:solidFill>
                            <a:srgbClr val="23314F"/>
                          </a:solidFill>
                          <a:latin typeface="Calibri"/>
                        </a:rPr>
                        <a:t>89.07</a:t>
                      </a:r>
                    </a:p>
                  </a:txBody>
                  <a:tcPr marL="54864" marR="54864" marT="18288" marB="18288" anchor="ctr">
                    <a:solidFill>
                      <a:srgbClr val="FFFFFF"/>
                    </a:solidFill>
                  </a:tcPr>
                </a:tc>
                <a:tc>
                  <a:txBody>
                    <a:bodyPr wrap="square"/>
                    <a:lstStyle/>
                    <a:p>
                      <a:pPr algn="r"/>
                      <a:r>
                        <a:rPr sz="1300" b="0">
                          <a:solidFill>
                            <a:srgbClr val="23314F"/>
                          </a:solidFill>
                          <a:latin typeface="Calibri"/>
                        </a:rPr>
                        <a:t>92.70</a:t>
                      </a:r>
                    </a:p>
                  </a:txBody>
                  <a:tcPr marL="54864" marR="54864" marT="18288" marB="18288" anchor="ctr">
                    <a:solidFill>
                      <a:srgbClr val="FFFFFF"/>
                    </a:solidFill>
                  </a:tcPr>
                </a:tc>
                <a:tc>
                  <a:txBody>
                    <a:bodyPr wrap="square"/>
                    <a:lstStyle/>
                    <a:p>
                      <a:pPr algn="r"/>
                      <a:r>
                        <a:rPr sz="1300" b="0">
                          <a:solidFill>
                            <a:srgbClr val="23314F"/>
                          </a:solidFill>
                          <a:latin typeface="Calibri"/>
                        </a:rPr>
                        <a:t>0.030</a:t>
                      </a:r>
                    </a:p>
                  </a:txBody>
                  <a:tcPr marL="54864" marR="54864" marT="18288" marB="18288" anchor="ctr">
                    <a:solidFill>
                      <a:srgbClr val="FFFFFF"/>
                    </a:solidFill>
                  </a:tcPr>
                </a:tc>
                <a:tc>
                  <a:txBody>
                    <a:bodyPr wrap="square"/>
                    <a:lstStyle/>
                    <a:p>
                      <a:pPr algn="r"/>
                      <a:r>
                        <a:rPr sz="1300" b="0">
                          <a:solidFill>
                            <a:srgbClr val="23314F"/>
                          </a:solidFill>
                          <a:latin typeface="Calibri"/>
                        </a:rPr>
                        <a:t>113</a:t>
                      </a:r>
                    </a:p>
                  </a:txBody>
                  <a:tcPr marL="54864" marR="54864" marT="18288" marB="18288" anchor="ctr">
                    <a:solidFill>
                      <a:srgbClr val="FFFFFF"/>
                    </a:solidFill>
                  </a:tcPr>
                </a:tc>
              </a:tr>
              <a:tr h="301752">
                <a:tc>
                  <a:txBody>
                    <a:bodyPr wrap="square"/>
                    <a:lstStyle/>
                    <a:p>
                      <a:pPr algn="l"/>
                      <a:r>
                        <a:rPr sz="1300" b="0">
                          <a:solidFill>
                            <a:srgbClr val="23314F"/>
                          </a:solidFill>
                          <a:latin typeface="Calibri"/>
                        </a:rPr>
                        <a:t>10</a:t>
                      </a:r>
                    </a:p>
                  </a:txBody>
                  <a:tcPr marL="54864" marR="54864" marT="18288" marB="18288" anchor="ctr">
                    <a:solidFill>
                      <a:srgbClr val="F6F8FB"/>
                    </a:solidFill>
                  </a:tcPr>
                </a:tc>
                <a:tc>
                  <a:txBody>
                    <a:bodyPr wrap="square"/>
                    <a:lstStyle/>
                    <a:p>
                      <a:pPr algn="l"/>
                      <a:r>
                        <a:rPr sz="1300" b="0">
                          <a:solidFill>
                            <a:srgbClr val="23314F"/>
                          </a:solidFill>
                          <a:latin typeface="Calibri"/>
                        </a:rPr>
                        <a:t>LlamaExtract Cost-Effective</a:t>
                      </a:r>
                    </a:p>
                  </a:txBody>
                  <a:tcPr marL="54864" marR="54864" marT="18288" marB="18288" anchor="ctr">
                    <a:solidFill>
                      <a:srgbClr val="F6F8FB"/>
                    </a:solidFill>
                  </a:tcPr>
                </a:tc>
                <a:tc>
                  <a:txBody>
                    <a:bodyPr wrap="square"/>
                    <a:lstStyle/>
                    <a:p>
                      <a:pPr algn="r"/>
                      <a:r>
                        <a:rPr sz="1300" b="0">
                          <a:solidFill>
                            <a:srgbClr val="23314F"/>
                          </a:solidFill>
                          <a:latin typeface="Calibri"/>
                        </a:rPr>
                        <a:t>94.03</a:t>
                      </a:r>
                    </a:p>
                  </a:txBody>
                  <a:tcPr marL="54864" marR="54864" marT="18288" marB="18288" anchor="ctr">
                    <a:solidFill>
                      <a:srgbClr val="F6F8FB"/>
                    </a:solidFill>
                  </a:tcPr>
                </a:tc>
                <a:tc>
                  <a:txBody>
                    <a:bodyPr wrap="square"/>
                    <a:lstStyle/>
                    <a:p>
                      <a:pPr algn="r"/>
                      <a:r>
                        <a:rPr sz="1300" b="0">
                          <a:solidFill>
                            <a:srgbClr val="23314F"/>
                          </a:solidFill>
                          <a:latin typeface="Calibri"/>
                        </a:rPr>
                        <a:t>89.51</a:t>
                      </a:r>
                    </a:p>
                  </a:txBody>
                  <a:tcPr marL="54864" marR="54864" marT="18288" marB="18288" anchor="ctr">
                    <a:solidFill>
                      <a:srgbClr val="F6F8FB"/>
                    </a:solidFill>
                  </a:tcPr>
                </a:tc>
                <a:tc>
                  <a:txBody>
                    <a:bodyPr wrap="square"/>
                    <a:lstStyle/>
                    <a:p>
                      <a:pPr algn="r"/>
                      <a:r>
                        <a:rPr sz="1300" b="0">
                          <a:solidFill>
                            <a:srgbClr val="23314F"/>
                          </a:solidFill>
                          <a:latin typeface="Calibri"/>
                        </a:rPr>
                        <a:t>83.73</a:t>
                      </a:r>
                    </a:p>
                  </a:txBody>
                  <a:tcPr marL="54864" marR="54864" marT="18288" marB="18288" anchor="ctr">
                    <a:solidFill>
                      <a:srgbClr val="F6F8FB"/>
                    </a:solidFill>
                  </a:tcPr>
                </a:tc>
                <a:tc>
                  <a:txBody>
                    <a:bodyPr wrap="square"/>
                    <a:lstStyle/>
                    <a:p>
                      <a:pPr algn="r"/>
                      <a:r>
                        <a:rPr sz="1300" b="0">
                          <a:solidFill>
                            <a:srgbClr val="23314F"/>
                          </a:solidFill>
                          <a:latin typeface="Calibri"/>
                        </a:rPr>
                        <a:t>92.27</a:t>
                      </a:r>
                    </a:p>
                  </a:txBody>
                  <a:tcPr marL="54864" marR="54864" marT="18288" marB="18288" anchor="ctr">
                    <a:solidFill>
                      <a:srgbClr val="F6F8FB"/>
                    </a:solidFill>
                  </a:tcPr>
                </a:tc>
                <a:tc>
                  <a:txBody>
                    <a:bodyPr wrap="square"/>
                    <a:lstStyle/>
                    <a:p>
                      <a:pPr algn="r"/>
                      <a:r>
                        <a:rPr sz="1300" b="0">
                          <a:solidFill>
                            <a:srgbClr val="23314F"/>
                          </a:solidFill>
                          <a:latin typeface="Calibri"/>
                        </a:rPr>
                        <a:t>0.011</a:t>
                      </a:r>
                    </a:p>
                  </a:txBody>
                  <a:tcPr marL="54864" marR="54864" marT="18288" marB="18288" anchor="ctr">
                    <a:solidFill>
                      <a:srgbClr val="F6F8FB"/>
                    </a:solidFill>
                  </a:tcPr>
                </a:tc>
                <a:tc>
                  <a:txBody>
                    <a:bodyPr wrap="square"/>
                    <a:lstStyle/>
                    <a:p>
                      <a:pPr algn="r"/>
                      <a:r>
                        <a:rPr sz="1300" b="0">
                          <a:solidFill>
                            <a:srgbClr val="23314F"/>
                          </a:solidFill>
                          <a:latin typeface="Calibri"/>
                        </a:rPr>
                        <a:t>120</a:t>
                      </a:r>
                    </a:p>
                  </a:txBody>
                  <a:tcPr marL="54864" marR="54864" marT="18288" marB="18288" anchor="ctr">
                    <a:solidFill>
                      <a:srgbClr val="F6F8FB"/>
                    </a:solidFill>
                  </a:tcPr>
                </a:tc>
              </a:tr>
              <a:tr h="301752">
                <a:tc>
                  <a:txBody>
                    <a:bodyPr wrap="square"/>
                    <a:lstStyle/>
                    <a:p>
                      <a:pPr algn="l"/>
                      <a:r>
                        <a:rPr sz="1300" b="0">
                          <a:solidFill>
                            <a:srgbClr val="23314F"/>
                          </a:solidFill>
                          <a:latin typeface="Calibri"/>
                        </a:rPr>
                        <a:t>11</a:t>
                      </a:r>
                    </a:p>
                  </a:txBody>
                  <a:tcPr marL="54864" marR="54864" marT="18288" marB="18288" anchor="ctr">
                    <a:solidFill>
                      <a:srgbClr val="FFFFFF"/>
                    </a:solidFill>
                  </a:tcPr>
                </a:tc>
                <a:tc>
                  <a:txBody>
                    <a:bodyPr wrap="square"/>
                    <a:lstStyle/>
                    <a:p>
                      <a:pPr algn="l"/>
                      <a:r>
                        <a:rPr sz="1300" b="0">
                          <a:solidFill>
                            <a:srgbClr val="23314F"/>
                          </a:solidFill>
                          <a:latin typeface="Calibri"/>
                        </a:rPr>
                        <a:t>Codex (GPT-5.6 Terra Evidence)</a:t>
                      </a:r>
                    </a:p>
                  </a:txBody>
                  <a:tcPr marL="54864" marR="54864" marT="18288" marB="18288" anchor="ctr">
                    <a:solidFill>
                      <a:srgbClr val="FFFFFF"/>
                    </a:solidFill>
                  </a:tcPr>
                </a:tc>
                <a:tc>
                  <a:txBody>
                    <a:bodyPr wrap="square"/>
                    <a:lstStyle/>
                    <a:p>
                      <a:pPr algn="r"/>
                      <a:r>
                        <a:rPr sz="1300" b="0">
                          <a:solidFill>
                            <a:srgbClr val="23314F"/>
                          </a:solidFill>
                          <a:latin typeface="Calibri"/>
                        </a:rPr>
                        <a:t>95.60</a:t>
                      </a:r>
                    </a:p>
                  </a:txBody>
                  <a:tcPr marL="54864" marR="54864" marT="18288" marB="18288" anchor="ctr">
                    <a:solidFill>
                      <a:srgbClr val="FFFFFF"/>
                    </a:solidFill>
                  </a:tcPr>
                </a:tc>
                <a:tc>
                  <a:txBody>
                    <a:bodyPr wrap="square"/>
                    <a:lstStyle/>
                    <a:p>
                      <a:pPr algn="r"/>
                      <a:r>
                        <a:rPr sz="1300" b="0">
                          <a:solidFill>
                            <a:srgbClr val="23314F"/>
                          </a:solidFill>
                          <a:latin typeface="Calibri"/>
                        </a:rPr>
                        <a:t>86.69</a:t>
                      </a:r>
                    </a:p>
                  </a:txBody>
                  <a:tcPr marL="54864" marR="54864" marT="18288" marB="18288" anchor="ctr">
                    <a:solidFill>
                      <a:srgbClr val="FFFFFF"/>
                    </a:solidFill>
                  </a:tcPr>
                </a:tc>
                <a:tc>
                  <a:txBody>
                    <a:bodyPr wrap="square"/>
                    <a:lstStyle/>
                    <a:p>
                      <a:pPr algn="r"/>
                      <a:r>
                        <a:rPr sz="1300" b="0">
                          <a:solidFill>
                            <a:srgbClr val="23314F"/>
                          </a:solidFill>
                          <a:latin typeface="Calibri"/>
                        </a:rPr>
                        <a:t>77.36</a:t>
                      </a:r>
                    </a:p>
                  </a:txBody>
                  <a:tcPr marL="54864" marR="54864" marT="18288" marB="18288" anchor="ctr">
                    <a:solidFill>
                      <a:srgbClr val="FFFFFF"/>
                    </a:solidFill>
                  </a:tcPr>
                </a:tc>
                <a:tc>
                  <a:txBody>
                    <a:bodyPr wrap="square"/>
                    <a:lstStyle/>
                    <a:p>
                      <a:pPr algn="r"/>
                      <a:r>
                        <a:rPr sz="1300" b="0">
                          <a:solidFill>
                            <a:srgbClr val="23314F"/>
                          </a:solidFill>
                          <a:latin typeface="Calibri"/>
                        </a:rPr>
                        <a:t>92.26</a:t>
                      </a:r>
                    </a:p>
                  </a:txBody>
                  <a:tcPr marL="54864" marR="54864" marT="18288" marB="18288" anchor="ctr">
                    <a:solidFill>
                      <a:srgbClr val="FFFFFF"/>
                    </a:solidFill>
                  </a:tcPr>
                </a:tc>
                <a:tc>
                  <a:txBody>
                    <a:bodyPr wrap="square"/>
                    <a:lstStyle/>
                    <a:p>
                      <a:pPr algn="r"/>
                      <a:r>
                        <a:rPr sz="1300" b="0">
                          <a:solidFill>
                            <a:srgbClr val="23314F"/>
                          </a:solidFill>
                          <a:latin typeface="Calibri"/>
                        </a:rPr>
                        <a:t>0.095</a:t>
                      </a:r>
                    </a:p>
                  </a:txBody>
                  <a:tcPr marL="54864" marR="54864" marT="18288" marB="18288" anchor="ctr">
                    <a:solidFill>
                      <a:srgbClr val="FFFFFF"/>
                    </a:solidFill>
                  </a:tcPr>
                </a:tc>
                <a:tc>
                  <a:txBody>
                    <a:bodyPr wrap="square"/>
                    <a:lstStyle/>
                    <a:p>
                      <a:pPr algn="r"/>
                      <a:r>
                        <a:rPr sz="1300" b="0">
                          <a:solidFill>
                            <a:srgbClr val="23314F"/>
                          </a:solidFill>
                          <a:latin typeface="Calibri"/>
                        </a:rPr>
                        <a:t>78</a:t>
                      </a:r>
                    </a:p>
                  </a:txBody>
                  <a:tcPr marL="54864" marR="54864" marT="18288" marB="18288" anchor="ctr">
                    <a:solidFill>
                      <a:srgbClr val="FFFFFF"/>
                    </a:solidFill>
                  </a:tcPr>
                </a:tc>
              </a:tr>
              <a:tr h="301752">
                <a:tc>
                  <a:txBody>
                    <a:bodyPr wrap="square"/>
                    <a:lstStyle/>
                    <a:p>
                      <a:pPr algn="l"/>
                      <a:r>
                        <a:rPr sz="1300" b="0">
                          <a:solidFill>
                            <a:srgbClr val="23314F"/>
                          </a:solidFill>
                          <a:latin typeface="Calibri"/>
                        </a:rPr>
                        <a:t>12</a:t>
                      </a:r>
                    </a:p>
                  </a:txBody>
                  <a:tcPr marL="54864" marR="54864" marT="18288" marB="18288" anchor="ctr">
                    <a:solidFill>
                      <a:srgbClr val="F6F8FB"/>
                    </a:solidFill>
                  </a:tcPr>
                </a:tc>
                <a:tc>
                  <a:txBody>
                    <a:bodyPr wrap="square"/>
                    <a:lstStyle/>
                    <a:p>
                      <a:pPr algn="l"/>
                      <a:r>
                        <a:rPr sz="1300" b="0">
                          <a:solidFill>
                            <a:srgbClr val="23314F"/>
                          </a:solidFill>
                          <a:latin typeface="Calibri"/>
                        </a:rPr>
                        <a:t>OpenAI GPT-6 Astra</a:t>
                      </a:r>
                    </a:p>
                  </a:txBody>
                  <a:tcPr marL="54864" marR="54864" marT="18288" marB="18288" anchor="ctr">
                    <a:solidFill>
                      <a:srgbClr val="F6F8FB"/>
                    </a:solidFill>
                  </a:tcPr>
                </a:tc>
                <a:tc>
                  <a:txBody>
                    <a:bodyPr wrap="square"/>
                    <a:lstStyle/>
                    <a:p>
                      <a:pPr algn="r"/>
                      <a:r>
                        <a:rPr sz="1300" b="0">
                          <a:solidFill>
                            <a:srgbClr val="23314F"/>
                          </a:solidFill>
                          <a:latin typeface="Calibri"/>
                        </a:rPr>
                        <a:t>97.22</a:t>
                      </a:r>
                    </a:p>
                  </a:txBody>
                  <a:tcPr marL="54864" marR="54864" marT="18288" marB="18288" anchor="ctr">
                    <a:solidFill>
                      <a:srgbClr val="F6F8FB"/>
                    </a:solidFill>
                  </a:tcPr>
                </a:tc>
                <a:tc>
                  <a:txBody>
                    <a:bodyPr wrap="square"/>
                    <a:lstStyle/>
                    <a:p>
                      <a:pPr algn="r"/>
                      <a:r>
                        <a:rPr sz="1300" b="0">
                          <a:solidFill>
                            <a:srgbClr val="23314F"/>
                          </a:solidFill>
                          <a:latin typeface="Calibri"/>
                        </a:rPr>
                        <a:t>90.56</a:t>
                      </a:r>
                    </a:p>
                  </a:txBody>
                  <a:tcPr marL="54864" marR="54864" marT="18288" marB="18288" anchor="ctr">
                    <a:solidFill>
                      <a:srgbClr val="F6F8FB"/>
                    </a:solidFill>
                  </a:tcPr>
                </a:tc>
                <a:tc>
                  <a:txBody>
                    <a:bodyPr wrap="square"/>
                    <a:lstStyle/>
                    <a:p>
                      <a:pPr algn="r"/>
                      <a:r>
                        <a:rPr sz="1300" b="0">
                          <a:solidFill>
                            <a:srgbClr val="23314F"/>
                          </a:solidFill>
                          <a:latin typeface="Calibri"/>
                        </a:rPr>
                        <a:t>31.70</a:t>
                      </a:r>
                    </a:p>
                  </a:txBody>
                  <a:tcPr marL="54864" marR="54864" marT="18288" marB="18288" anchor="ctr">
                    <a:solidFill>
                      <a:srgbClr val="F6F8FB"/>
                    </a:solidFill>
                  </a:tcPr>
                </a:tc>
                <a:tc>
                  <a:txBody>
                    <a:bodyPr wrap="square"/>
                    <a:lstStyle/>
                    <a:p>
                      <a:pPr algn="r"/>
                      <a:r>
                        <a:rPr sz="1300" b="0">
                          <a:solidFill>
                            <a:srgbClr val="23314F"/>
                          </a:solidFill>
                          <a:latin typeface="Calibri"/>
                        </a:rPr>
                        <a:t>91.91</a:t>
                      </a:r>
                    </a:p>
                  </a:txBody>
                  <a:tcPr marL="54864" marR="54864" marT="18288" marB="18288" anchor="ctr">
                    <a:solidFill>
                      <a:srgbClr val="F6F8FB"/>
                    </a:solidFill>
                  </a:tcPr>
                </a:tc>
                <a:tc>
                  <a:txBody>
                    <a:bodyPr wrap="square"/>
                    <a:lstStyle/>
                    <a:p>
                      <a:pPr algn="r"/>
                      <a:r>
                        <a:rPr sz="1300" b="0">
                          <a:solidFill>
                            <a:srgbClr val="23314F"/>
                          </a:solidFill>
                          <a:latin typeface="Calibri"/>
                        </a:rPr>
                        <a:t>0.111</a:t>
                      </a:r>
                    </a:p>
                  </a:txBody>
                  <a:tcPr marL="54864" marR="54864" marT="18288" marB="18288" anchor="ctr">
                    <a:solidFill>
                      <a:srgbClr val="F6F8FB"/>
                    </a:solidFill>
                  </a:tcPr>
                </a:tc>
                <a:tc>
                  <a:txBody>
                    <a:bodyPr wrap="square"/>
                    <a:lstStyle/>
                    <a:p>
                      <a:pPr algn="r"/>
                      <a:r>
                        <a:rPr sz="1300" b="0">
                          <a:solidFill>
                            <a:srgbClr val="23314F"/>
                          </a:solidFill>
                          <a:latin typeface="Calibri"/>
                        </a:rPr>
                        <a:t>57</a:t>
                      </a:r>
                    </a:p>
                  </a:txBody>
                  <a:tcPr marL="54864" marR="54864" marT="18288" marB="18288" anchor="ctr">
                    <a:solidFill>
                      <a:srgbClr val="F6F8FB"/>
                    </a:solidFill>
                  </a:tcPr>
                </a:tc>
              </a:tr>
              <a:tr h="301752">
                <a:tc>
                  <a:txBody>
                    <a:bodyPr wrap="square"/>
                    <a:lstStyle/>
                    <a:p>
                      <a:pPr algn="l"/>
                      <a:r>
                        <a:rPr sz="1300" b="0">
                          <a:solidFill>
                            <a:srgbClr val="23314F"/>
                          </a:solidFill>
                          <a:latin typeface="Calibri"/>
                        </a:rPr>
                        <a:t>13</a:t>
                      </a:r>
                    </a:p>
                  </a:txBody>
                  <a:tcPr marL="54864" marR="54864" marT="18288" marB="18288" anchor="ctr">
                    <a:solidFill>
                      <a:srgbClr val="FFFFFF"/>
                    </a:solidFill>
                  </a:tcPr>
                </a:tc>
                <a:tc>
                  <a:txBody>
                    <a:bodyPr wrap="square"/>
                    <a:lstStyle/>
                    <a:p>
                      <a:pPr algn="l"/>
                      <a:r>
                        <a:rPr sz="1300" b="0">
                          <a:solidFill>
                            <a:srgbClr val="23314F"/>
                          </a:solidFill>
                          <a:latin typeface="Calibri"/>
                        </a:rPr>
                        <a:t>Codex (GPT-5.6 Luna Evidence)</a:t>
                      </a:r>
                    </a:p>
                  </a:txBody>
                  <a:tcPr marL="54864" marR="54864" marT="18288" marB="18288" anchor="ctr">
                    <a:solidFill>
                      <a:srgbClr val="FFFFFF"/>
                    </a:solidFill>
                  </a:tcPr>
                </a:tc>
                <a:tc>
                  <a:txBody>
                    <a:bodyPr wrap="square"/>
                    <a:lstStyle/>
                    <a:p>
                      <a:pPr algn="r"/>
                      <a:r>
                        <a:rPr sz="1300" b="0">
                          <a:solidFill>
                            <a:srgbClr val="23314F"/>
                          </a:solidFill>
                          <a:latin typeface="Calibri"/>
                        </a:rPr>
                        <a:t>93.50</a:t>
                      </a:r>
                    </a:p>
                  </a:txBody>
                  <a:tcPr marL="54864" marR="54864" marT="18288" marB="18288" anchor="ctr">
                    <a:solidFill>
                      <a:srgbClr val="FFFFFF"/>
                    </a:solidFill>
                  </a:tcPr>
                </a:tc>
                <a:tc>
                  <a:txBody>
                    <a:bodyPr wrap="square"/>
                    <a:lstStyle/>
                    <a:p>
                      <a:pPr algn="r"/>
                      <a:r>
                        <a:rPr sz="1300" b="0">
                          <a:solidFill>
                            <a:srgbClr val="23314F"/>
                          </a:solidFill>
                          <a:latin typeface="Calibri"/>
                        </a:rPr>
                        <a:t>87.43</a:t>
                      </a:r>
                    </a:p>
                  </a:txBody>
                  <a:tcPr marL="54864" marR="54864" marT="18288" marB="18288" anchor="ctr">
                    <a:solidFill>
                      <a:srgbClr val="FFFFFF"/>
                    </a:solidFill>
                  </a:tcPr>
                </a:tc>
                <a:tc>
                  <a:txBody>
                    <a:bodyPr wrap="square"/>
                    <a:lstStyle/>
                    <a:p>
                      <a:pPr algn="r"/>
                      <a:r>
                        <a:rPr sz="1300" b="0">
                          <a:solidFill>
                            <a:srgbClr val="23314F"/>
                          </a:solidFill>
                          <a:latin typeface="Calibri"/>
                        </a:rPr>
                        <a:t>80.05</a:t>
                      </a:r>
                    </a:p>
                  </a:txBody>
                  <a:tcPr marL="54864" marR="54864" marT="18288" marB="18288" anchor="ctr">
                    <a:solidFill>
                      <a:srgbClr val="FFFFFF"/>
                    </a:solidFill>
                  </a:tcPr>
                </a:tc>
                <a:tc>
                  <a:txBody>
                    <a:bodyPr wrap="square"/>
                    <a:lstStyle/>
                    <a:p>
                      <a:pPr algn="r"/>
                      <a:r>
                        <a:rPr sz="1300" b="0">
                          <a:solidFill>
                            <a:srgbClr val="23314F"/>
                          </a:solidFill>
                          <a:latin typeface="Calibri"/>
                        </a:rPr>
                        <a:t>91.16</a:t>
                      </a:r>
                    </a:p>
                  </a:txBody>
                  <a:tcPr marL="54864" marR="54864" marT="18288" marB="18288" anchor="ctr">
                    <a:solidFill>
                      <a:srgbClr val="FFFFFF"/>
                    </a:solidFill>
                  </a:tcPr>
                </a:tc>
                <a:tc>
                  <a:txBody>
                    <a:bodyPr wrap="square"/>
                    <a:lstStyle/>
                    <a:p>
                      <a:pPr algn="r"/>
                      <a:r>
                        <a:rPr sz="1300" b="0">
                          <a:solidFill>
                            <a:srgbClr val="23314F"/>
                          </a:solidFill>
                          <a:latin typeface="Calibri"/>
                        </a:rPr>
                        <a:t>0.012</a:t>
                      </a:r>
                    </a:p>
                  </a:txBody>
                  <a:tcPr marL="54864" marR="54864" marT="18288" marB="18288" anchor="ctr">
                    <a:solidFill>
                      <a:srgbClr val="FFFFFF"/>
                    </a:solidFill>
                  </a:tcPr>
                </a:tc>
                <a:tc>
                  <a:txBody>
                    <a:bodyPr wrap="square"/>
                    <a:lstStyle/>
                    <a:p>
                      <a:pPr algn="r"/>
                      <a:r>
                        <a:rPr sz="1300" b="0">
                          <a:solidFill>
                            <a:srgbClr val="23314F"/>
                          </a:solidFill>
                          <a:latin typeface="Calibri"/>
                        </a:rPr>
                        <a:t>126</a:t>
                      </a:r>
                    </a:p>
                  </a:txBody>
                  <a:tcPr marL="54864" marR="54864" marT="18288" marB="18288" anchor="ctr">
                    <a:solidFill>
                      <a:srgbClr val="FFFFFF"/>
                    </a:solidFill>
                  </a:tcPr>
                </a:tc>
              </a:tr>
              <a:tr h="301752">
                <a:tc>
                  <a:txBody>
                    <a:bodyPr wrap="square"/>
                    <a:lstStyle/>
                    <a:p>
                      <a:pPr algn="l"/>
                      <a:r>
                        <a:rPr sz="1300" b="0">
                          <a:solidFill>
                            <a:srgbClr val="23314F"/>
                          </a:solidFill>
                          <a:latin typeface="Calibri"/>
                        </a:rPr>
                        <a:t>14</a:t>
                      </a:r>
                    </a:p>
                  </a:txBody>
                  <a:tcPr marL="54864" marR="54864" marT="18288" marB="18288" anchor="ctr">
                    <a:solidFill>
                      <a:srgbClr val="F6F8FB"/>
                    </a:solidFill>
                  </a:tcPr>
                </a:tc>
                <a:tc>
                  <a:txBody>
                    <a:bodyPr wrap="square"/>
                    <a:lstStyle/>
                    <a:p>
                      <a:pPr algn="l"/>
                      <a:r>
                        <a:rPr sz="1300" b="0">
                          <a:solidFill>
                            <a:srgbClr val="23314F"/>
                          </a:solidFill>
                          <a:latin typeface="Calibri"/>
                        </a:rPr>
                        <a:t>Codex (GPT-6 Luna Evidence)</a:t>
                      </a:r>
                    </a:p>
                  </a:txBody>
                  <a:tcPr marL="54864" marR="54864" marT="18288" marB="18288" anchor="ctr">
                    <a:solidFill>
                      <a:srgbClr val="F6F8FB"/>
                    </a:solidFill>
                  </a:tcPr>
                </a:tc>
                <a:tc>
                  <a:txBody>
                    <a:bodyPr wrap="square"/>
                    <a:lstStyle/>
                    <a:p>
                      <a:pPr algn="r"/>
                      <a:r>
                        <a:rPr sz="1300" b="0">
                          <a:solidFill>
                            <a:srgbClr val="23314F"/>
                          </a:solidFill>
                          <a:latin typeface="Calibri"/>
                        </a:rPr>
                        <a:t>93.09</a:t>
                      </a:r>
                    </a:p>
                  </a:txBody>
                  <a:tcPr marL="54864" marR="54864" marT="18288" marB="18288" anchor="ctr">
                    <a:solidFill>
                      <a:srgbClr val="F6F8FB"/>
                    </a:solidFill>
                  </a:tcPr>
                </a:tc>
                <a:tc>
                  <a:txBody>
                    <a:bodyPr wrap="square"/>
                    <a:lstStyle/>
                    <a:p>
                      <a:pPr algn="r"/>
                      <a:r>
                        <a:rPr sz="1300" b="0">
                          <a:solidFill>
                            <a:srgbClr val="23314F"/>
                          </a:solidFill>
                          <a:latin typeface="Calibri"/>
                        </a:rPr>
                        <a:t>87.71</a:t>
                      </a:r>
                    </a:p>
                  </a:txBody>
                  <a:tcPr marL="54864" marR="54864" marT="18288" marB="18288" anchor="ctr">
                    <a:solidFill>
                      <a:srgbClr val="F6F8FB"/>
                    </a:solidFill>
                  </a:tcPr>
                </a:tc>
                <a:tc>
                  <a:txBody>
                    <a:bodyPr wrap="square"/>
                    <a:lstStyle/>
                    <a:p>
                      <a:pPr algn="r"/>
                      <a:r>
                        <a:rPr sz="1300" b="0">
                          <a:solidFill>
                            <a:srgbClr val="23314F"/>
                          </a:solidFill>
                          <a:latin typeface="Calibri"/>
                        </a:rPr>
                        <a:t>80.88</a:t>
                      </a:r>
                    </a:p>
                  </a:txBody>
                  <a:tcPr marL="54864" marR="54864" marT="18288" marB="18288" anchor="ctr">
                    <a:solidFill>
                      <a:srgbClr val="F6F8FB"/>
                    </a:solidFill>
                  </a:tcPr>
                </a:tc>
                <a:tc>
                  <a:txBody>
                    <a:bodyPr wrap="square"/>
                    <a:lstStyle/>
                    <a:p>
                      <a:pPr algn="r"/>
                      <a:r>
                        <a:rPr sz="1300" b="0">
                          <a:solidFill>
                            <a:srgbClr val="23314F"/>
                          </a:solidFill>
                          <a:latin typeface="Calibri"/>
                        </a:rPr>
                        <a:t>91.01</a:t>
                      </a:r>
                    </a:p>
                  </a:txBody>
                  <a:tcPr marL="54864" marR="54864" marT="18288" marB="18288" anchor="ctr">
                    <a:solidFill>
                      <a:srgbClr val="F6F8FB"/>
                    </a:solidFill>
                  </a:tcPr>
                </a:tc>
                <a:tc>
                  <a:txBody>
                    <a:bodyPr wrap="square"/>
                    <a:lstStyle/>
                    <a:p>
                      <a:pPr algn="r"/>
                      <a:r>
                        <a:rPr sz="1300" b="0">
                          <a:solidFill>
                            <a:srgbClr val="23314F"/>
                          </a:solidFill>
                          <a:latin typeface="Calibri"/>
                        </a:rPr>
                        <a:t>0.010</a:t>
                      </a:r>
                    </a:p>
                  </a:txBody>
                  <a:tcPr marL="54864" marR="54864" marT="18288" marB="18288" anchor="ctr">
                    <a:solidFill>
                      <a:srgbClr val="F6F8FB"/>
                    </a:solidFill>
                  </a:tcPr>
                </a:tc>
                <a:tc>
                  <a:txBody>
                    <a:bodyPr wrap="square"/>
                    <a:lstStyle/>
                    <a:p>
                      <a:pPr algn="r"/>
                      <a:r>
                        <a:rPr sz="1300" b="0">
                          <a:solidFill>
                            <a:srgbClr val="23314F"/>
                          </a:solidFill>
                          <a:latin typeface="Calibri"/>
                        </a:rPr>
                        <a:t>219</a:t>
                      </a:r>
                    </a:p>
                  </a:txBody>
                  <a:tcPr marL="54864" marR="54864" marT="18288" marB="18288" anchor="ctr">
                    <a:solidFill>
                      <a:srgbClr val="F6F8FB"/>
                    </a:solidFill>
                  </a:tcPr>
                </a:tc>
              </a:tr>
              <a:tr h="301752">
                <a:tc>
                  <a:txBody>
                    <a:bodyPr wrap="square"/>
                    <a:lstStyle/>
                    <a:p>
                      <a:pPr algn="l"/>
                      <a:r>
                        <a:rPr sz="1300" b="0">
                          <a:solidFill>
                            <a:srgbClr val="23314F"/>
                          </a:solidFill>
                          <a:latin typeface="Calibri"/>
                        </a:rPr>
                        <a:t/>
                      </a:r>
                    </a:p>
                  </a:txBody>
                  <a:tcPr marL="54864" marR="54864" marT="18288" marB="18288" anchor="ctr">
                    <a:solidFill>
                      <a:srgbClr val="FFFFFF"/>
                    </a:solidFill>
                  </a:tcPr>
                </a:tc>
                <a:tc>
                  <a:txBody>
                    <a:bodyPr wrap="square"/>
                    <a:lstStyle/>
                    <a:p>
                      <a:pPr algn="l"/>
                      <a:r>
                        <a:rPr sz="1300" b="0">
                          <a:solidFill>
                            <a:srgbClr val="23314F"/>
                          </a:solidFill>
                          <a:latin typeface="Calibri"/>
                        </a:rPr>
                        <a:t>… 34 more systems (models, coding agents, APIs)</a:t>
                      </a:r>
                    </a:p>
                  </a:txBody>
                  <a:tcPr marL="54864" marR="54864" marT="18288" marB="18288" anchor="ctr">
                    <a:solidFill>
                      <a:srgbClr val="FFFFFF"/>
                    </a:solidFill>
                  </a:tcPr>
                </a:tc>
                <a:tc>
                  <a:txBody>
                    <a:bodyPr wrap="square"/>
                    <a:lstStyle/>
                    <a:p>
                      <a:pPr algn="r"/>
                      <a:r>
                        <a:rPr sz="1300" b="0">
                          <a:solidFill>
                            <a:srgbClr val="23314F"/>
                          </a:solidFill>
                          <a:latin typeface="Calibri"/>
                        </a:rPr>
                        <a:t/>
                      </a:r>
                    </a:p>
                  </a:txBody>
                  <a:tcPr marL="54864" marR="54864" marT="18288" marB="18288" anchor="ctr">
                    <a:solidFill>
                      <a:srgbClr val="FFFFFF"/>
                    </a:solidFill>
                  </a:tcPr>
                </a:tc>
                <a:tc>
                  <a:txBody>
                    <a:bodyPr wrap="square"/>
                    <a:lstStyle/>
                    <a:p>
                      <a:pPr algn="r"/>
                      <a:r>
                        <a:rPr sz="1300" b="0">
                          <a:solidFill>
                            <a:srgbClr val="23314F"/>
                          </a:solidFill>
                          <a:latin typeface="Calibri"/>
                        </a:rPr>
                        <a:t/>
                      </a:r>
                    </a:p>
                  </a:txBody>
                  <a:tcPr marL="54864" marR="54864" marT="18288" marB="18288" anchor="ctr">
                    <a:solidFill>
                      <a:srgbClr val="FFFFFF"/>
                    </a:solidFill>
                  </a:tcPr>
                </a:tc>
                <a:tc>
                  <a:txBody>
                    <a:bodyPr wrap="square"/>
                    <a:lstStyle/>
                    <a:p>
                      <a:pPr algn="r"/>
                      <a:r>
                        <a:rPr sz="1300" b="0">
                          <a:solidFill>
                            <a:srgbClr val="23314F"/>
                          </a:solidFill>
                          <a:latin typeface="Calibri"/>
                        </a:rPr>
                        <a:t/>
                      </a:r>
                    </a:p>
                  </a:txBody>
                  <a:tcPr marL="54864" marR="54864" marT="18288" marB="18288" anchor="ctr">
                    <a:solidFill>
                      <a:srgbClr val="FFFFFF"/>
                    </a:solidFill>
                  </a:tcPr>
                </a:tc>
                <a:tc>
                  <a:txBody>
                    <a:bodyPr wrap="square"/>
                    <a:lstStyle/>
                    <a:p>
                      <a:pPr algn="r"/>
                      <a:r>
                        <a:rPr sz="1300" b="0">
                          <a:solidFill>
                            <a:srgbClr val="23314F"/>
                          </a:solidFill>
                          <a:latin typeface="Calibri"/>
                        </a:rPr>
                        <a:t/>
                      </a:r>
                    </a:p>
                  </a:txBody>
                  <a:tcPr marL="54864" marR="54864" marT="18288" marB="18288" anchor="ctr">
                    <a:solidFill>
                      <a:srgbClr val="FFFFFF"/>
                    </a:solidFill>
                  </a:tcPr>
                </a:tc>
                <a:tc>
                  <a:txBody>
                    <a:bodyPr wrap="square"/>
                    <a:lstStyle/>
                    <a:p>
                      <a:pPr algn="r"/>
                      <a:r>
                        <a:rPr sz="1300" b="0">
                          <a:solidFill>
                            <a:srgbClr val="23314F"/>
                          </a:solidFill>
                          <a:latin typeface="Calibri"/>
                        </a:rPr>
                        <a:t/>
                      </a:r>
                    </a:p>
                  </a:txBody>
                  <a:tcPr marL="54864" marR="54864" marT="18288" marB="18288" anchor="ctr">
                    <a:solidFill>
                      <a:srgbClr val="FFFFFF"/>
                    </a:solidFill>
                  </a:tcPr>
                </a:tc>
                <a:tc>
                  <a:txBody>
                    <a:bodyPr wrap="square"/>
                    <a:lstStyle/>
                    <a:p>
                      <a:pPr algn="r"/>
                      <a:r>
                        <a:rPr sz="1300" b="0">
                          <a:solidFill>
                            <a:srgbClr val="23314F"/>
                          </a:solidFill>
                          <a:latin typeface="Calibri"/>
                        </a:rPr>
                        <a:t/>
                      </a:r>
                    </a:p>
                  </a:txBody>
                  <a:tcPr marL="54864" marR="54864" marT="18288" marB="18288"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713232"/>
            <a:ext cx="11247120" cy="640080"/>
          </a:xfrm>
          <a:prstGeom prst="rect">
            <a:avLst/>
          </a:prstGeom>
          <a:noFill/>
        </p:spPr>
        <p:txBody>
          <a:bodyPr wrap="square" lIns="0" rIns="0" tIns="0" bIns="0" anchor="t">
            <a:spAutoFit/>
          </a:bodyPr>
          <a:lstStyle/>
          <a:p>
            <a:pPr algn="l">
              <a:spcAft>
                <a:spcPts val="400"/>
              </a:spcAft>
            </a:pPr>
            <a:r>
              <a:rPr sz="3000" b="1" i="0">
                <a:solidFill>
                  <a:srgbClr val="1B2A4A"/>
                </a:solidFill>
                <a:latin typeface="Cambria"/>
              </a:rPr>
              <a:t>UNIKIE-BENCH: DocQuorum is 1st of 16</a:t>
            </a:r>
          </a:p>
        </p:txBody>
      </p:sp>
      <p:sp>
        <p:nvSpPr>
          <p:cNvPr id="3" name="TextBox 2"/>
          <p:cNvSpPr txBox="1"/>
          <p:nvPr/>
        </p:nvSpPr>
        <p:spPr>
          <a:xfrm>
            <a:off x="457200" y="6473952"/>
            <a:ext cx="11247120" cy="256032"/>
          </a:xfrm>
          <a:prstGeom prst="rect">
            <a:avLst/>
          </a:prstGeom>
          <a:noFill/>
        </p:spPr>
        <p:txBody>
          <a:bodyPr wrap="square" lIns="0" rIns="0" tIns="0" bIns="0" anchor="t">
            <a:spAutoFit/>
          </a:bodyPr>
          <a:lstStyle/>
          <a:p>
            <a:pPr algn="l">
              <a:spcAft>
                <a:spcPts val="400"/>
              </a:spcAft>
            </a:pPr>
            <a:r>
              <a:rPr sz="1000" b="0" i="0">
                <a:solidFill>
                  <a:srgbClr val="5B6577"/>
                </a:solidFill>
                <a:latin typeface="Calibri"/>
              </a:rPr>
              <a:t>UNIKIE-BENCH (ACL 2026), Table 4: 15 published systems; macro F1 (%) over 11 scenarios, 4,472 images.</a:t>
            </a:r>
          </a:p>
        </p:txBody>
      </p:sp>
      <p:graphicFrame>
        <p:nvGraphicFramePr>
          <p:cNvPr id="4" name="Table 3"/>
          <p:cNvGraphicFramePr>
            <a:graphicFrameLocks noGrp="1"/>
          </p:cNvGraphicFramePr>
          <p:nvPr/>
        </p:nvGraphicFramePr>
        <p:xfrm>
          <a:off x="457200" y="1417320"/>
          <a:ext cx="6583680" cy="4663440"/>
        </p:xfrm>
        <a:graphic>
          <a:graphicData uri="http://schemas.openxmlformats.org/drawingml/2006/table">
            <a:tbl>
              <a:tblPr firstRow="1" bandRow="1">
                <a:tableStyleId>{5C22544A-7EE6-4342-B048-85BDC9FD1C3A}</a:tableStyleId>
              </a:tblPr>
              <a:tblGrid>
                <a:gridCol w="548640"/>
                <a:gridCol w="4663440"/>
                <a:gridCol w="1371600"/>
              </a:tblGrid>
              <a:tr h="274320">
                <a:tc>
                  <a:txBody>
                    <a:bodyPr wrap="square"/>
                    <a:lstStyle/>
                    <a:p>
                      <a:pPr algn="l"/>
                      <a:r>
                        <a:rPr sz="1200" b="1">
                          <a:solidFill>
                            <a:srgbClr val="FFFFFF"/>
                          </a:solidFill>
                          <a:latin typeface="Calibri"/>
                        </a:rPr>
                        <a:t>#</a:t>
                      </a:r>
                    </a:p>
                  </a:txBody>
                  <a:tcPr marL="54864" marR="54864" marT="18288" marB="18288" anchor="ctr">
                    <a:solidFill>
                      <a:srgbClr val="1B2A4A"/>
                    </a:solidFill>
                  </a:tcPr>
                </a:tc>
                <a:tc>
                  <a:txBody>
                    <a:bodyPr wrap="square"/>
                    <a:lstStyle/>
                    <a:p>
                      <a:pPr algn="l"/>
                      <a:r>
                        <a:rPr sz="1200" b="1">
                          <a:solidFill>
                            <a:srgbClr val="FFFFFF"/>
                          </a:solidFill>
                          <a:latin typeface="Calibri"/>
                        </a:rPr>
                        <a:t>System</a:t>
                      </a:r>
                    </a:p>
                  </a:txBody>
                  <a:tcPr marL="54864" marR="54864" marT="18288" marB="18288" anchor="ctr">
                    <a:solidFill>
                      <a:srgbClr val="1B2A4A"/>
                    </a:solidFill>
                  </a:tcPr>
                </a:tc>
                <a:tc>
                  <a:txBody>
                    <a:bodyPr wrap="square"/>
                    <a:lstStyle/>
                    <a:p>
                      <a:pPr algn="r"/>
                      <a:r>
                        <a:rPr sz="1200" b="1">
                          <a:solidFill>
                            <a:srgbClr val="FFFFFF"/>
                          </a:solidFill>
                          <a:latin typeface="Calibri"/>
                        </a:rPr>
                        <a:t>Macro F1</a:t>
                      </a:r>
                    </a:p>
                  </a:txBody>
                  <a:tcPr marL="54864" marR="54864" marT="18288" marB="18288" anchor="ctr">
                    <a:solidFill>
                      <a:srgbClr val="1B2A4A"/>
                    </a:solidFill>
                  </a:tcPr>
                </a:tc>
              </a:tr>
              <a:tr h="274320">
                <a:tc>
                  <a:txBody>
                    <a:bodyPr wrap="square"/>
                    <a:lstStyle/>
                    <a:p>
                      <a:pPr algn="l"/>
                      <a:r>
                        <a:rPr sz="1200" b="0">
                          <a:solidFill>
                            <a:srgbClr val="23314F"/>
                          </a:solidFill>
                          <a:latin typeface="Calibri"/>
                        </a:rPr>
                        <a:t>1</a:t>
                      </a:r>
                    </a:p>
                  </a:txBody>
                  <a:tcPr marL="54864" marR="54864" marT="18288" marB="18288" anchor="ctr">
                    <a:solidFill>
                      <a:srgbClr val="FFFFFF"/>
                    </a:solidFill>
                  </a:tcPr>
                </a:tc>
                <a:tc>
                  <a:txBody>
                    <a:bodyPr wrap="square"/>
                    <a:lstStyle/>
                    <a:p>
                      <a:pPr algn="l"/>
                      <a:r>
                        <a:rPr sz="1200" b="0">
                          <a:solidFill>
                            <a:srgbClr val="23314F"/>
                          </a:solidFill>
                          <a:latin typeface="Calibri"/>
                        </a:rPr>
                        <a:t>DocQuorum (ours, open models)</a:t>
                      </a:r>
                    </a:p>
                  </a:txBody>
                  <a:tcPr marL="54864" marR="54864" marT="18288" marB="18288" anchor="ctr">
                    <a:solidFill>
                      <a:srgbClr val="FFFFFF"/>
                    </a:solidFill>
                  </a:tcPr>
                </a:tc>
                <a:tc>
                  <a:txBody>
                    <a:bodyPr wrap="square"/>
                    <a:lstStyle/>
                    <a:p>
                      <a:pPr algn="r"/>
                      <a:r>
                        <a:rPr sz="1200" b="0">
                          <a:solidFill>
                            <a:srgbClr val="23314F"/>
                          </a:solidFill>
                          <a:latin typeface="Calibri"/>
                        </a:rPr>
                        <a:t>82.65</a:t>
                      </a:r>
                    </a:p>
                  </a:txBody>
                  <a:tcPr marL="54864" marR="54864" marT="18288" marB="18288" anchor="ctr">
                    <a:solidFill>
                      <a:srgbClr val="FFFFFF"/>
                    </a:solidFill>
                  </a:tcPr>
                </a:tc>
              </a:tr>
              <a:tr h="274320">
                <a:tc>
                  <a:txBody>
                    <a:bodyPr wrap="square"/>
                    <a:lstStyle/>
                    <a:p>
                      <a:pPr algn="l"/>
                      <a:r>
                        <a:rPr sz="1200" b="1">
                          <a:solidFill>
                            <a:srgbClr val="23314F"/>
                          </a:solidFill>
                          <a:latin typeface="Calibri"/>
                        </a:rPr>
                        <a:t>2</a:t>
                      </a:r>
                    </a:p>
                  </a:txBody>
                  <a:tcPr marL="54864" marR="54864" marT="18288" marB="18288" anchor="ctr">
                    <a:solidFill>
                      <a:srgbClr val="DDF1EA"/>
                    </a:solidFill>
                  </a:tcPr>
                </a:tc>
                <a:tc>
                  <a:txBody>
                    <a:bodyPr wrap="square"/>
                    <a:lstStyle/>
                    <a:p>
                      <a:pPr algn="l"/>
                      <a:r>
                        <a:rPr sz="1200" b="1">
                          <a:solidFill>
                            <a:srgbClr val="23314F"/>
                          </a:solidFill>
                          <a:latin typeface="Calibri"/>
                        </a:rPr>
                        <a:t>Gemini-3-Pro</a:t>
                      </a:r>
                    </a:p>
                  </a:txBody>
                  <a:tcPr marL="54864" marR="54864" marT="18288" marB="18288" anchor="ctr">
                    <a:solidFill>
                      <a:srgbClr val="DDF1EA"/>
                    </a:solidFill>
                  </a:tcPr>
                </a:tc>
                <a:tc>
                  <a:txBody>
                    <a:bodyPr wrap="square"/>
                    <a:lstStyle/>
                    <a:p>
                      <a:pPr algn="r"/>
                      <a:r>
                        <a:rPr sz="1200" b="1">
                          <a:solidFill>
                            <a:srgbClr val="23314F"/>
                          </a:solidFill>
                          <a:latin typeface="Calibri"/>
                        </a:rPr>
                        <a:t>82.37</a:t>
                      </a:r>
                    </a:p>
                  </a:txBody>
                  <a:tcPr marL="54864" marR="54864" marT="18288" marB="18288" anchor="ctr">
                    <a:solidFill>
                      <a:srgbClr val="DDF1EA"/>
                    </a:solidFill>
                  </a:tcPr>
                </a:tc>
              </a:tr>
              <a:tr h="274320">
                <a:tc>
                  <a:txBody>
                    <a:bodyPr wrap="square"/>
                    <a:lstStyle/>
                    <a:p>
                      <a:pPr algn="l"/>
                      <a:r>
                        <a:rPr sz="1200" b="0">
                          <a:solidFill>
                            <a:srgbClr val="23314F"/>
                          </a:solidFill>
                          <a:latin typeface="Calibri"/>
                        </a:rPr>
                        <a:t>3</a:t>
                      </a:r>
                    </a:p>
                  </a:txBody>
                  <a:tcPr marL="54864" marR="54864" marT="18288" marB="18288" anchor="ctr">
                    <a:solidFill>
                      <a:srgbClr val="FFFFFF"/>
                    </a:solidFill>
                  </a:tcPr>
                </a:tc>
                <a:tc>
                  <a:txBody>
                    <a:bodyPr wrap="square"/>
                    <a:lstStyle/>
                    <a:p>
                      <a:pPr algn="l"/>
                      <a:r>
                        <a:rPr sz="1200" b="0">
                          <a:solidFill>
                            <a:srgbClr val="23314F"/>
                          </a:solidFill>
                          <a:latin typeface="Calibri"/>
                        </a:rPr>
                        <a:t>Qwen3-VL-Plus</a:t>
                      </a:r>
                    </a:p>
                  </a:txBody>
                  <a:tcPr marL="54864" marR="54864" marT="18288" marB="18288" anchor="ctr">
                    <a:solidFill>
                      <a:srgbClr val="FFFFFF"/>
                    </a:solidFill>
                  </a:tcPr>
                </a:tc>
                <a:tc>
                  <a:txBody>
                    <a:bodyPr wrap="square"/>
                    <a:lstStyle/>
                    <a:p>
                      <a:pPr algn="r"/>
                      <a:r>
                        <a:rPr sz="1200" b="0">
                          <a:solidFill>
                            <a:srgbClr val="23314F"/>
                          </a:solidFill>
                          <a:latin typeface="Calibri"/>
                        </a:rPr>
                        <a:t>80.20</a:t>
                      </a:r>
                    </a:p>
                  </a:txBody>
                  <a:tcPr marL="54864" marR="54864" marT="18288" marB="18288" anchor="ctr">
                    <a:solidFill>
                      <a:srgbClr val="FFFFFF"/>
                    </a:solidFill>
                  </a:tcPr>
                </a:tc>
              </a:tr>
              <a:tr h="274320">
                <a:tc>
                  <a:txBody>
                    <a:bodyPr wrap="square"/>
                    <a:lstStyle/>
                    <a:p>
                      <a:pPr algn="l"/>
                      <a:r>
                        <a:rPr sz="1200" b="0">
                          <a:solidFill>
                            <a:srgbClr val="23314F"/>
                          </a:solidFill>
                          <a:latin typeface="Calibri"/>
                        </a:rPr>
                        <a:t>4</a:t>
                      </a:r>
                    </a:p>
                  </a:txBody>
                  <a:tcPr marL="54864" marR="54864" marT="18288" marB="18288" anchor="ctr">
                    <a:solidFill>
                      <a:srgbClr val="F6F8FB"/>
                    </a:solidFill>
                  </a:tcPr>
                </a:tc>
                <a:tc>
                  <a:txBody>
                    <a:bodyPr wrap="square"/>
                    <a:lstStyle/>
                    <a:p>
                      <a:pPr algn="l"/>
                      <a:r>
                        <a:rPr sz="1200" b="0">
                          <a:solidFill>
                            <a:srgbClr val="23314F"/>
                          </a:solidFill>
                          <a:latin typeface="Calibri"/>
                        </a:rPr>
                        <a:t>Qwen3-VL-8B</a:t>
                      </a:r>
                    </a:p>
                  </a:txBody>
                  <a:tcPr marL="54864" marR="54864" marT="18288" marB="18288" anchor="ctr">
                    <a:solidFill>
                      <a:srgbClr val="F6F8FB"/>
                    </a:solidFill>
                  </a:tcPr>
                </a:tc>
                <a:tc>
                  <a:txBody>
                    <a:bodyPr wrap="square"/>
                    <a:lstStyle/>
                    <a:p>
                      <a:pPr algn="r"/>
                      <a:r>
                        <a:rPr sz="1200" b="0">
                          <a:solidFill>
                            <a:srgbClr val="23314F"/>
                          </a:solidFill>
                          <a:latin typeface="Calibri"/>
                        </a:rPr>
                        <a:t>79.12</a:t>
                      </a:r>
                    </a:p>
                  </a:txBody>
                  <a:tcPr marL="54864" marR="54864" marT="18288" marB="18288" anchor="ctr">
                    <a:solidFill>
                      <a:srgbClr val="F6F8FB"/>
                    </a:solidFill>
                  </a:tcPr>
                </a:tc>
              </a:tr>
              <a:tr h="274320">
                <a:tc>
                  <a:txBody>
                    <a:bodyPr wrap="square"/>
                    <a:lstStyle/>
                    <a:p>
                      <a:pPr algn="l"/>
                      <a:r>
                        <a:rPr sz="1200" b="0">
                          <a:solidFill>
                            <a:srgbClr val="23314F"/>
                          </a:solidFill>
                          <a:latin typeface="Calibri"/>
                        </a:rPr>
                        <a:t>5</a:t>
                      </a:r>
                    </a:p>
                  </a:txBody>
                  <a:tcPr marL="54864" marR="54864" marT="18288" marB="18288" anchor="ctr">
                    <a:solidFill>
                      <a:srgbClr val="FFFFFF"/>
                    </a:solidFill>
                  </a:tcPr>
                </a:tc>
                <a:tc>
                  <a:txBody>
                    <a:bodyPr wrap="square"/>
                    <a:lstStyle/>
                    <a:p>
                      <a:pPr algn="l"/>
                      <a:r>
                        <a:rPr sz="1200" b="0">
                          <a:solidFill>
                            <a:srgbClr val="23314F"/>
                          </a:solidFill>
                          <a:latin typeface="Calibri"/>
                        </a:rPr>
                        <a:t>Qwen-VL-Max</a:t>
                      </a:r>
                    </a:p>
                  </a:txBody>
                  <a:tcPr marL="54864" marR="54864" marT="18288" marB="18288" anchor="ctr">
                    <a:solidFill>
                      <a:srgbClr val="FFFFFF"/>
                    </a:solidFill>
                  </a:tcPr>
                </a:tc>
                <a:tc>
                  <a:txBody>
                    <a:bodyPr wrap="square"/>
                    <a:lstStyle/>
                    <a:p>
                      <a:pPr algn="r"/>
                      <a:r>
                        <a:rPr sz="1200" b="0">
                          <a:solidFill>
                            <a:srgbClr val="23314F"/>
                          </a:solidFill>
                          <a:latin typeface="Calibri"/>
                        </a:rPr>
                        <a:t>77.77</a:t>
                      </a:r>
                    </a:p>
                  </a:txBody>
                  <a:tcPr marL="54864" marR="54864" marT="18288" marB="18288" anchor="ctr">
                    <a:solidFill>
                      <a:srgbClr val="FFFFFF"/>
                    </a:solidFill>
                  </a:tcPr>
                </a:tc>
              </a:tr>
              <a:tr h="274320">
                <a:tc>
                  <a:txBody>
                    <a:bodyPr wrap="square"/>
                    <a:lstStyle/>
                    <a:p>
                      <a:pPr algn="l"/>
                      <a:r>
                        <a:rPr sz="1200" b="0">
                          <a:solidFill>
                            <a:srgbClr val="23314F"/>
                          </a:solidFill>
                          <a:latin typeface="Calibri"/>
                        </a:rPr>
                        <a:t>6</a:t>
                      </a:r>
                    </a:p>
                  </a:txBody>
                  <a:tcPr marL="54864" marR="54864" marT="18288" marB="18288" anchor="ctr">
                    <a:solidFill>
                      <a:srgbClr val="F6F8FB"/>
                    </a:solidFill>
                  </a:tcPr>
                </a:tc>
                <a:tc>
                  <a:txBody>
                    <a:bodyPr wrap="square"/>
                    <a:lstStyle/>
                    <a:p>
                      <a:pPr algn="l"/>
                      <a:r>
                        <a:rPr sz="1200" b="0">
                          <a:solidFill>
                            <a:srgbClr val="23314F"/>
                          </a:solidFill>
                          <a:latin typeface="Calibri"/>
                        </a:rPr>
                        <a:t>GLM-4.1V-9B</a:t>
                      </a:r>
                    </a:p>
                  </a:txBody>
                  <a:tcPr marL="54864" marR="54864" marT="18288" marB="18288" anchor="ctr">
                    <a:solidFill>
                      <a:srgbClr val="F6F8FB"/>
                    </a:solidFill>
                  </a:tcPr>
                </a:tc>
                <a:tc>
                  <a:txBody>
                    <a:bodyPr wrap="square"/>
                    <a:lstStyle/>
                    <a:p>
                      <a:pPr algn="r"/>
                      <a:r>
                        <a:rPr sz="1200" b="0">
                          <a:solidFill>
                            <a:srgbClr val="23314F"/>
                          </a:solidFill>
                          <a:latin typeface="Calibri"/>
                        </a:rPr>
                        <a:t>69.91</a:t>
                      </a:r>
                    </a:p>
                  </a:txBody>
                  <a:tcPr marL="54864" marR="54864" marT="18288" marB="18288" anchor="ctr">
                    <a:solidFill>
                      <a:srgbClr val="F6F8FB"/>
                    </a:solidFill>
                  </a:tcPr>
                </a:tc>
              </a:tr>
              <a:tr h="274320">
                <a:tc>
                  <a:txBody>
                    <a:bodyPr wrap="square"/>
                    <a:lstStyle/>
                    <a:p>
                      <a:pPr algn="l"/>
                      <a:r>
                        <a:rPr sz="1200" b="0">
                          <a:solidFill>
                            <a:srgbClr val="23314F"/>
                          </a:solidFill>
                          <a:latin typeface="Calibri"/>
                        </a:rPr>
                        <a:t>7</a:t>
                      </a:r>
                    </a:p>
                  </a:txBody>
                  <a:tcPr marL="54864" marR="54864" marT="18288" marB="18288" anchor="ctr">
                    <a:solidFill>
                      <a:srgbClr val="FFFFFF"/>
                    </a:solidFill>
                  </a:tcPr>
                </a:tc>
                <a:tc>
                  <a:txBody>
                    <a:bodyPr wrap="square"/>
                    <a:lstStyle/>
                    <a:p>
                      <a:pPr algn="l"/>
                      <a:r>
                        <a:rPr sz="1200" b="0">
                          <a:solidFill>
                            <a:srgbClr val="23314F"/>
                          </a:solidFill>
                          <a:latin typeface="Calibri"/>
                        </a:rPr>
                        <a:t>GPT-4o</a:t>
                      </a:r>
                    </a:p>
                  </a:txBody>
                  <a:tcPr marL="54864" marR="54864" marT="18288" marB="18288" anchor="ctr">
                    <a:solidFill>
                      <a:srgbClr val="FFFFFF"/>
                    </a:solidFill>
                  </a:tcPr>
                </a:tc>
                <a:tc>
                  <a:txBody>
                    <a:bodyPr wrap="square"/>
                    <a:lstStyle/>
                    <a:p>
                      <a:pPr algn="r"/>
                      <a:r>
                        <a:rPr sz="1200" b="0">
                          <a:solidFill>
                            <a:srgbClr val="23314F"/>
                          </a:solidFill>
                          <a:latin typeface="Calibri"/>
                        </a:rPr>
                        <a:t>69.15</a:t>
                      </a:r>
                    </a:p>
                  </a:txBody>
                  <a:tcPr marL="54864" marR="54864" marT="18288" marB="18288" anchor="ctr">
                    <a:solidFill>
                      <a:srgbClr val="FFFFFF"/>
                    </a:solidFill>
                  </a:tcPr>
                </a:tc>
              </a:tr>
              <a:tr h="274320">
                <a:tc>
                  <a:txBody>
                    <a:bodyPr wrap="square"/>
                    <a:lstStyle/>
                    <a:p>
                      <a:pPr algn="l"/>
                      <a:r>
                        <a:rPr sz="1200" b="0">
                          <a:solidFill>
                            <a:srgbClr val="23314F"/>
                          </a:solidFill>
                          <a:latin typeface="Calibri"/>
                        </a:rPr>
                        <a:t>8</a:t>
                      </a:r>
                    </a:p>
                  </a:txBody>
                  <a:tcPr marL="54864" marR="54864" marT="18288" marB="18288" anchor="ctr">
                    <a:solidFill>
                      <a:srgbClr val="F6F8FB"/>
                    </a:solidFill>
                  </a:tcPr>
                </a:tc>
                <a:tc>
                  <a:txBody>
                    <a:bodyPr wrap="square"/>
                    <a:lstStyle/>
                    <a:p>
                      <a:pPr algn="l"/>
                      <a:r>
                        <a:rPr sz="1200" b="0">
                          <a:solidFill>
                            <a:srgbClr val="23314F"/>
                          </a:solidFill>
                          <a:latin typeface="Calibri"/>
                        </a:rPr>
                        <a:t>MiMo-VL-7B-RL</a:t>
                      </a:r>
                    </a:p>
                  </a:txBody>
                  <a:tcPr marL="54864" marR="54864" marT="18288" marB="18288" anchor="ctr">
                    <a:solidFill>
                      <a:srgbClr val="F6F8FB"/>
                    </a:solidFill>
                  </a:tcPr>
                </a:tc>
                <a:tc>
                  <a:txBody>
                    <a:bodyPr wrap="square"/>
                    <a:lstStyle/>
                    <a:p>
                      <a:pPr algn="r"/>
                      <a:r>
                        <a:rPr sz="1200" b="0">
                          <a:solidFill>
                            <a:srgbClr val="23314F"/>
                          </a:solidFill>
                          <a:latin typeface="Calibri"/>
                        </a:rPr>
                        <a:t>68.88</a:t>
                      </a:r>
                    </a:p>
                  </a:txBody>
                  <a:tcPr marL="54864" marR="54864" marT="18288" marB="18288" anchor="ctr">
                    <a:solidFill>
                      <a:srgbClr val="F6F8FB"/>
                    </a:solidFill>
                  </a:tcPr>
                </a:tc>
              </a:tr>
              <a:tr h="274320">
                <a:tc>
                  <a:txBody>
                    <a:bodyPr wrap="square"/>
                    <a:lstStyle/>
                    <a:p>
                      <a:pPr algn="l"/>
                      <a:r>
                        <a:rPr sz="1200" b="0">
                          <a:solidFill>
                            <a:srgbClr val="23314F"/>
                          </a:solidFill>
                          <a:latin typeface="Calibri"/>
                        </a:rPr>
                        <a:t>9</a:t>
                      </a:r>
                    </a:p>
                  </a:txBody>
                  <a:tcPr marL="54864" marR="54864" marT="18288" marB="18288" anchor="ctr">
                    <a:solidFill>
                      <a:srgbClr val="FFFFFF"/>
                    </a:solidFill>
                  </a:tcPr>
                </a:tc>
                <a:tc>
                  <a:txBody>
                    <a:bodyPr wrap="square"/>
                    <a:lstStyle/>
                    <a:p>
                      <a:pPr algn="l"/>
                      <a:r>
                        <a:rPr sz="1200" b="0">
                          <a:solidFill>
                            <a:srgbClr val="23314F"/>
                          </a:solidFill>
                          <a:latin typeface="Calibri"/>
                        </a:rPr>
                        <a:t>InternVL3.5-8B</a:t>
                      </a:r>
                    </a:p>
                  </a:txBody>
                  <a:tcPr marL="54864" marR="54864" marT="18288" marB="18288" anchor="ctr">
                    <a:solidFill>
                      <a:srgbClr val="FFFFFF"/>
                    </a:solidFill>
                  </a:tcPr>
                </a:tc>
                <a:tc>
                  <a:txBody>
                    <a:bodyPr wrap="square"/>
                    <a:lstStyle/>
                    <a:p>
                      <a:pPr algn="r"/>
                      <a:r>
                        <a:rPr sz="1200" b="0">
                          <a:solidFill>
                            <a:srgbClr val="23314F"/>
                          </a:solidFill>
                          <a:latin typeface="Calibri"/>
                        </a:rPr>
                        <a:t>67.70</a:t>
                      </a:r>
                    </a:p>
                  </a:txBody>
                  <a:tcPr marL="54864" marR="54864" marT="18288" marB="18288" anchor="ctr">
                    <a:solidFill>
                      <a:srgbClr val="FFFFFF"/>
                    </a:solidFill>
                  </a:tcPr>
                </a:tc>
              </a:tr>
              <a:tr h="274320">
                <a:tc>
                  <a:txBody>
                    <a:bodyPr wrap="square"/>
                    <a:lstStyle/>
                    <a:p>
                      <a:pPr algn="l"/>
                      <a:r>
                        <a:rPr sz="1200" b="0">
                          <a:solidFill>
                            <a:srgbClr val="23314F"/>
                          </a:solidFill>
                          <a:latin typeface="Calibri"/>
                        </a:rPr>
                        <a:t>10</a:t>
                      </a:r>
                    </a:p>
                  </a:txBody>
                  <a:tcPr marL="54864" marR="54864" marT="18288" marB="18288" anchor="ctr">
                    <a:solidFill>
                      <a:srgbClr val="F6F8FB"/>
                    </a:solidFill>
                  </a:tcPr>
                </a:tc>
                <a:tc>
                  <a:txBody>
                    <a:bodyPr wrap="square"/>
                    <a:lstStyle/>
                    <a:p>
                      <a:pPr algn="l"/>
                      <a:r>
                        <a:rPr sz="1200" b="0">
                          <a:solidFill>
                            <a:srgbClr val="23314F"/>
                          </a:solidFill>
                          <a:latin typeface="Calibri"/>
                        </a:rPr>
                        <a:t>GPT-5</a:t>
                      </a:r>
                    </a:p>
                  </a:txBody>
                  <a:tcPr marL="54864" marR="54864" marT="18288" marB="18288" anchor="ctr">
                    <a:solidFill>
                      <a:srgbClr val="F6F8FB"/>
                    </a:solidFill>
                  </a:tcPr>
                </a:tc>
                <a:tc>
                  <a:txBody>
                    <a:bodyPr wrap="square"/>
                    <a:lstStyle/>
                    <a:p>
                      <a:pPr algn="r"/>
                      <a:r>
                        <a:rPr sz="1200" b="0">
                          <a:solidFill>
                            <a:srgbClr val="23314F"/>
                          </a:solidFill>
                          <a:latin typeface="Calibri"/>
                        </a:rPr>
                        <a:t>67.59</a:t>
                      </a:r>
                    </a:p>
                  </a:txBody>
                  <a:tcPr marL="54864" marR="54864" marT="18288" marB="18288" anchor="ctr">
                    <a:solidFill>
                      <a:srgbClr val="F6F8FB"/>
                    </a:solidFill>
                  </a:tcPr>
                </a:tc>
              </a:tr>
              <a:tr h="274320">
                <a:tc>
                  <a:txBody>
                    <a:bodyPr wrap="square"/>
                    <a:lstStyle/>
                    <a:p>
                      <a:pPr algn="l"/>
                      <a:r>
                        <a:rPr sz="1200" b="0">
                          <a:solidFill>
                            <a:srgbClr val="23314F"/>
                          </a:solidFill>
                          <a:latin typeface="Calibri"/>
                        </a:rPr>
                        <a:t>11</a:t>
                      </a:r>
                    </a:p>
                  </a:txBody>
                  <a:tcPr marL="54864" marR="54864" marT="18288" marB="18288" anchor="ctr">
                    <a:solidFill>
                      <a:srgbClr val="FFFFFF"/>
                    </a:solidFill>
                  </a:tcPr>
                </a:tc>
                <a:tc>
                  <a:txBody>
                    <a:bodyPr wrap="square"/>
                    <a:lstStyle/>
                    <a:p>
                      <a:pPr algn="l"/>
                      <a:r>
                        <a:rPr sz="1200" b="0">
                          <a:solidFill>
                            <a:srgbClr val="23314F"/>
                          </a:solidFill>
                          <a:latin typeface="Calibri"/>
                        </a:rPr>
                        <a:t>MiniCPM-V4.5-8B</a:t>
                      </a:r>
                    </a:p>
                  </a:txBody>
                  <a:tcPr marL="54864" marR="54864" marT="18288" marB="18288" anchor="ctr">
                    <a:solidFill>
                      <a:srgbClr val="FFFFFF"/>
                    </a:solidFill>
                  </a:tcPr>
                </a:tc>
                <a:tc>
                  <a:txBody>
                    <a:bodyPr wrap="square"/>
                    <a:lstStyle/>
                    <a:p>
                      <a:pPr algn="r"/>
                      <a:r>
                        <a:rPr sz="1200" b="0">
                          <a:solidFill>
                            <a:srgbClr val="23314F"/>
                          </a:solidFill>
                          <a:latin typeface="Calibri"/>
                        </a:rPr>
                        <a:t>67.15</a:t>
                      </a:r>
                    </a:p>
                  </a:txBody>
                  <a:tcPr marL="54864" marR="54864" marT="18288" marB="18288" anchor="ctr">
                    <a:solidFill>
                      <a:srgbClr val="FFFFFF"/>
                    </a:solidFill>
                  </a:tcPr>
                </a:tc>
              </a:tr>
              <a:tr h="274320">
                <a:tc>
                  <a:txBody>
                    <a:bodyPr wrap="square"/>
                    <a:lstStyle/>
                    <a:p>
                      <a:pPr algn="l"/>
                      <a:r>
                        <a:rPr sz="1200" b="0">
                          <a:solidFill>
                            <a:srgbClr val="23314F"/>
                          </a:solidFill>
                          <a:latin typeface="Calibri"/>
                        </a:rPr>
                        <a:t>12</a:t>
                      </a:r>
                    </a:p>
                  </a:txBody>
                  <a:tcPr marL="54864" marR="54864" marT="18288" marB="18288" anchor="ctr">
                    <a:solidFill>
                      <a:srgbClr val="F6F8FB"/>
                    </a:solidFill>
                  </a:tcPr>
                </a:tc>
                <a:tc>
                  <a:txBody>
                    <a:bodyPr wrap="square"/>
                    <a:lstStyle/>
                    <a:p>
                      <a:pPr algn="l"/>
                      <a:r>
                        <a:rPr sz="1200" b="0">
                          <a:solidFill>
                            <a:srgbClr val="23314F"/>
                          </a:solidFill>
                          <a:latin typeface="Calibri"/>
                        </a:rPr>
                        <a:t>Claude-Sonnet-4.5</a:t>
                      </a:r>
                    </a:p>
                  </a:txBody>
                  <a:tcPr marL="54864" marR="54864" marT="18288" marB="18288" anchor="ctr">
                    <a:solidFill>
                      <a:srgbClr val="F6F8FB"/>
                    </a:solidFill>
                  </a:tcPr>
                </a:tc>
                <a:tc>
                  <a:txBody>
                    <a:bodyPr wrap="square"/>
                    <a:lstStyle/>
                    <a:p>
                      <a:pPr algn="r"/>
                      <a:r>
                        <a:rPr sz="1200" b="0">
                          <a:solidFill>
                            <a:srgbClr val="23314F"/>
                          </a:solidFill>
                          <a:latin typeface="Calibri"/>
                        </a:rPr>
                        <a:t>66.39</a:t>
                      </a:r>
                    </a:p>
                  </a:txBody>
                  <a:tcPr marL="54864" marR="54864" marT="18288" marB="18288" anchor="ctr">
                    <a:solidFill>
                      <a:srgbClr val="F6F8FB"/>
                    </a:solidFill>
                  </a:tcPr>
                </a:tc>
              </a:tr>
              <a:tr h="274320">
                <a:tc>
                  <a:txBody>
                    <a:bodyPr wrap="square"/>
                    <a:lstStyle/>
                    <a:p>
                      <a:pPr algn="l"/>
                      <a:r>
                        <a:rPr sz="1200" b="0">
                          <a:solidFill>
                            <a:srgbClr val="23314F"/>
                          </a:solidFill>
                          <a:latin typeface="Calibri"/>
                        </a:rPr>
                        <a:t>13</a:t>
                      </a:r>
                    </a:p>
                  </a:txBody>
                  <a:tcPr marL="54864" marR="54864" marT="18288" marB="18288" anchor="ctr">
                    <a:solidFill>
                      <a:srgbClr val="FFFFFF"/>
                    </a:solidFill>
                  </a:tcPr>
                </a:tc>
                <a:tc>
                  <a:txBody>
                    <a:bodyPr wrap="square"/>
                    <a:lstStyle/>
                    <a:p>
                      <a:pPr algn="l"/>
                      <a:r>
                        <a:rPr sz="1200" b="0">
                          <a:solidFill>
                            <a:srgbClr val="23314F"/>
                          </a:solidFill>
                          <a:latin typeface="Calibri"/>
                        </a:rPr>
                        <a:t>Kimi-VL-A3B</a:t>
                      </a:r>
                    </a:p>
                  </a:txBody>
                  <a:tcPr marL="54864" marR="54864" marT="18288" marB="18288" anchor="ctr">
                    <a:solidFill>
                      <a:srgbClr val="FFFFFF"/>
                    </a:solidFill>
                  </a:tcPr>
                </a:tc>
                <a:tc>
                  <a:txBody>
                    <a:bodyPr wrap="square"/>
                    <a:lstStyle/>
                    <a:p>
                      <a:pPr algn="r"/>
                      <a:r>
                        <a:rPr sz="1200" b="0">
                          <a:solidFill>
                            <a:srgbClr val="23314F"/>
                          </a:solidFill>
                          <a:latin typeface="Calibri"/>
                        </a:rPr>
                        <a:t>66.14</a:t>
                      </a:r>
                    </a:p>
                  </a:txBody>
                  <a:tcPr marL="54864" marR="54864" marT="18288" marB="18288" anchor="ctr">
                    <a:solidFill>
                      <a:srgbClr val="FFFFFF"/>
                    </a:solidFill>
                  </a:tcPr>
                </a:tc>
              </a:tr>
              <a:tr h="274320">
                <a:tc>
                  <a:txBody>
                    <a:bodyPr wrap="square"/>
                    <a:lstStyle/>
                    <a:p>
                      <a:pPr algn="l"/>
                      <a:r>
                        <a:rPr sz="1200" b="0">
                          <a:solidFill>
                            <a:srgbClr val="23314F"/>
                          </a:solidFill>
                          <a:latin typeface="Calibri"/>
                        </a:rPr>
                        <a:t>14</a:t>
                      </a:r>
                    </a:p>
                  </a:txBody>
                  <a:tcPr marL="54864" marR="54864" marT="18288" marB="18288" anchor="ctr">
                    <a:solidFill>
                      <a:srgbClr val="F6F8FB"/>
                    </a:solidFill>
                  </a:tcPr>
                </a:tc>
                <a:tc>
                  <a:txBody>
                    <a:bodyPr wrap="square"/>
                    <a:lstStyle/>
                    <a:p>
                      <a:pPr algn="l"/>
                      <a:r>
                        <a:rPr sz="1200" b="0">
                          <a:solidFill>
                            <a:srgbClr val="23314F"/>
                          </a:solidFill>
                          <a:latin typeface="Calibri"/>
                        </a:rPr>
                        <a:t>Gemma-3-12B</a:t>
                      </a:r>
                    </a:p>
                  </a:txBody>
                  <a:tcPr marL="54864" marR="54864" marT="18288" marB="18288" anchor="ctr">
                    <a:solidFill>
                      <a:srgbClr val="F6F8FB"/>
                    </a:solidFill>
                  </a:tcPr>
                </a:tc>
                <a:tc>
                  <a:txBody>
                    <a:bodyPr wrap="square"/>
                    <a:lstStyle/>
                    <a:p>
                      <a:pPr algn="r"/>
                      <a:r>
                        <a:rPr sz="1200" b="0">
                          <a:solidFill>
                            <a:srgbClr val="23314F"/>
                          </a:solidFill>
                          <a:latin typeface="Calibri"/>
                        </a:rPr>
                        <a:t>48.09</a:t>
                      </a:r>
                    </a:p>
                  </a:txBody>
                  <a:tcPr marL="54864" marR="54864" marT="18288" marB="18288" anchor="ctr">
                    <a:solidFill>
                      <a:srgbClr val="F6F8FB"/>
                    </a:solidFill>
                  </a:tcPr>
                </a:tc>
              </a:tr>
              <a:tr h="274320">
                <a:tc>
                  <a:txBody>
                    <a:bodyPr wrap="square"/>
                    <a:lstStyle/>
                    <a:p>
                      <a:pPr algn="l"/>
                      <a:r>
                        <a:rPr sz="1200" b="0">
                          <a:solidFill>
                            <a:srgbClr val="23314F"/>
                          </a:solidFill>
                          <a:latin typeface="Calibri"/>
                        </a:rPr>
                        <a:t>15</a:t>
                      </a:r>
                    </a:p>
                  </a:txBody>
                  <a:tcPr marL="54864" marR="54864" marT="18288" marB="18288" anchor="ctr">
                    <a:solidFill>
                      <a:srgbClr val="FFFFFF"/>
                    </a:solidFill>
                  </a:tcPr>
                </a:tc>
                <a:tc>
                  <a:txBody>
                    <a:bodyPr wrap="square"/>
                    <a:lstStyle/>
                    <a:p>
                      <a:pPr algn="l"/>
                      <a:r>
                        <a:rPr sz="1200" b="0">
                          <a:solidFill>
                            <a:srgbClr val="23314F"/>
                          </a:solidFill>
                          <a:latin typeface="Calibri"/>
                        </a:rPr>
                        <a:t>Ministral-3-8B</a:t>
                      </a:r>
                    </a:p>
                  </a:txBody>
                  <a:tcPr marL="54864" marR="54864" marT="18288" marB="18288" anchor="ctr">
                    <a:solidFill>
                      <a:srgbClr val="FFFFFF"/>
                    </a:solidFill>
                  </a:tcPr>
                </a:tc>
                <a:tc>
                  <a:txBody>
                    <a:bodyPr wrap="square"/>
                    <a:lstStyle/>
                    <a:p>
                      <a:pPr algn="r"/>
                      <a:r>
                        <a:rPr sz="1200" b="0">
                          <a:solidFill>
                            <a:srgbClr val="23314F"/>
                          </a:solidFill>
                          <a:latin typeface="Calibri"/>
                        </a:rPr>
                        <a:t>37.62</a:t>
                      </a:r>
                    </a:p>
                  </a:txBody>
                  <a:tcPr marL="54864" marR="54864" marT="18288" marB="18288" anchor="ctr">
                    <a:solidFill>
                      <a:srgbClr val="FFFFFF"/>
                    </a:solidFill>
                  </a:tcPr>
                </a:tc>
              </a:tr>
              <a:tr h="274320">
                <a:tc>
                  <a:txBody>
                    <a:bodyPr wrap="square"/>
                    <a:lstStyle/>
                    <a:p>
                      <a:pPr algn="l"/>
                      <a:r>
                        <a:rPr sz="1200" b="0">
                          <a:solidFill>
                            <a:srgbClr val="23314F"/>
                          </a:solidFill>
                          <a:latin typeface="Calibri"/>
                        </a:rPr>
                        <a:t>16</a:t>
                      </a:r>
                    </a:p>
                  </a:txBody>
                  <a:tcPr marL="54864" marR="54864" marT="18288" marB="18288" anchor="ctr">
                    <a:solidFill>
                      <a:srgbClr val="F6F8FB"/>
                    </a:solidFill>
                  </a:tcPr>
                </a:tc>
                <a:tc>
                  <a:txBody>
                    <a:bodyPr wrap="square"/>
                    <a:lstStyle/>
                    <a:p>
                      <a:pPr algn="l"/>
                      <a:r>
                        <a:rPr sz="1200" b="0">
                          <a:solidFill>
                            <a:srgbClr val="23314F"/>
                          </a:solidFill>
                          <a:latin typeface="Calibri"/>
                        </a:rPr>
                        <a:t>SmolVLM2-2.2B</a:t>
                      </a:r>
                    </a:p>
                  </a:txBody>
                  <a:tcPr marL="54864" marR="54864" marT="18288" marB="18288" anchor="ctr">
                    <a:solidFill>
                      <a:srgbClr val="F6F8FB"/>
                    </a:solidFill>
                  </a:tcPr>
                </a:tc>
                <a:tc>
                  <a:txBody>
                    <a:bodyPr wrap="square"/>
                    <a:lstStyle/>
                    <a:p>
                      <a:pPr algn="r"/>
                      <a:r>
                        <a:rPr sz="1200" b="0">
                          <a:solidFill>
                            <a:srgbClr val="23314F"/>
                          </a:solidFill>
                          <a:latin typeface="Calibri"/>
                        </a:rPr>
                        <a:t>23.69</a:t>
                      </a:r>
                    </a:p>
                  </a:txBody>
                  <a:tcPr marL="54864" marR="54864" marT="18288" marB="18288" anchor="ctr">
                    <a:solidFill>
                      <a:srgbClr val="F6F8FB"/>
                    </a:solidFill>
                  </a:tcPr>
                </a:tc>
              </a:tr>
            </a:tbl>
          </a:graphicData>
        </a:graphic>
      </p:graphicFrame>
      <p:sp>
        <p:nvSpPr>
          <p:cNvPr id="5" name="Rounded Rectangle 4"/>
          <p:cNvSpPr/>
          <p:nvPr/>
        </p:nvSpPr>
        <p:spPr>
          <a:xfrm>
            <a:off x="7406640" y="1417320"/>
            <a:ext cx="4325112" cy="466344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691640"/>
            <a:ext cx="3840480" cy="640080"/>
          </a:xfrm>
          <a:prstGeom prst="rect">
            <a:avLst/>
          </a:prstGeom>
          <a:noFill/>
        </p:spPr>
        <p:txBody>
          <a:bodyPr wrap="square" lIns="0" rIns="0" tIns="0" bIns="0" anchor="t">
            <a:spAutoFit/>
          </a:bodyPr>
          <a:lstStyle/>
          <a:p>
            <a:pPr algn="l">
              <a:spcAft>
                <a:spcPts val="400"/>
              </a:spcAft>
            </a:pPr>
            <a:r>
              <a:rPr sz="3600" b="1" i="0">
                <a:solidFill>
                  <a:srgbClr val="1E8C6E"/>
                </a:solidFill>
                <a:latin typeface="Cambria"/>
              </a:rPr>
              <a:t>82.65</a:t>
            </a:r>
          </a:p>
        </p:txBody>
      </p:sp>
      <p:sp>
        <p:nvSpPr>
          <p:cNvPr id="7" name="TextBox 6"/>
          <p:cNvSpPr txBox="1"/>
          <p:nvPr/>
        </p:nvSpPr>
        <p:spPr>
          <a:xfrm>
            <a:off x="7680960" y="2377440"/>
            <a:ext cx="3840480" cy="548640"/>
          </a:xfrm>
          <a:prstGeom prst="rect">
            <a:avLst/>
          </a:prstGeom>
          <a:noFill/>
        </p:spPr>
        <p:txBody>
          <a:bodyPr wrap="square" lIns="0" rIns="0" tIns="0" bIns="0" anchor="t">
            <a:spAutoFit/>
          </a:bodyPr>
          <a:lstStyle/>
          <a:p>
            <a:pPr algn="l">
              <a:spcAft>
                <a:spcPts val="400"/>
              </a:spcAft>
            </a:pPr>
            <a:r>
              <a:rPr sz="1300" b="0" i="0">
                <a:solidFill>
                  <a:srgbClr val="5B6577"/>
                </a:solidFill>
                <a:latin typeface="Calibri"/>
              </a:rPr>
              <a:t>macro F1; best published: Gemini-3-Pro 82.37</a:t>
            </a:r>
          </a:p>
        </p:txBody>
      </p:sp>
      <p:sp>
        <p:nvSpPr>
          <p:cNvPr id="8" name="TextBox 7"/>
          <p:cNvSpPr txBox="1"/>
          <p:nvPr/>
        </p:nvSpPr>
        <p:spPr>
          <a:xfrm>
            <a:off x="7680960" y="3154680"/>
            <a:ext cx="3840480" cy="640080"/>
          </a:xfrm>
          <a:prstGeom prst="rect">
            <a:avLst/>
          </a:prstGeom>
          <a:noFill/>
        </p:spPr>
        <p:txBody>
          <a:bodyPr wrap="square" lIns="0" rIns="0" tIns="0" bIns="0" anchor="t">
            <a:spAutoFit/>
          </a:bodyPr>
          <a:lstStyle/>
          <a:p>
            <a:pPr algn="l">
              <a:spcAft>
                <a:spcPts val="400"/>
              </a:spcAft>
            </a:pPr>
            <a:r>
              <a:rPr sz="3600" b="1" i="0">
                <a:solidFill>
                  <a:srgbClr val="1B2A4A"/>
                </a:solidFill>
                <a:latin typeface="Cambria"/>
              </a:rPr>
              <a:t>4,472</a:t>
            </a:r>
          </a:p>
        </p:txBody>
      </p:sp>
      <p:sp>
        <p:nvSpPr>
          <p:cNvPr id="9" name="TextBox 8"/>
          <p:cNvSpPr txBox="1"/>
          <p:nvPr/>
        </p:nvSpPr>
        <p:spPr>
          <a:xfrm>
            <a:off x="7680960" y="3840480"/>
            <a:ext cx="3840480" cy="548640"/>
          </a:xfrm>
          <a:prstGeom prst="rect">
            <a:avLst/>
          </a:prstGeom>
          <a:noFill/>
        </p:spPr>
        <p:txBody>
          <a:bodyPr wrap="square" lIns="0" rIns="0" tIns="0" bIns="0" anchor="t">
            <a:spAutoFit/>
          </a:bodyPr>
          <a:lstStyle/>
          <a:p>
            <a:pPr algn="l">
              <a:spcAft>
                <a:spcPts val="400"/>
              </a:spcAft>
            </a:pPr>
            <a:r>
              <a:rPr sz="1300" b="0" i="0">
                <a:solidFill>
                  <a:srgbClr val="5B6577"/>
                </a:solidFill>
                <a:latin typeface="Calibri"/>
              </a:rPr>
              <a:t>document images in 11 scenarios</a:t>
            </a:r>
          </a:p>
        </p:txBody>
      </p:sp>
      <p:sp>
        <p:nvSpPr>
          <p:cNvPr id="10" name="TextBox 9"/>
          <p:cNvSpPr txBox="1"/>
          <p:nvPr/>
        </p:nvSpPr>
        <p:spPr>
          <a:xfrm>
            <a:off x="7680960" y="4617720"/>
            <a:ext cx="3840480" cy="640080"/>
          </a:xfrm>
          <a:prstGeom prst="rect">
            <a:avLst/>
          </a:prstGeom>
          <a:noFill/>
        </p:spPr>
        <p:txBody>
          <a:bodyPr wrap="square" lIns="0" rIns="0" tIns="0" bIns="0" anchor="t">
            <a:spAutoFit/>
          </a:bodyPr>
          <a:lstStyle/>
          <a:p>
            <a:pPr algn="l">
              <a:spcAft>
                <a:spcPts val="400"/>
              </a:spcAft>
            </a:pPr>
            <a:r>
              <a:rPr sz="3600" b="1" i="0">
                <a:solidFill>
                  <a:srgbClr val="1B2A4A"/>
                </a:solidFill>
                <a:latin typeface="Cambria"/>
              </a:rPr>
              <a:t>+3.53</a:t>
            </a:r>
          </a:p>
        </p:txBody>
      </p:sp>
      <p:sp>
        <p:nvSpPr>
          <p:cNvPr id="11" name="TextBox 10"/>
          <p:cNvSpPr txBox="1"/>
          <p:nvPr/>
        </p:nvSpPr>
        <p:spPr>
          <a:xfrm>
            <a:off x="7680960" y="5303520"/>
            <a:ext cx="3840480" cy="548640"/>
          </a:xfrm>
          <a:prstGeom prst="rect">
            <a:avLst/>
          </a:prstGeom>
          <a:noFill/>
        </p:spPr>
        <p:txBody>
          <a:bodyPr wrap="square" lIns="0" rIns="0" tIns="0" bIns="0" anchor="t">
            <a:spAutoFit/>
          </a:bodyPr>
          <a:lstStyle/>
          <a:p>
            <a:pPr algn="l">
              <a:spcAft>
                <a:spcPts val="400"/>
              </a:spcAft>
            </a:pPr>
            <a:r>
              <a:rPr sz="1300" b="0" i="0">
                <a:solidFill>
                  <a:srgbClr val="5B6577"/>
                </a:solidFill>
                <a:latin typeface="Calibri"/>
              </a:rPr>
              <a:t>over the best published open model (Qwen3-VL-8B, 79.12)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DocQuorum: the pipeline on real documents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